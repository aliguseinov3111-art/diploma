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4630400" cy="8229600"/>
  <p:notesSz cx="9802813" cy="142049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2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01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9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>
            <a:extLst>
              <a:ext uri="{FF2B5EF4-FFF2-40B4-BE49-F238E27FC236}">
                <a16:creationId xmlns:a16="http://schemas.microsoft.com/office/drawing/2014/main" id="{7422F63A-BB5D-4958-92D5-806C1E3BF0FB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F4FB695-EEE8-49A9-B263-8865BF2BCB6B}"/>
              </a:ext>
            </a:extLst>
          </p:cNvPr>
          <p:cNvSpPr txBox="1"/>
          <p:nvPr/>
        </p:nvSpPr>
        <p:spPr>
          <a:xfrm>
            <a:off x="5013782" y="143202"/>
            <a:ext cx="45177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2C3E50"/>
                </a:solidFill>
                <a:latin typeface="Arial"/>
              </a:rPr>
              <a:t>СТРУКТУРА УПРАВЛЕНИЯ ПРОЕКТОМ</a:t>
            </a:r>
            <a:endParaRPr lang="ru-RU" sz="1800" b="1" dirty="0">
              <a:solidFill>
                <a:srgbClr val="2C3E50"/>
              </a:solidFill>
              <a:latin typeface="Arial"/>
            </a:endParaRPr>
          </a:p>
          <a:p>
            <a:pPr algn="ctr"/>
            <a:r>
              <a:rPr lang="ru-RU" sz="1200" b="0" dirty="0">
                <a:solidFill>
                  <a:srgbClr val="5D6D7E"/>
                </a:solidFill>
                <a:latin typeface="Arial"/>
              </a:rPr>
              <a:t>Объект реконструкции → мультимедийный центр, г. Москва</a:t>
            </a:r>
          </a:p>
          <a:p>
            <a:pPr algn="l"/>
            <a:endParaRPr sz="1800" b="1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10" name="Rounded Rectangle 4">
            <a:extLst>
              <a:ext uri="{FF2B5EF4-FFF2-40B4-BE49-F238E27FC236}">
                <a16:creationId xmlns:a16="http://schemas.microsoft.com/office/drawing/2014/main" id="{E7A1E989-7196-4088-B5A6-E74FB0BB322C}"/>
              </a:ext>
            </a:extLst>
          </p:cNvPr>
          <p:cNvSpPr/>
          <p:nvPr/>
        </p:nvSpPr>
        <p:spPr>
          <a:xfrm>
            <a:off x="1920240" y="749795"/>
            <a:ext cx="5212080" cy="105156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200" b="1" dirty="0">
                <a:solidFill>
                  <a:srgbClr val="C0392B"/>
                </a:solidFill>
                <a:latin typeface="Arial"/>
              </a:rPr>
              <a:t>ИНВЕСТОР / СОБСТВЕННИК / ЗА</a:t>
            </a:r>
            <a:r>
              <a:rPr lang="ru-RU" sz="1200" b="1" dirty="0">
                <a:solidFill>
                  <a:srgbClr val="C0392B"/>
                </a:solidFill>
                <a:latin typeface="Arial"/>
              </a:rPr>
              <a:t>СТРОЙЩИК</a:t>
            </a:r>
            <a:endParaRPr sz="1200" b="1" dirty="0">
              <a:solidFill>
                <a:srgbClr val="C0392B"/>
              </a:solidFill>
              <a:latin typeface="Arial"/>
            </a:endParaRPr>
          </a:p>
          <a:p>
            <a:pPr algn="ctr"/>
            <a:endParaRPr sz="800" b="0" dirty="0">
              <a:solidFill>
                <a:srgbClr val="5D6D7E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Стратегические решения и утверждение ключевых параметров проекта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Утверждение бюджета, сроков, договорной модели и участников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Имущественный и правовой контур ( в т.ч. Доходный дом / РПИ / юрлица Заказчика)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Юридическое сопровождение и защита интересов Заказчика</a:t>
            </a:r>
            <a:endParaRPr sz="8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11" name="Rounded Rectangle 5">
            <a:extLst>
              <a:ext uri="{FF2B5EF4-FFF2-40B4-BE49-F238E27FC236}">
                <a16:creationId xmlns:a16="http://schemas.microsoft.com/office/drawing/2014/main" id="{D2D6BADD-B610-4967-A8F5-830F449B6850}"/>
              </a:ext>
            </a:extLst>
          </p:cNvPr>
          <p:cNvSpPr/>
          <p:nvPr/>
        </p:nvSpPr>
        <p:spPr>
          <a:xfrm>
            <a:off x="7498080" y="749795"/>
            <a:ext cx="5212080" cy="105156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200" b="1" dirty="0">
                <a:solidFill>
                  <a:srgbClr val="C0392B"/>
                </a:solidFill>
                <a:latin typeface="Arial"/>
              </a:rPr>
              <a:t>ИНВЕСТИЦИОННЫЙ / КООРДИНАЦИОННЫЙ КОМИТЕТ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Ключевые решения по проекту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Контроль бюджета, сроков и рисков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Утверждение существенных изменений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Утверждение тендеров по выбору исполнителей и закупкам на проект</a:t>
            </a:r>
            <a:endParaRPr lang="ru-RU" sz="80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12" name="Rounded Rectangle 11">
            <a:extLst>
              <a:ext uri="{FF2B5EF4-FFF2-40B4-BE49-F238E27FC236}">
                <a16:creationId xmlns:a16="http://schemas.microsoft.com/office/drawing/2014/main" id="{A6958A3D-2121-4BB9-8F8E-1843A7F9C6A5}"/>
              </a:ext>
            </a:extLst>
          </p:cNvPr>
          <p:cNvSpPr/>
          <p:nvPr/>
        </p:nvSpPr>
        <p:spPr>
          <a:xfrm>
            <a:off x="247560" y="4796985"/>
            <a:ext cx="11256111" cy="330314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13" name="Rounded Rectangle 22">
            <a:extLst>
              <a:ext uri="{FF2B5EF4-FFF2-40B4-BE49-F238E27FC236}">
                <a16:creationId xmlns:a16="http://schemas.microsoft.com/office/drawing/2014/main" id="{9EBCA72A-D339-42D7-BA02-4A47393D1FE2}"/>
              </a:ext>
            </a:extLst>
          </p:cNvPr>
          <p:cNvSpPr/>
          <p:nvPr/>
        </p:nvSpPr>
        <p:spPr>
          <a:xfrm>
            <a:off x="2685341" y="5310368"/>
            <a:ext cx="1798320" cy="1316735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ПРОЕКТНЫЕ И ЭКСПЕРТНЫЕ ОРГАНИЗАЦИИ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Изыскания и обследования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Историко-культурные экспертизы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Археология и мониторинг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Научно-техническое сопровождение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Кадастровый инженер / БТИ</a:t>
            </a:r>
          </a:p>
        </p:txBody>
      </p:sp>
      <p:sp>
        <p:nvSpPr>
          <p:cNvPr id="114" name="Rounded Rectangle 23">
            <a:extLst>
              <a:ext uri="{FF2B5EF4-FFF2-40B4-BE49-F238E27FC236}">
                <a16:creationId xmlns:a16="http://schemas.microsoft.com/office/drawing/2014/main" id="{7A32400B-0DCD-4D83-B5BE-99941A49C5BD}"/>
              </a:ext>
            </a:extLst>
          </p:cNvPr>
          <p:cNvSpPr/>
          <p:nvPr/>
        </p:nvSpPr>
        <p:spPr>
          <a:xfrm>
            <a:off x="4980625" y="5301107"/>
            <a:ext cx="1798320" cy="1316727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ИНЖЕНЕРИЯ И РЕСУРСЫ</a:t>
            </a: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ТУ и техническое подключение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Вынос / отключение сетей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СТУ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15" name="Rounded Rectangle 24">
            <a:extLst>
              <a:ext uri="{FF2B5EF4-FFF2-40B4-BE49-F238E27FC236}">
                <a16:creationId xmlns:a16="http://schemas.microsoft.com/office/drawing/2014/main" id="{F0211C4A-726E-4D5E-8051-F0F4714962D1}"/>
              </a:ext>
            </a:extLst>
          </p:cNvPr>
          <p:cNvSpPr/>
          <p:nvPr/>
        </p:nvSpPr>
        <p:spPr>
          <a:xfrm>
            <a:off x="7328879" y="5316778"/>
            <a:ext cx="1798320" cy="1316726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ГЕНПОДРЯДЧИК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Демонтаж сложных конструкций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СМР и поставки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Субподрядчики, ОТ и ТБ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17" name="Rounded Rectangle 25">
            <a:extLst>
              <a:ext uri="{FF2B5EF4-FFF2-40B4-BE49-F238E27FC236}">
                <a16:creationId xmlns:a16="http://schemas.microsoft.com/office/drawing/2014/main" id="{ABDDF9F5-1441-402A-AC27-AC860DE099FB}"/>
              </a:ext>
            </a:extLst>
          </p:cNvPr>
          <p:cNvSpPr/>
          <p:nvPr/>
        </p:nvSpPr>
        <p:spPr>
          <a:xfrm>
            <a:off x="9590550" y="5302828"/>
            <a:ext cx="1798320" cy="1316723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СТРОИТЕЛЬНЫЙ КОНТРОЛЬ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надзор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объемов и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качества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Приемка работ</a:t>
            </a:r>
            <a:r>
              <a:rPr sz="700" b="0" dirty="0">
                <a:solidFill>
                  <a:srgbClr val="2C3E50"/>
                </a:solidFill>
                <a:latin typeface="Arial"/>
              </a:rPr>
              <a:t> 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18" name="Rounded Rectangle 38">
            <a:extLst>
              <a:ext uri="{FF2B5EF4-FFF2-40B4-BE49-F238E27FC236}">
                <a16:creationId xmlns:a16="http://schemas.microsoft.com/office/drawing/2014/main" id="{9953EFC1-0BB7-4505-AA2A-B98DE93AE86A}"/>
              </a:ext>
            </a:extLst>
          </p:cNvPr>
          <p:cNvSpPr/>
          <p:nvPr/>
        </p:nvSpPr>
        <p:spPr>
          <a:xfrm>
            <a:off x="354877" y="6920121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ДЕПАРТАМЕНТ ГРАДОСТРОИТЕЛЬНОЙ ПОЛИТИКИ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АГК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Архитектурно-градостроительный облик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Цифровой двойник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19" name="Rounded Rectangle 40">
            <a:extLst>
              <a:ext uri="{FF2B5EF4-FFF2-40B4-BE49-F238E27FC236}">
                <a16:creationId xmlns:a16="http://schemas.microsoft.com/office/drawing/2014/main" id="{974BACCA-322B-4B50-B0B6-C8AE37E4AB92}"/>
              </a:ext>
            </a:extLst>
          </p:cNvPr>
          <p:cNvSpPr/>
          <p:nvPr/>
        </p:nvSpPr>
        <p:spPr>
          <a:xfrm>
            <a:off x="2206602" y="6920121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800" b="1" dirty="0">
                <a:solidFill>
                  <a:srgbClr val="D35400"/>
                </a:solidFill>
                <a:latin typeface="Arial"/>
              </a:rPr>
              <a:t>КОМИССИЯ ПО ВОПРОСАМ ГРАДОСТРОИТЕЛЬСТВА, ЗЕМЛЕПОЛЬЗОВАНИЯ И ЗАСТРОЙКИ (</a:t>
            </a:r>
            <a:r>
              <a:rPr sz="800" b="1" dirty="0">
                <a:solidFill>
                  <a:srgbClr val="D35400"/>
                </a:solidFill>
                <a:latin typeface="Arial"/>
              </a:rPr>
              <a:t>ГЗК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)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АГК, ТЭП, ПЗЗ	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Ключевые решения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Рассмотрение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20" name="Rounded Rectangle 42">
            <a:extLst>
              <a:ext uri="{FF2B5EF4-FFF2-40B4-BE49-F238E27FC236}">
                <a16:creationId xmlns:a16="http://schemas.microsoft.com/office/drawing/2014/main" id="{05A13EED-A668-4CCF-939E-8E7C1E18E041}"/>
              </a:ext>
            </a:extLst>
          </p:cNvPr>
          <p:cNvSpPr/>
          <p:nvPr/>
        </p:nvSpPr>
        <p:spPr>
          <a:xfrm>
            <a:off x="4058326" y="6920121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ДЕПАРТАМЕНТ КУЛЬТУРНОГО НАСЛЕДИЯ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Зоны охраны ОКН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Историко-культурная экспертиза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Археология и культурный слой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21" name="Rounded Rectangle 44">
            <a:extLst>
              <a:ext uri="{FF2B5EF4-FFF2-40B4-BE49-F238E27FC236}">
                <a16:creationId xmlns:a16="http://schemas.microsoft.com/office/drawing/2014/main" id="{C36BEB91-6CF1-4FEE-B6CF-DE48DB66F9EB}"/>
              </a:ext>
            </a:extLst>
          </p:cNvPr>
          <p:cNvSpPr/>
          <p:nvPr/>
        </p:nvSpPr>
        <p:spPr>
          <a:xfrm>
            <a:off x="5910050" y="6920121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МОСГОСЭКСПЕРТИЗА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Консультационные услуги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Экспертиза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проектной документации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22" name="Rounded Rectangle 46">
            <a:extLst>
              <a:ext uri="{FF2B5EF4-FFF2-40B4-BE49-F238E27FC236}">
                <a16:creationId xmlns:a16="http://schemas.microsoft.com/office/drawing/2014/main" id="{5B748B88-58A2-4A95-9AD2-BD8A77EC35D2}"/>
              </a:ext>
            </a:extLst>
          </p:cNvPr>
          <p:cNvSpPr/>
          <p:nvPr/>
        </p:nvSpPr>
        <p:spPr>
          <a:xfrm>
            <a:off x="7761774" y="6920121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МОСГОССТРОЙНАДЗОР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РпР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 / начало работ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Контроль строительства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ЗОС и ввод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23" name="Rounded Rectangle 48">
            <a:extLst>
              <a:ext uri="{FF2B5EF4-FFF2-40B4-BE49-F238E27FC236}">
                <a16:creationId xmlns:a16="http://schemas.microsoft.com/office/drawing/2014/main" id="{50F9E6BF-3DC4-4D17-B091-86EAA18153C5}"/>
              </a:ext>
            </a:extLst>
          </p:cNvPr>
          <p:cNvSpPr/>
          <p:nvPr/>
        </p:nvSpPr>
        <p:spPr>
          <a:xfrm>
            <a:off x="9613498" y="6920121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РЕСУРСНОСНАБЖАЮЩИЕ ОРГАНИЗАЦИИ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ТУ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Подключение к сетям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Согласование проектов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24" name="Rounded Rectangle 50">
            <a:extLst>
              <a:ext uri="{FF2B5EF4-FFF2-40B4-BE49-F238E27FC236}">
                <a16:creationId xmlns:a16="http://schemas.microsoft.com/office/drawing/2014/main" id="{B1F5D420-B76A-46DA-9598-3FA3F147C676}"/>
              </a:ext>
            </a:extLst>
          </p:cNvPr>
          <p:cNvSpPr/>
          <p:nvPr/>
        </p:nvSpPr>
        <p:spPr>
          <a:xfrm>
            <a:off x="10859844" y="1950511"/>
            <a:ext cx="3522994" cy="2599332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1200" b="1" dirty="0">
                <a:solidFill>
                  <a:srgbClr val="6C348D"/>
                </a:solidFill>
                <a:latin typeface="Arial"/>
              </a:rPr>
              <a:t>ОТЕЛКА (</a:t>
            </a:r>
            <a:r>
              <a:rPr lang="ru-RU" sz="1200" b="1" dirty="0" err="1">
                <a:solidFill>
                  <a:srgbClr val="6C348D"/>
                </a:solidFill>
                <a:latin typeface="Arial"/>
              </a:rPr>
              <a:t>Fit-Out</a:t>
            </a:r>
            <a:r>
              <a:rPr lang="ru-RU" sz="1200" b="1" dirty="0">
                <a:solidFill>
                  <a:srgbClr val="6C348D"/>
                </a:solidFill>
                <a:latin typeface="Arial"/>
              </a:rPr>
              <a:t>) И ОБОРУДОВАНИЕ МУЛЬТИМЕДИЙНОГО КОМПЛЕКСА</a:t>
            </a:r>
            <a:endParaRPr lang="ru-RU" sz="12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ru-RU" sz="1200" b="1" dirty="0">
              <a:solidFill>
                <a:schemeClr val="tx1"/>
              </a:solidFill>
              <a:latin typeface="Arial"/>
            </a:endParaRP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Дизайн интерьеров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РСР по Отделке и Оборудованию (</a:t>
            </a:r>
            <a:r>
              <a:rPr lang="ru-RU" sz="900" dirty="0" err="1">
                <a:solidFill>
                  <a:srgbClr val="2C3E50"/>
                </a:solidFill>
                <a:latin typeface="Arial"/>
              </a:rPr>
              <a:t>Fit-Out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)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Мультимедийные системы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ИТ-системы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Системы безопасности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Системы диспетчеризации инженерного оборудования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Функциональный оператор</a:t>
            </a:r>
          </a:p>
          <a:p>
            <a:pPr lvl="2"/>
            <a:endParaRPr lang="ru-RU" sz="1100" dirty="0">
              <a:solidFill>
                <a:schemeClr val="tx1"/>
              </a:solidFill>
            </a:endParaRPr>
          </a:p>
          <a:p>
            <a:pPr lvl="2"/>
            <a:r>
              <a:rPr lang="ru-RU" sz="1100" dirty="0">
                <a:solidFill>
                  <a:schemeClr val="tx1"/>
                </a:solidFill>
              </a:rPr>
              <a:t>	</a:t>
            </a:r>
            <a:endParaRPr lang="ru-RU" sz="1100" b="1" dirty="0">
              <a:solidFill>
                <a:schemeClr val="tx1"/>
              </a:solidFill>
              <a:latin typeface="Arial"/>
            </a:endParaRPr>
          </a:p>
        </p:txBody>
      </p:sp>
      <p:grpSp>
        <p:nvGrpSpPr>
          <p:cNvPr id="126" name="Группа 125">
            <a:extLst>
              <a:ext uri="{FF2B5EF4-FFF2-40B4-BE49-F238E27FC236}">
                <a16:creationId xmlns:a16="http://schemas.microsoft.com/office/drawing/2014/main" id="{42442E71-64A2-4C68-825C-D8E71D0A810A}"/>
              </a:ext>
            </a:extLst>
          </p:cNvPr>
          <p:cNvGrpSpPr/>
          <p:nvPr/>
        </p:nvGrpSpPr>
        <p:grpSpPr>
          <a:xfrm>
            <a:off x="247562" y="1952934"/>
            <a:ext cx="3521495" cy="2596909"/>
            <a:chOff x="899230" y="1930004"/>
            <a:chExt cx="3521495" cy="2596909"/>
          </a:xfrm>
        </p:grpSpPr>
        <p:sp>
          <p:nvSpPr>
            <p:cNvPr id="127" name="Rounded Rectangle 7">
              <a:extLst>
                <a:ext uri="{FF2B5EF4-FFF2-40B4-BE49-F238E27FC236}">
                  <a16:creationId xmlns:a16="http://schemas.microsoft.com/office/drawing/2014/main" id="{1E2854B4-FBC9-4F22-BF16-DE8DC2DC77D2}"/>
                </a:ext>
              </a:extLst>
            </p:cNvPr>
            <p:cNvSpPr/>
            <p:nvPr/>
          </p:nvSpPr>
          <p:spPr>
            <a:xfrm>
              <a:off x="899230" y="1930004"/>
              <a:ext cx="3521495" cy="2596909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117A6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rIns="54864" bIns="36576" rtlCol="0" anchor="ctr"/>
            <a:lstStyle/>
            <a:p>
              <a:pPr algn="ctr"/>
              <a:endParaRPr sz="700" b="0" dirty="0">
                <a:solidFill>
                  <a:srgbClr val="2C3E50"/>
                </a:solidFill>
                <a:latin typeface="Arial"/>
              </a:endParaRPr>
            </a:p>
          </p:txBody>
        </p:sp>
        <p:sp>
          <p:nvSpPr>
            <p:cNvPr id="128" name="Rounded Rectangle 8">
              <a:extLst>
                <a:ext uri="{FF2B5EF4-FFF2-40B4-BE49-F238E27FC236}">
                  <a16:creationId xmlns:a16="http://schemas.microsoft.com/office/drawing/2014/main" id="{9350D1E9-A9DE-4517-B4F4-D120EB891816}"/>
                </a:ext>
              </a:extLst>
            </p:cNvPr>
            <p:cNvSpPr/>
            <p:nvPr/>
          </p:nvSpPr>
          <p:spPr>
            <a:xfrm>
              <a:off x="988729" y="3490160"/>
              <a:ext cx="1508760" cy="960111"/>
            </a:xfrm>
            <a:prstGeom prst="roundRect">
              <a:avLst>
                <a:gd name="adj" fmla="val 8000"/>
              </a:avLst>
            </a:prstGeom>
            <a:solidFill>
              <a:srgbClr val="EAFAF1"/>
            </a:solidFill>
            <a:ln w="19050">
              <a:solidFill>
                <a:srgbClr val="117A6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rIns="54864" bIns="36576" rtlCol="0" anchor="t"/>
            <a:lstStyle/>
            <a:p>
              <a:pPr algn="ctr"/>
              <a:r>
                <a:rPr lang="ru-RU" sz="900" b="1" dirty="0">
                  <a:solidFill>
                    <a:srgbClr val="117A65"/>
                  </a:solidFill>
                  <a:latin typeface="Arial"/>
                </a:rPr>
                <a:t>АРХИТЕКТОР</a:t>
              </a:r>
              <a:endParaRPr sz="900" b="1" dirty="0">
                <a:solidFill>
                  <a:srgbClr val="117A65"/>
                </a:solidFill>
                <a:latin typeface="Arial"/>
              </a:endParaRPr>
            </a:p>
            <a:p>
              <a:endParaRPr lang="ru-RU" sz="700" dirty="0">
                <a:solidFill>
                  <a:srgbClr val="2C3E50"/>
                </a:solidFill>
                <a:latin typeface="Arial"/>
              </a:endParaRPr>
            </a:p>
            <a:p>
              <a:r>
                <a:rPr lang="ru-RU" sz="700" dirty="0">
                  <a:solidFill>
                    <a:srgbClr val="2C3E50"/>
                  </a:solidFill>
                  <a:latin typeface="Arial"/>
                </a:rPr>
                <a:t>•  Авторская идея / </a:t>
              </a:r>
              <a:r>
                <a:rPr lang="en-US" sz="700" dirty="0">
                  <a:solidFill>
                    <a:srgbClr val="2C3E50"/>
                  </a:solidFill>
                  <a:latin typeface="Arial"/>
                </a:rPr>
                <a:t>design intent</a:t>
              </a:r>
              <a:endParaRPr lang="ru-RU" sz="700" dirty="0">
                <a:solidFill>
                  <a:srgbClr val="2C3E50"/>
                </a:solidFill>
                <a:latin typeface="Arial"/>
              </a:endParaRPr>
            </a:p>
            <a:p>
              <a:r>
                <a:rPr lang="ru-RU" sz="700" dirty="0">
                  <a:solidFill>
                    <a:srgbClr val="2C3E50"/>
                  </a:solidFill>
                  <a:latin typeface="Arial"/>
                </a:rPr>
                <a:t>•  </a:t>
              </a:r>
              <a:r>
                <a:rPr lang="en-US" sz="700" dirty="0">
                  <a:solidFill>
                    <a:srgbClr val="2C3E50"/>
                  </a:solidFill>
                  <a:latin typeface="Arial"/>
                </a:rPr>
                <a:t>Schematic design</a:t>
              </a:r>
              <a:endParaRPr lang="ru-RU" sz="700" dirty="0">
                <a:solidFill>
                  <a:srgbClr val="2C3E50"/>
                </a:solidFill>
                <a:latin typeface="Arial"/>
              </a:endParaRPr>
            </a:p>
          </p:txBody>
        </p:sp>
        <p:sp>
          <p:nvSpPr>
            <p:cNvPr id="129" name="Rounded Rectangle 9">
              <a:extLst>
                <a:ext uri="{FF2B5EF4-FFF2-40B4-BE49-F238E27FC236}">
                  <a16:creationId xmlns:a16="http://schemas.microsoft.com/office/drawing/2014/main" id="{A954E53B-E67A-4F3C-8D47-DC19FE975699}"/>
                </a:ext>
              </a:extLst>
            </p:cNvPr>
            <p:cNvSpPr/>
            <p:nvPr/>
          </p:nvSpPr>
          <p:spPr>
            <a:xfrm>
              <a:off x="2748421" y="3495764"/>
              <a:ext cx="1508760" cy="960115"/>
            </a:xfrm>
            <a:prstGeom prst="roundRect">
              <a:avLst>
                <a:gd name="adj" fmla="val 8000"/>
              </a:avLst>
            </a:prstGeom>
            <a:solidFill>
              <a:srgbClr val="EAFAF1"/>
            </a:solidFill>
            <a:ln w="19050">
              <a:solidFill>
                <a:srgbClr val="117A6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rIns="54864" bIns="36576" rtlCol="0" anchor="t"/>
            <a:lstStyle/>
            <a:p>
              <a:pPr algn="ctr"/>
              <a:r>
                <a:rPr lang="ru-RU" sz="900" b="1" dirty="0">
                  <a:solidFill>
                    <a:srgbClr val="117A65"/>
                  </a:solidFill>
                  <a:latin typeface="Arial"/>
                </a:rPr>
                <a:t>МУЛЬТИМЕДИЙНЫЙ КОНСУЛЬТАНТ</a:t>
              </a:r>
              <a:endParaRPr sz="900" b="1" dirty="0">
                <a:solidFill>
                  <a:srgbClr val="117A65"/>
                </a:solidFill>
                <a:latin typeface="Arial"/>
              </a:endParaRPr>
            </a:p>
            <a:p>
              <a:r>
                <a:rPr lang="ru-RU" sz="700" dirty="0">
                  <a:solidFill>
                    <a:srgbClr val="2C3E50"/>
                  </a:solidFill>
                  <a:latin typeface="Arial"/>
                </a:rPr>
                <a:t>•  Мультимедийная и содержательная концепция</a:t>
              </a:r>
            </a:p>
            <a:p>
              <a:r>
                <a:rPr lang="ru-RU" sz="700" dirty="0">
                  <a:solidFill>
                    <a:srgbClr val="2C3E50"/>
                  </a:solidFill>
                  <a:latin typeface="Arial"/>
                </a:rPr>
                <a:t>•  Консультации</a:t>
              </a:r>
            </a:p>
            <a:p>
              <a:r>
                <a:rPr lang="ru-RU" sz="700" dirty="0">
                  <a:solidFill>
                    <a:srgbClr val="2C3E50"/>
                  </a:solidFill>
                  <a:latin typeface="Arial"/>
                </a:rPr>
                <a:t>•  Дальнейший статус уточняется</a:t>
              </a:r>
            </a:p>
            <a:p>
              <a:pPr algn="ctr"/>
              <a:endParaRPr sz="700" b="0" dirty="0">
                <a:solidFill>
                  <a:srgbClr val="5D6D7E"/>
                </a:solidFill>
                <a:latin typeface="Arial"/>
              </a:endParaRPr>
            </a:p>
          </p:txBody>
        </p:sp>
        <p:sp>
          <p:nvSpPr>
            <p:cNvPr id="130" name="Rounded Rectangle 7">
              <a:extLst>
                <a:ext uri="{FF2B5EF4-FFF2-40B4-BE49-F238E27FC236}">
                  <a16:creationId xmlns:a16="http://schemas.microsoft.com/office/drawing/2014/main" id="{9FD27CFF-E85E-4359-8E13-D265912F2AD7}"/>
                </a:ext>
              </a:extLst>
            </p:cNvPr>
            <p:cNvSpPr/>
            <p:nvPr/>
          </p:nvSpPr>
          <p:spPr>
            <a:xfrm>
              <a:off x="899230" y="1930162"/>
              <a:ext cx="3521495" cy="1434147"/>
            </a:xfrm>
            <a:prstGeom prst="roundRect">
              <a:avLst>
                <a:gd name="adj" fmla="val 8000"/>
              </a:avLst>
            </a:prstGeom>
            <a:solidFill>
              <a:srgbClr val="EAFAF1"/>
            </a:solidFill>
            <a:ln w="19050">
              <a:solidFill>
                <a:srgbClr val="117A6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rIns="54864" bIns="36576" rtlCol="0" anchor="t"/>
            <a:lstStyle/>
            <a:p>
              <a:pPr algn="ctr"/>
              <a:r>
                <a:rPr sz="1200" b="1" dirty="0">
                  <a:solidFill>
                    <a:srgbClr val="117A65"/>
                  </a:solidFill>
                  <a:latin typeface="Arial"/>
                </a:rPr>
                <a:t>КОНЦЕПТУАЛЬНЫЙ КУРАТОР</a:t>
              </a:r>
            </a:p>
            <a:p>
              <a:pPr algn="l"/>
              <a:endParaRPr lang="ru-RU" sz="700" b="0" dirty="0">
                <a:solidFill>
                  <a:srgbClr val="2C3E50"/>
                </a:solidFill>
                <a:latin typeface="Arial"/>
              </a:endParaRPr>
            </a:p>
            <a:p>
              <a:pPr algn="l"/>
              <a:r>
                <a:rPr sz="900" b="0" dirty="0">
                  <a:solidFill>
                    <a:srgbClr val="2C3E50"/>
                  </a:solidFill>
                  <a:latin typeface="Arial"/>
                </a:rPr>
                <a:t>•  </a:t>
              </a:r>
              <a:r>
                <a:rPr lang="ru-RU" sz="900" b="0" dirty="0">
                  <a:solidFill>
                    <a:srgbClr val="2C3E50"/>
                  </a:solidFill>
                  <a:latin typeface="Arial"/>
                </a:rPr>
                <a:t>Архитектурная и содержательная концепция проекта</a:t>
              </a:r>
              <a:endParaRPr sz="900" b="0" dirty="0">
                <a:solidFill>
                  <a:srgbClr val="2C3E50"/>
                </a:solidFill>
                <a:latin typeface="Arial"/>
              </a:endParaRPr>
            </a:p>
            <a:p>
              <a:pPr algn="l"/>
              <a:r>
                <a:rPr sz="900" b="0" dirty="0">
                  <a:solidFill>
                    <a:srgbClr val="2C3E50"/>
                  </a:solidFill>
                  <a:latin typeface="Arial"/>
                </a:rPr>
                <a:t>•  </a:t>
              </a:r>
              <a:r>
                <a:rPr lang="ru-RU" sz="900" b="0" dirty="0">
                  <a:solidFill>
                    <a:srgbClr val="2C3E50"/>
                  </a:solidFill>
                  <a:latin typeface="Arial"/>
                </a:rPr>
                <a:t>Куратор иностранного архитектора</a:t>
              </a:r>
            </a:p>
            <a:p>
              <a:r>
                <a:rPr lang="ru-RU" sz="900" dirty="0">
                  <a:solidFill>
                    <a:srgbClr val="2C3E50"/>
                  </a:solidFill>
                  <a:latin typeface="Arial"/>
                </a:rPr>
                <a:t>•  Сопровождение </a:t>
              </a:r>
              <a:r>
                <a:rPr lang="en-US" sz="900" dirty="0" err="1">
                  <a:solidFill>
                    <a:srgbClr val="2C3E50"/>
                  </a:solidFill>
                  <a:latin typeface="Arial"/>
                </a:rPr>
                <a:t>schemic</a:t>
              </a:r>
              <a:r>
                <a:rPr lang="en-US" sz="900" dirty="0">
                  <a:solidFill>
                    <a:srgbClr val="2C3E50"/>
                  </a:solidFill>
                  <a:latin typeface="Arial"/>
                </a:rPr>
                <a:t> design </a:t>
              </a:r>
              <a:r>
                <a:rPr lang="ru-RU" sz="900" dirty="0">
                  <a:solidFill>
                    <a:srgbClr val="2C3E50"/>
                  </a:solidFill>
                  <a:latin typeface="Arial"/>
                </a:rPr>
                <a:t>и сохранение </a:t>
              </a:r>
              <a:r>
                <a:rPr lang="en-US" sz="900" dirty="0">
                  <a:solidFill>
                    <a:srgbClr val="2C3E50"/>
                  </a:solidFill>
                  <a:latin typeface="Arial"/>
                </a:rPr>
                <a:t>design intent</a:t>
              </a:r>
              <a:endParaRPr lang="ru-RU" sz="900" dirty="0">
                <a:solidFill>
                  <a:srgbClr val="2C3E50"/>
                </a:solidFill>
                <a:latin typeface="Arial"/>
              </a:endParaRPr>
            </a:p>
            <a:p>
              <a:r>
                <a:rPr lang="ru-RU" sz="900" dirty="0">
                  <a:solidFill>
                    <a:srgbClr val="2C3E50"/>
                  </a:solidFill>
                  <a:latin typeface="Arial"/>
                </a:rPr>
                <a:t>•  Участие в выборе российского генпроектировщика</a:t>
              </a:r>
            </a:p>
            <a:p>
              <a:r>
                <a:rPr lang="ru-RU" sz="900" dirty="0">
                  <a:solidFill>
                    <a:srgbClr val="2C3E50"/>
                  </a:solidFill>
                  <a:latin typeface="Arial"/>
                </a:rPr>
                <a:t>•  Координация мультимедийного консультанта по мультимедийной концепции</a:t>
              </a:r>
            </a:p>
            <a:p>
              <a:r>
                <a:rPr lang="ru-RU" sz="900" dirty="0">
                  <a:solidFill>
                    <a:srgbClr val="2C3E50"/>
                  </a:solidFill>
                  <a:latin typeface="Arial"/>
                </a:rPr>
                <a:t>•  Презентация Мэру / публичная и коммуникационная рамка</a:t>
              </a:r>
              <a:endParaRPr sz="900" b="0" dirty="0">
                <a:solidFill>
                  <a:srgbClr val="2C3E50"/>
                </a:solidFill>
                <a:latin typeface="Arial"/>
              </a:endParaRPr>
            </a:p>
          </p:txBody>
        </p:sp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04AB46F3-2D72-4922-AFC9-BAE172184B48}"/>
              </a:ext>
            </a:extLst>
          </p:cNvPr>
          <p:cNvSpPr txBox="1"/>
          <p:nvPr/>
        </p:nvSpPr>
        <p:spPr>
          <a:xfrm>
            <a:off x="4703077" y="6658511"/>
            <a:ext cx="24352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D35400"/>
                </a:solidFill>
                <a:latin typeface="Arial"/>
              </a:rPr>
              <a:t>СОГЛАСОВАТЕЛЬНЫЙ КОНТУР</a:t>
            </a:r>
            <a:endParaRPr lang="ru-RU" sz="1100" b="1" dirty="0">
              <a:solidFill>
                <a:srgbClr val="D35400"/>
              </a:solidFill>
              <a:latin typeface="Arial"/>
            </a:endParaRPr>
          </a:p>
        </p:txBody>
      </p:sp>
      <p:sp>
        <p:nvSpPr>
          <p:cNvPr id="132" name="Rounded Rectangle 21">
            <a:extLst>
              <a:ext uri="{FF2B5EF4-FFF2-40B4-BE49-F238E27FC236}">
                <a16:creationId xmlns:a16="http://schemas.microsoft.com/office/drawing/2014/main" id="{E7EDF30D-657F-4486-B20F-021B7D5E80AF}"/>
              </a:ext>
            </a:extLst>
          </p:cNvPr>
          <p:cNvSpPr/>
          <p:nvPr/>
        </p:nvSpPr>
        <p:spPr>
          <a:xfrm>
            <a:off x="365543" y="5311796"/>
            <a:ext cx="1816303" cy="1316733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ГЕНПРОЕКТИРОВЩИК РФ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АГК, АГР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Проект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 Рабочая документация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Адаптация решений Иностранного архитектора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Экспертизы и проектная ответственность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BIM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Сметная документация</a:t>
            </a:r>
          </a:p>
        </p:txBody>
      </p:sp>
      <p:cxnSp>
        <p:nvCxnSpPr>
          <p:cNvPr id="136" name="Прямая со стрелкой 135">
            <a:extLst>
              <a:ext uri="{FF2B5EF4-FFF2-40B4-BE49-F238E27FC236}">
                <a16:creationId xmlns:a16="http://schemas.microsoft.com/office/drawing/2014/main" id="{95D8B77B-7EDA-479E-83EB-720F93DC3A41}"/>
              </a:ext>
            </a:extLst>
          </p:cNvPr>
          <p:cNvCxnSpPr>
            <a:stCxn id="110" idx="3"/>
            <a:endCxn id="111" idx="1"/>
          </p:cNvCxnSpPr>
          <p:nvPr/>
        </p:nvCxnSpPr>
        <p:spPr>
          <a:xfrm>
            <a:off x="7132320" y="1275575"/>
            <a:ext cx="3657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Соединитель: уступ 136">
            <a:extLst>
              <a:ext uri="{FF2B5EF4-FFF2-40B4-BE49-F238E27FC236}">
                <a16:creationId xmlns:a16="http://schemas.microsoft.com/office/drawing/2014/main" id="{67990F81-DC98-4162-AF8B-0BCDD4A15B35}"/>
              </a:ext>
            </a:extLst>
          </p:cNvPr>
          <p:cNvCxnSpPr>
            <a:stCxn id="110" idx="1"/>
          </p:cNvCxnSpPr>
          <p:nvPr/>
        </p:nvCxnSpPr>
        <p:spPr>
          <a:xfrm rot="10800000" flipV="1">
            <a:off x="1456944" y="1275574"/>
            <a:ext cx="463296" cy="654429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Соединитель: уступ 137">
            <a:extLst>
              <a:ext uri="{FF2B5EF4-FFF2-40B4-BE49-F238E27FC236}">
                <a16:creationId xmlns:a16="http://schemas.microsoft.com/office/drawing/2014/main" id="{9486BB7F-EC77-43E2-953A-AD216A053002}"/>
              </a:ext>
            </a:extLst>
          </p:cNvPr>
          <p:cNvCxnSpPr>
            <a:cxnSpLocks/>
            <a:stCxn id="111" idx="2"/>
          </p:cNvCxnSpPr>
          <p:nvPr/>
        </p:nvCxnSpPr>
        <p:spPr>
          <a:xfrm rot="5400000">
            <a:off x="9257897" y="1961778"/>
            <a:ext cx="1006647" cy="685800"/>
          </a:xfrm>
          <a:prstGeom prst="bentConnector3">
            <a:avLst>
              <a:gd name="adj1" fmla="val 99455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Прямая со стрелкой 138">
            <a:extLst>
              <a:ext uri="{FF2B5EF4-FFF2-40B4-BE49-F238E27FC236}">
                <a16:creationId xmlns:a16="http://schemas.microsoft.com/office/drawing/2014/main" id="{BAB3BA96-B8ED-40F6-AB8B-0321595BB129}"/>
              </a:ext>
            </a:extLst>
          </p:cNvPr>
          <p:cNvCxnSpPr>
            <a:cxnSpLocks/>
            <a:stCxn id="130" idx="3"/>
          </p:cNvCxnSpPr>
          <p:nvPr/>
        </p:nvCxnSpPr>
        <p:spPr>
          <a:xfrm flipV="1">
            <a:off x="3769057" y="2670165"/>
            <a:ext cx="1443023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Соединитель: уступ 139">
            <a:extLst>
              <a:ext uri="{FF2B5EF4-FFF2-40B4-BE49-F238E27FC236}">
                <a16:creationId xmlns:a16="http://schemas.microsoft.com/office/drawing/2014/main" id="{998747F1-3360-48C8-94A6-A187C2ECA2F4}"/>
              </a:ext>
            </a:extLst>
          </p:cNvPr>
          <p:cNvCxnSpPr>
            <a:cxnSpLocks/>
            <a:stCxn id="130" idx="1"/>
            <a:endCxn id="132" idx="1"/>
          </p:cNvCxnSpPr>
          <p:nvPr/>
        </p:nvCxnSpPr>
        <p:spPr>
          <a:xfrm rot="10800000" flipH="1" flipV="1">
            <a:off x="247561" y="2670165"/>
            <a:ext cx="117981" cy="3299997"/>
          </a:xfrm>
          <a:prstGeom prst="bentConnector3">
            <a:avLst>
              <a:gd name="adj1" fmla="val -115274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AEECC36A-7592-4CDB-B0B9-E590D3EAE22D}"/>
              </a:ext>
            </a:extLst>
          </p:cNvPr>
          <p:cNvSpPr txBox="1"/>
          <p:nvPr/>
        </p:nvSpPr>
        <p:spPr>
          <a:xfrm>
            <a:off x="2374174" y="4841297"/>
            <a:ext cx="709308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solidFill>
                  <a:srgbClr val="7D6608"/>
                </a:solidFill>
                <a:latin typeface="Arial"/>
              </a:rPr>
              <a:t>ТЕХНИЧЕСКИЙ ЗАКАЗЧИК</a:t>
            </a:r>
            <a:endParaRPr lang="ru-RU" sz="1200" b="0" dirty="0">
              <a:solidFill>
                <a:srgbClr val="2C3E50"/>
              </a:solidFill>
              <a:latin typeface="Arial"/>
            </a:endParaRPr>
          </a:p>
          <a:p>
            <a:pPr algn="ctr"/>
            <a:r>
              <a:rPr lang="ru-RU" sz="900" b="0" dirty="0">
                <a:solidFill>
                  <a:srgbClr val="2C3E50"/>
                </a:solidFill>
                <a:latin typeface="Arial"/>
              </a:rPr>
              <a:t>•  Техническое сопровождение реализации, ИРД, ПИР, СМР, СК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, взаимодействие с надзором,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ЗОС, Акт ввода </a:t>
            </a:r>
          </a:p>
        </p:txBody>
      </p:sp>
      <p:cxnSp>
        <p:nvCxnSpPr>
          <p:cNvPr id="142" name="Прямая со стрелкой 141">
            <a:extLst>
              <a:ext uri="{FF2B5EF4-FFF2-40B4-BE49-F238E27FC236}">
                <a16:creationId xmlns:a16="http://schemas.microsoft.com/office/drawing/2014/main" id="{DE281C4D-03F9-456C-8239-CB9118A362AD}"/>
              </a:ext>
            </a:extLst>
          </p:cNvPr>
          <p:cNvCxnSpPr>
            <a:cxnSpLocks/>
          </p:cNvCxnSpPr>
          <p:nvPr/>
        </p:nvCxnSpPr>
        <p:spPr>
          <a:xfrm>
            <a:off x="6246703" y="1817026"/>
            <a:ext cx="0" cy="4293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Прямая со стрелкой 142">
            <a:extLst>
              <a:ext uri="{FF2B5EF4-FFF2-40B4-BE49-F238E27FC236}">
                <a16:creationId xmlns:a16="http://schemas.microsoft.com/office/drawing/2014/main" id="{AEC53159-C062-45E6-9C06-8F0D3E8152E6}"/>
              </a:ext>
            </a:extLst>
          </p:cNvPr>
          <p:cNvCxnSpPr>
            <a:cxnSpLocks/>
          </p:cNvCxnSpPr>
          <p:nvPr/>
        </p:nvCxnSpPr>
        <p:spPr>
          <a:xfrm>
            <a:off x="7275651" y="4092690"/>
            <a:ext cx="737" cy="7042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Прямая со стрелкой 143">
            <a:extLst>
              <a:ext uri="{FF2B5EF4-FFF2-40B4-BE49-F238E27FC236}">
                <a16:creationId xmlns:a16="http://schemas.microsoft.com/office/drawing/2014/main" id="{1B2D457A-3584-4B5E-8D02-720439E9D558}"/>
              </a:ext>
            </a:extLst>
          </p:cNvPr>
          <p:cNvCxnSpPr>
            <a:cxnSpLocks/>
          </p:cNvCxnSpPr>
          <p:nvPr/>
        </p:nvCxnSpPr>
        <p:spPr>
          <a:xfrm>
            <a:off x="9418320" y="3437456"/>
            <a:ext cx="1441524" cy="15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">
            <a:extLst>
              <a:ext uri="{FF2B5EF4-FFF2-40B4-BE49-F238E27FC236}">
                <a16:creationId xmlns:a16="http://schemas.microsoft.com/office/drawing/2014/main" id="{2EF43A69-23EF-4C73-B929-E2FC752F9D98}"/>
              </a:ext>
            </a:extLst>
          </p:cNvPr>
          <p:cNvSpPr/>
          <p:nvPr/>
        </p:nvSpPr>
        <p:spPr>
          <a:xfrm>
            <a:off x="5212080" y="2246384"/>
            <a:ext cx="4206240" cy="1868416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200" b="1" dirty="0">
                <a:solidFill>
                  <a:srgbClr val="1A527A"/>
                </a:solidFill>
                <a:latin typeface="Arial"/>
              </a:rPr>
              <a:t>УПРАВЛЯЮЩАЯ КОМПАНИЯ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Организация практической реализации проекта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  Градостроительный аудит и разрешительная стратегия</a:t>
            </a:r>
          </a:p>
          <a:p>
            <a:pPr algn="l"/>
            <a:r>
              <a:rPr lang="ru-RU" sz="900" b="0" dirty="0">
                <a:solidFill>
                  <a:srgbClr val="2C3E50"/>
                </a:solidFill>
                <a:latin typeface="Arial"/>
              </a:rPr>
              <a:t>   ПЗЗ, ППЗ, ГЗК, АГР, ИРД, </a:t>
            </a:r>
            <a:r>
              <a:rPr lang="ru-RU" sz="900" dirty="0" err="1">
                <a:solidFill>
                  <a:srgbClr val="2C3E50"/>
                </a:solidFill>
                <a:latin typeface="Arial"/>
              </a:rPr>
              <a:t>РпС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 / реконструкция</a:t>
            </a:r>
            <a:endParaRPr lang="ru-RU"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lang="ru-RU" sz="900" b="0" dirty="0">
                <a:solidFill>
                  <a:srgbClr val="2C3E50"/>
                </a:solidFill>
                <a:latin typeface="Arial"/>
              </a:rPr>
              <a:t>•  Организация тендеров и закупочных процедур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Координация технического заказчика, генпроектировщика,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   генподрядчика и других участников проекта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Бюджет, сроки, качество, риски, отчетность</a:t>
            </a:r>
          </a:p>
          <a:p>
            <a:endParaRPr lang="ru-RU" sz="900" dirty="0">
              <a:solidFill>
                <a:srgbClr val="2C3E50"/>
              </a:solidFill>
              <a:latin typeface="Arial"/>
            </a:endParaRP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 </a:t>
            </a:r>
          </a:p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974" name="Соединитель: уступ 973">
            <a:extLst>
              <a:ext uri="{FF2B5EF4-FFF2-40B4-BE49-F238E27FC236}">
                <a16:creationId xmlns:a16="http://schemas.microsoft.com/office/drawing/2014/main" id="{6370241F-F829-44D6-A409-8721B6D1FA03}"/>
              </a:ext>
            </a:extLst>
          </p:cNvPr>
          <p:cNvCxnSpPr>
            <a:cxnSpLocks/>
          </p:cNvCxnSpPr>
          <p:nvPr/>
        </p:nvCxnSpPr>
        <p:spPr>
          <a:xfrm rot="16200000" flipH="1">
            <a:off x="2785397" y="3946843"/>
            <a:ext cx="2347186" cy="379868"/>
          </a:xfrm>
          <a:prstGeom prst="bentConnector3">
            <a:avLst>
              <a:gd name="adj1" fmla="val 5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2" name="Прямая со стрелкой 981">
            <a:extLst>
              <a:ext uri="{FF2B5EF4-FFF2-40B4-BE49-F238E27FC236}">
                <a16:creationId xmlns:a16="http://schemas.microsoft.com/office/drawing/2014/main" id="{95CBD10F-ED01-4A38-B07C-02FC9EBEB9D8}"/>
              </a:ext>
            </a:extLst>
          </p:cNvPr>
          <p:cNvCxnSpPr>
            <a:cxnSpLocks/>
            <a:endCxn id="129" idx="0"/>
          </p:cNvCxnSpPr>
          <p:nvPr/>
        </p:nvCxnSpPr>
        <p:spPr>
          <a:xfrm>
            <a:off x="2849219" y="3387239"/>
            <a:ext cx="1914" cy="131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Прямая со стрелкой 170">
            <a:extLst>
              <a:ext uri="{FF2B5EF4-FFF2-40B4-BE49-F238E27FC236}">
                <a16:creationId xmlns:a16="http://schemas.microsoft.com/office/drawing/2014/main" id="{80C1FA09-9C54-4023-A607-12EFC9F07B28}"/>
              </a:ext>
            </a:extLst>
          </p:cNvPr>
          <p:cNvCxnSpPr>
            <a:cxnSpLocks/>
          </p:cNvCxnSpPr>
          <p:nvPr/>
        </p:nvCxnSpPr>
        <p:spPr>
          <a:xfrm>
            <a:off x="1082896" y="3374296"/>
            <a:ext cx="1914" cy="131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Прямая со стрелкой 171">
            <a:extLst>
              <a:ext uri="{FF2B5EF4-FFF2-40B4-BE49-F238E27FC236}">
                <a16:creationId xmlns:a16="http://schemas.microsoft.com/office/drawing/2014/main" id="{DCEEEB6D-6191-44AB-83A3-C98340CA5C32}"/>
              </a:ext>
            </a:extLst>
          </p:cNvPr>
          <p:cNvCxnSpPr>
            <a:cxnSpLocks/>
            <a:stCxn id="128" idx="2"/>
          </p:cNvCxnSpPr>
          <p:nvPr/>
        </p:nvCxnSpPr>
        <p:spPr>
          <a:xfrm>
            <a:off x="1091441" y="4473201"/>
            <a:ext cx="0" cy="827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8" name="Соединитель: уступ 987">
            <a:extLst>
              <a:ext uri="{FF2B5EF4-FFF2-40B4-BE49-F238E27FC236}">
                <a16:creationId xmlns:a16="http://schemas.microsoft.com/office/drawing/2014/main" id="{26F61A52-F130-47E3-8E42-D59454ECE7E4}"/>
              </a:ext>
            </a:extLst>
          </p:cNvPr>
          <p:cNvCxnSpPr>
            <a:cxnSpLocks/>
          </p:cNvCxnSpPr>
          <p:nvPr/>
        </p:nvCxnSpPr>
        <p:spPr>
          <a:xfrm rot="5400000">
            <a:off x="1824783" y="4650702"/>
            <a:ext cx="838598" cy="4835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Соединитель: уступ 186">
            <a:extLst>
              <a:ext uri="{FF2B5EF4-FFF2-40B4-BE49-F238E27FC236}">
                <a16:creationId xmlns:a16="http://schemas.microsoft.com/office/drawing/2014/main" id="{E1A9883B-1B87-4BC0-8D4E-9A2E7EE9A9F5}"/>
              </a:ext>
            </a:extLst>
          </p:cNvPr>
          <p:cNvCxnSpPr>
            <a:cxnSpLocks/>
          </p:cNvCxnSpPr>
          <p:nvPr/>
        </p:nvCxnSpPr>
        <p:spPr>
          <a:xfrm rot="16200000" flipH="1">
            <a:off x="2277514" y="4681569"/>
            <a:ext cx="838600" cy="4218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Rounded Rectangle 51">
            <a:extLst>
              <a:ext uri="{FF2B5EF4-FFF2-40B4-BE49-F238E27FC236}">
                <a16:creationId xmlns:a16="http://schemas.microsoft.com/office/drawing/2014/main" id="{79B91E87-6470-44C2-857C-DD7F907752FA}"/>
              </a:ext>
            </a:extLst>
          </p:cNvPr>
          <p:cNvSpPr/>
          <p:nvPr/>
        </p:nvSpPr>
        <p:spPr>
          <a:xfrm>
            <a:off x="12089731" y="4808472"/>
            <a:ext cx="2283873" cy="1006648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ОТДЕЛЬНЫЕ АКЦЕНТЫ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Концептуальный куратор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: что создаем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УК: как реализуем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Архитектор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: авторская идея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Генпроектировщик РФ: проектная ответственность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заказчик: техническая реализация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200" name="Rounded Rectangle 52">
            <a:extLst>
              <a:ext uri="{FF2B5EF4-FFF2-40B4-BE49-F238E27FC236}">
                <a16:creationId xmlns:a16="http://schemas.microsoft.com/office/drawing/2014/main" id="{89AB9268-B7B4-44E9-B47C-867D660365AC}"/>
              </a:ext>
            </a:extLst>
          </p:cNvPr>
          <p:cNvSpPr/>
          <p:nvPr/>
        </p:nvSpPr>
        <p:spPr>
          <a:xfrm>
            <a:off x="12098965" y="6017540"/>
            <a:ext cx="2283873" cy="1006648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СПЕЦИФИКА ПРОЕКТА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Исторический центр Москвы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 / глубокая 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Доходный дом и имущественный контур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Зоны охраны, археология, ДКН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Повышенное внимание города и общественности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201" name="Rounded Rectangle 53">
            <a:extLst>
              <a:ext uri="{FF2B5EF4-FFF2-40B4-BE49-F238E27FC236}">
                <a16:creationId xmlns:a16="http://schemas.microsoft.com/office/drawing/2014/main" id="{73CDE3B1-EFAC-4057-B058-5CD58D57FA87}"/>
              </a:ext>
            </a:extLst>
          </p:cNvPr>
          <p:cNvSpPr/>
          <p:nvPr/>
        </p:nvSpPr>
        <p:spPr>
          <a:xfrm>
            <a:off x="12092836" y="7226609"/>
            <a:ext cx="2283873" cy="870614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ЭКСПЛУАТАЦИОННЫЙ КОНТУР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Оператор / арендаторы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Эксплуатирующая компания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b="0" dirty="0">
                <a:solidFill>
                  <a:srgbClr val="2C3E50"/>
                </a:solidFill>
                <a:latin typeface="Arial"/>
              </a:rPr>
              <a:t>Facility management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Операционная модель и требования к проектированию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Передача объекта в эксплуатацию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2046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544</Words>
  <Application>Microsoft Office PowerPoint</Application>
  <PresentationFormat>Произвольный</PresentationFormat>
  <Paragraphs>133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Гусейнов Али Айдын Оглы</dc:creator>
  <cp:keywords/>
  <dc:description>generated using python-pptx</dc:description>
  <cp:lastModifiedBy>ALI</cp:lastModifiedBy>
  <cp:revision>59</cp:revision>
  <cp:lastPrinted>2026-08-07T13:33:23Z</cp:lastPrinted>
  <dcterms:created xsi:type="dcterms:W3CDTF">2013-01-27T09:14:16Z</dcterms:created>
  <dcterms:modified xsi:type="dcterms:W3CDTF">2026-08-10T08:04:23Z</dcterms:modified>
  <cp:category/>
</cp:coreProperties>
</file>