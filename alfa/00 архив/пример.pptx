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7001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128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C3E50"/>
                </a:solidFill>
                <a:latin typeface="Arial"/>
              </a:rPr>
              <a:t>СТРУКТУРА УПРАВЛЕНИЯ ПРОЕКТОМ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10058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6D7E"/>
                </a:solidFill>
                <a:latin typeface="Arial"/>
              </a:rPr>
              <a:t>Объект реконструкции → мультимедийный центр, г. Москва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ИНВЕСТОР / СОБСТВЕННИК / ЗАКАЗЧИК</a:t>
            </a:r>
          </a:p>
          <a:p>
            <a:pPr algn="ctr"/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Стратегические решения и утверждение ключевых параметров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бюджета, сроков, договорной модели и участников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Имущественный и правовой контур ( в т.ч. Доходный дом / РПИ / юрлица Заказчика)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Юридическое сопровождение и защита интересов Заказчика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498080" y="749795"/>
            <a:ext cx="5212080" cy="1051560"/>
          </a:xfrm>
          <a:prstGeom prst="roundRect">
            <a:avLst>
              <a:gd name="adj" fmla="val 8000"/>
            </a:avLst>
          </a:prstGeom>
          <a:solidFill>
            <a:srgbClr val="FDEDEC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C0392B"/>
                </a:solidFill>
                <a:latin typeface="Arial"/>
              </a:rPr>
              <a:t>ИНВЕСТИЦИОННЫЙ / КООРДИНАЦИОННЫЙ КОМИТЕТ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Ключевые решения по проекту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бюджета, сроков и рисков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Утверждение существенных изменений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Утверждение тендеров по выбору исполнителей и закупкам на проект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1330" y="2609511"/>
            <a:ext cx="4206240" cy="1417320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200" b="1" dirty="0">
                <a:solidFill>
                  <a:srgbClr val="1A527A"/>
                </a:solidFill>
                <a:latin typeface="Arial"/>
              </a:rPr>
              <a:t>УПРАВЛЯЮЩАЯ КОМПАНИЯ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управляющая компания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fee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-девелопер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практической реализации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Градостроительный аудит и разрешительная стратегия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   ПЗЗ, ППЗ, ГЗК, АГР, ИРД,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 / реконструкция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Организация тендеров и закупочных процедур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технического заказчика,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,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   генподрядчика и других участников проекта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Бюджет, сроки, качество, риски,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Организация строительства, ЗОС, разрешение на ввод</a:t>
            </a:r>
          </a:p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202218" y="4745736"/>
            <a:ext cx="12225963" cy="334671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l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603389" y="5281212"/>
            <a:ext cx="1798320" cy="131673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ГЕНПРОЕКТИРОВЩИК РФ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Проектная и рабочая документация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Адаптация решений А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рхитектор</a:t>
            </a:r>
            <a:r>
              <a:rPr lang="ru-RU" sz="700">
                <a:solidFill>
                  <a:srgbClr val="2C3E50"/>
                </a:solidFill>
                <a:latin typeface="Arial"/>
              </a:rPr>
              <a:t>а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Экспертизы и проектная ответственность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BIM /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документация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93149" y="5281212"/>
            <a:ext cx="1798320" cy="1316735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ПРОЕКТНЫЕ И ЭКСПЕРТНЫЕ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Изыскания и обследования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Историко-культурные экспертизы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Археология и мониторинг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Кадастровый инженер / БТИ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Геотехнический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Транспортный консультант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Фасадный консультант 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Сметный консультант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82909" y="5281212"/>
            <a:ext cx="1798320" cy="1316727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ИНЖЕНЕРИЯ И РЕСУРСЫ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ТУ и техническое подключение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Вынос / отключение сетей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Инженерные системы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Пожарная безопасность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272669" y="5281213"/>
            <a:ext cx="1798320" cy="1316726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ГЕНПОДРЯДЧИК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Глубокая реконструкция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Демонтаж сложных конструкций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СМР и поставки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Субподрядчики, ОТ и ТБ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162429" y="5281212"/>
            <a:ext cx="1798320" cy="1316723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СТРОИТЕЛЬНЫЙ КОНТРОЛЬ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Технический надзор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качества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Контроль сроков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Приемка работ</a:t>
            </a:r>
            <a:r>
              <a:rPr sz="700" b="0" dirty="0">
                <a:solidFill>
                  <a:srgbClr val="2C3E50"/>
                </a:solidFill>
                <a:latin typeface="Arial"/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052189" y="5281213"/>
            <a:ext cx="1798320" cy="1316734"/>
          </a:xfrm>
          <a:prstGeom prst="roundRect">
            <a:avLst>
              <a:gd name="adj" fmla="val 8000"/>
            </a:avLst>
          </a:prstGeom>
          <a:solidFill>
            <a:srgbClr val="EBF5FB"/>
          </a:solidFill>
          <a:ln w="19050">
            <a:solidFill>
              <a:srgbClr val="2E86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1A527A"/>
                </a:solidFill>
                <a:latin typeface="Arial"/>
              </a:rPr>
              <a:t>УПРАВЛЕНИЕ ПРОЕКТОМ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Планирование и бюджет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Управление рисками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Отчетность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Документооборот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39604" y="6643365"/>
            <a:ext cx="246613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D35400"/>
                </a:solidFill>
                <a:latin typeface="Arial"/>
              </a:rPr>
              <a:t>СОГЛАСОВАТЕЛЬНЫЙ КОНТУР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1603389" y="689485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ГРАДОСТРОИТЕЛЬНОЙ ПОЛИТИКИ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АГР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Архитектурно-градостроительный облик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Цифровой двойник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3493149" y="689485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800" b="1" dirty="0">
                <a:solidFill>
                  <a:srgbClr val="D35400"/>
                </a:solidFill>
                <a:latin typeface="Arial"/>
              </a:rPr>
              <a:t>КОМИССИЯ ПО ВОПРОСАМ ГРАДОСТРОИТЕЛЬСТВА, ЗЕМЛЕПОЛЬЗОВАНИЯ И ЗАСТРОЙКИ (</a:t>
            </a:r>
            <a:r>
              <a:rPr sz="800" b="1" dirty="0">
                <a:solidFill>
                  <a:srgbClr val="D35400"/>
                </a:solidFill>
                <a:latin typeface="Arial"/>
              </a:rPr>
              <a:t>ГЗК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)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ПЗЗ / параметры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Ключевые решения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Рассмотрение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5382909" y="689485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ДЕПАРТАМЕНТ КУЛЬТУРНОГО НАСЛЕДИЯ</a:t>
            </a:r>
            <a:r>
              <a:rPr lang="ru-RU" sz="800" b="1" dirty="0">
                <a:solidFill>
                  <a:srgbClr val="D35400"/>
                </a:solidFill>
                <a:latin typeface="Arial"/>
              </a:rPr>
              <a:t> г. МОСКВЫ</a:t>
            </a:r>
            <a:endParaRPr sz="800" b="1" dirty="0">
              <a:solidFill>
                <a:srgbClr val="D3540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Зоны охраны ОКН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Историко-культурная экспертиза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Археология и культурный слой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272669" y="689485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МОСГОСЭКСПЕРТИЗА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Экспертиза проектной документации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Сметная стоимость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Экспертиза достоверности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9162429" y="689485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МОСГОССТРОЙНАДЗОР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РпС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/ начало работ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Контроль строительства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ЗОС и ввод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1052189" y="6894850"/>
            <a:ext cx="1798320" cy="1051560"/>
          </a:xfrm>
          <a:prstGeom prst="roundRect">
            <a:avLst>
              <a:gd name="adj" fmla="val 8000"/>
            </a:avLst>
          </a:prstGeom>
          <a:solidFill>
            <a:srgbClr val="FDE8D0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800" b="1" dirty="0">
                <a:solidFill>
                  <a:srgbClr val="D35400"/>
                </a:solidFill>
                <a:latin typeface="Arial"/>
              </a:rPr>
              <a:t>РЕСУРСНОСНАБЖАЮЩИЕ ОРГАНИЗАЦИИ</a:t>
            </a: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ТУ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Подключение к сетям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Согласование проектов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cxnSp>
        <p:nvCxnSpPr>
          <p:cNvPr id="72" name="Connector 27">
            <a:extLst>
              <a:ext uri="{FF2B5EF4-FFF2-40B4-BE49-F238E27FC236}">
                <a16:creationId xmlns:a16="http://schemas.microsoft.com/office/drawing/2014/main" id="{4AF252C4-37C9-4764-907C-6341A631F428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7132320" y="1275575"/>
            <a:ext cx="365760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31">
            <a:extLst>
              <a:ext uri="{FF2B5EF4-FFF2-40B4-BE49-F238E27FC236}">
                <a16:creationId xmlns:a16="http://schemas.microsoft.com/office/drawing/2014/main" id="{691620A9-99D2-4EF1-B6FA-0C83FDFF1295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4526280" y="1801355"/>
            <a:ext cx="0" cy="20116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31">
            <a:extLst>
              <a:ext uri="{FF2B5EF4-FFF2-40B4-BE49-F238E27FC236}">
                <a16:creationId xmlns:a16="http://schemas.microsoft.com/office/drawing/2014/main" id="{D8FBEB28-CA12-41F7-B53E-C7EC3B8AEEC7}"/>
              </a:ext>
            </a:extLst>
          </p:cNvPr>
          <p:cNvCxnSpPr>
            <a:cxnSpLocks/>
          </p:cNvCxnSpPr>
          <p:nvPr/>
        </p:nvCxnSpPr>
        <p:spPr>
          <a:xfrm>
            <a:off x="4526280" y="1994547"/>
            <a:ext cx="5577840" cy="7976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31">
            <a:extLst>
              <a:ext uri="{FF2B5EF4-FFF2-40B4-BE49-F238E27FC236}">
                <a16:creationId xmlns:a16="http://schemas.microsoft.com/office/drawing/2014/main" id="{6718EC42-431F-4CA8-B64D-A0A1B6AF4210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10104120" y="1801355"/>
            <a:ext cx="0" cy="201168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40FBADE-5DCF-4F74-8A5F-C2592C2E2F40}"/>
              </a:ext>
            </a:extLst>
          </p:cNvPr>
          <p:cNvSpPr txBox="1"/>
          <p:nvPr/>
        </p:nvSpPr>
        <p:spPr>
          <a:xfrm>
            <a:off x="4092629" y="4803960"/>
            <a:ext cx="6445141" cy="3847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100" b="1" dirty="0">
                <a:solidFill>
                  <a:srgbClr val="1A527A"/>
                </a:solidFill>
                <a:latin typeface="Arial"/>
              </a:rPr>
              <a:t>ТЕХНИЧЕСКИЙ ЗАКАЗЧИК</a:t>
            </a:r>
          </a:p>
          <a:p>
            <a:pPr algn="ctr"/>
            <a:r>
              <a:rPr lang="ru-RU" sz="8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800" dirty="0">
                <a:solidFill>
                  <a:srgbClr val="2C3E50"/>
                </a:solidFill>
                <a:latin typeface="Arial"/>
              </a:rPr>
              <a:t>Техническое сопровождение реализации, ИРД, </a:t>
            </a:r>
            <a:r>
              <a:rPr lang="ru-RU" sz="800" dirty="0" err="1">
                <a:solidFill>
                  <a:srgbClr val="2C3E50"/>
                </a:solidFill>
                <a:latin typeface="Arial"/>
              </a:rPr>
              <a:t>стройконтроль</a:t>
            </a:r>
            <a:r>
              <a:rPr lang="ru-RU" sz="800" dirty="0">
                <a:solidFill>
                  <a:srgbClr val="2C3E50"/>
                </a:solidFill>
                <a:latin typeface="Arial"/>
              </a:rPr>
              <a:t>, взаимодействие с надзором</a:t>
            </a:r>
            <a:endParaRPr lang="ru-RU" sz="1100" b="1" dirty="0">
              <a:solidFill>
                <a:srgbClr val="D35400"/>
              </a:solidFill>
              <a:latin typeface="Arial"/>
            </a:endParaRPr>
          </a:p>
        </p:txBody>
      </p:sp>
      <p:sp>
        <p:nvSpPr>
          <p:cNvPr id="92" name="Rounded Rectangle 7">
            <a:extLst>
              <a:ext uri="{FF2B5EF4-FFF2-40B4-BE49-F238E27FC236}">
                <a16:creationId xmlns:a16="http://schemas.microsoft.com/office/drawing/2014/main" id="{0C1FB8B6-5C24-422C-9508-D43E7E0EE87D}"/>
              </a:ext>
            </a:extLst>
          </p:cNvPr>
          <p:cNvSpPr/>
          <p:nvPr/>
        </p:nvSpPr>
        <p:spPr>
          <a:xfrm>
            <a:off x="274319" y="2011679"/>
            <a:ext cx="3521495" cy="259690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endParaRPr sz="700" b="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3" name="Rounded Rectangle 8">
            <a:extLst>
              <a:ext uri="{FF2B5EF4-FFF2-40B4-BE49-F238E27FC236}">
                <a16:creationId xmlns:a16="http://schemas.microsoft.com/office/drawing/2014/main" id="{D6BA4536-F14F-4823-B98C-CEC4FD37AB78}"/>
              </a:ext>
            </a:extLst>
          </p:cNvPr>
          <p:cNvSpPr/>
          <p:nvPr/>
        </p:nvSpPr>
        <p:spPr>
          <a:xfrm>
            <a:off x="401368" y="3546642"/>
            <a:ext cx="1508760" cy="960111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900" b="1" dirty="0">
                <a:solidFill>
                  <a:srgbClr val="2C3E50"/>
                </a:solidFill>
                <a:latin typeface="Arial"/>
              </a:rPr>
              <a:t>Архитектор</a:t>
            </a:r>
            <a:endParaRPr sz="900" b="1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Иностранный архитектор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Авторская идея /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Schematic design</a:t>
            </a:r>
            <a:endParaRPr lang="ru-RU" sz="700" dirty="0">
              <a:solidFill>
                <a:srgbClr val="2C3E50"/>
              </a:solidFill>
              <a:latin typeface="Arial"/>
            </a:endParaRPr>
          </a:p>
        </p:txBody>
      </p:sp>
      <p:sp>
        <p:nvSpPr>
          <p:cNvPr id="94" name="Rounded Rectangle 9">
            <a:extLst>
              <a:ext uri="{FF2B5EF4-FFF2-40B4-BE49-F238E27FC236}">
                <a16:creationId xmlns:a16="http://schemas.microsoft.com/office/drawing/2014/main" id="{1BF1534B-06F4-40D7-B1EF-21825A0CB79E}"/>
              </a:ext>
            </a:extLst>
          </p:cNvPr>
          <p:cNvSpPr/>
          <p:nvPr/>
        </p:nvSpPr>
        <p:spPr>
          <a:xfrm>
            <a:off x="2161060" y="3552246"/>
            <a:ext cx="1508760" cy="96011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endParaRPr lang="ru-RU" sz="900" b="1" dirty="0">
              <a:solidFill>
                <a:srgbClr val="2C3E50"/>
              </a:solidFill>
              <a:latin typeface="Arial"/>
            </a:endParaRPr>
          </a:p>
          <a:p>
            <a:pPr algn="ctr"/>
            <a:r>
              <a:rPr lang="ru-RU" sz="900" b="1" dirty="0">
                <a:solidFill>
                  <a:srgbClr val="2C3E50"/>
                </a:solidFill>
                <a:latin typeface="Arial"/>
              </a:rPr>
              <a:t>Мультимедийный</a:t>
            </a:r>
          </a:p>
          <a:p>
            <a:pPr algn="ctr"/>
            <a:r>
              <a:rPr lang="ru-RU" sz="900" b="1" dirty="0">
                <a:solidFill>
                  <a:srgbClr val="2C3E50"/>
                </a:solidFill>
                <a:latin typeface="Arial"/>
              </a:rPr>
              <a:t>консультант</a:t>
            </a:r>
            <a:endParaRPr sz="900" b="1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Мультимедийная и содержательная концепция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Консультации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Неформальный статус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Дальнейший статус уточняется</a:t>
            </a:r>
          </a:p>
          <a:p>
            <a:pPr algn="ctr"/>
            <a:endParaRPr sz="700" b="0" dirty="0">
              <a:solidFill>
                <a:srgbClr val="5D6D7E"/>
              </a:solidFill>
              <a:latin typeface="Arial"/>
            </a:endParaRPr>
          </a:p>
        </p:txBody>
      </p:sp>
      <p:cxnSp>
        <p:nvCxnSpPr>
          <p:cNvPr id="95" name="Connector 16">
            <a:extLst>
              <a:ext uri="{FF2B5EF4-FFF2-40B4-BE49-F238E27FC236}">
                <a16:creationId xmlns:a16="http://schemas.microsoft.com/office/drawing/2014/main" id="{C2A472F9-7849-4121-87E9-566FEEB8A275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7314450" y="4026831"/>
            <a:ext cx="750" cy="718905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ounded Rectangle 50">
            <a:extLst>
              <a:ext uri="{FF2B5EF4-FFF2-40B4-BE49-F238E27FC236}">
                <a16:creationId xmlns:a16="http://schemas.microsoft.com/office/drawing/2014/main" id="{8AB8F2BC-2044-44E5-A0CB-12BC0407A3F0}"/>
              </a:ext>
            </a:extLst>
          </p:cNvPr>
          <p:cNvSpPr/>
          <p:nvPr/>
        </p:nvSpPr>
        <p:spPr>
          <a:xfrm>
            <a:off x="10833087" y="2609511"/>
            <a:ext cx="3522994" cy="1417320"/>
          </a:xfrm>
          <a:prstGeom prst="roundRect">
            <a:avLst>
              <a:gd name="adj" fmla="val 8000"/>
            </a:avLst>
          </a:prstGeom>
          <a:solidFill>
            <a:srgbClr val="F5EEF8"/>
          </a:solidFill>
          <a:ln w="19050">
            <a:solidFill>
              <a:srgbClr val="6C34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lang="ru-RU" sz="1000" b="1" dirty="0">
                <a:solidFill>
                  <a:srgbClr val="6C348D"/>
                </a:solidFill>
                <a:latin typeface="Arial"/>
              </a:rPr>
              <a:t>«КОМПЛЕКС РАБОТ ПОСЛЕ ЗОС»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Fit-out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 и отделка помещений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 err="1">
                <a:solidFill>
                  <a:srgbClr val="2C3E50"/>
                </a:solidFill>
                <a:latin typeface="Arial"/>
              </a:rPr>
              <a:t>Мебелировка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Мультимедиа, свет, звук, видео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IT-инфраструктура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Сценическое / выставочное оборудование</a:t>
            </a:r>
          </a:p>
          <a:p>
            <a:pPr algn="l"/>
            <a:r>
              <a:rPr lang="ru-RU" sz="700" b="0" dirty="0">
                <a:solidFill>
                  <a:srgbClr val="2C3E50"/>
                </a:solidFill>
                <a:latin typeface="Arial"/>
              </a:rPr>
              <a:t>•  Поставки и монтаж оборудования</a:t>
            </a:r>
          </a:p>
        </p:txBody>
      </p:sp>
      <p:cxnSp>
        <p:nvCxnSpPr>
          <p:cNvPr id="101" name="Connector 27">
            <a:extLst>
              <a:ext uri="{FF2B5EF4-FFF2-40B4-BE49-F238E27FC236}">
                <a16:creationId xmlns:a16="http://schemas.microsoft.com/office/drawing/2014/main" id="{2ABA576F-4E67-466E-B6A7-54D118F2DF32}"/>
              </a:ext>
            </a:extLst>
          </p:cNvPr>
          <p:cNvCxnSpPr>
            <a:cxnSpLocks/>
            <a:stCxn id="92" idx="3"/>
            <a:endCxn id="11" idx="1"/>
          </p:cNvCxnSpPr>
          <p:nvPr/>
        </p:nvCxnSpPr>
        <p:spPr>
          <a:xfrm>
            <a:off x="3795814" y="3310134"/>
            <a:ext cx="1415516" cy="8037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31">
            <a:extLst>
              <a:ext uri="{FF2B5EF4-FFF2-40B4-BE49-F238E27FC236}">
                <a16:creationId xmlns:a16="http://schemas.microsoft.com/office/drawing/2014/main" id="{8169A097-32CB-4F47-826F-32354B784AD6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7314450" y="1994547"/>
            <a:ext cx="750" cy="614964"/>
          </a:xfrm>
          <a:prstGeom prst="line">
            <a:avLst/>
          </a:prstGeom>
          <a:ln w="15875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27">
            <a:extLst>
              <a:ext uri="{FF2B5EF4-FFF2-40B4-BE49-F238E27FC236}">
                <a16:creationId xmlns:a16="http://schemas.microsoft.com/office/drawing/2014/main" id="{54F2573A-E2D3-42EA-9A99-52BBA99569C6}"/>
              </a:ext>
            </a:extLst>
          </p:cNvPr>
          <p:cNvCxnSpPr>
            <a:cxnSpLocks/>
            <a:stCxn id="96" idx="1"/>
            <a:endCxn id="11" idx="3"/>
          </p:cNvCxnSpPr>
          <p:nvPr/>
        </p:nvCxnSpPr>
        <p:spPr>
          <a:xfrm flipH="1">
            <a:off x="9417570" y="3318171"/>
            <a:ext cx="1415517" cy="0"/>
          </a:xfrm>
          <a:prstGeom prst="line">
            <a:avLst/>
          </a:prstGeom>
          <a:ln w="19050">
            <a:solidFill>
              <a:srgbClr val="2E86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2" name="Правая фигурная скобка 991">
            <a:extLst>
              <a:ext uri="{FF2B5EF4-FFF2-40B4-BE49-F238E27FC236}">
                <a16:creationId xmlns:a16="http://schemas.microsoft.com/office/drawing/2014/main" id="{B75DA385-8BA1-467B-BCEA-AA897BB2F052}"/>
              </a:ext>
            </a:extLst>
          </p:cNvPr>
          <p:cNvSpPr/>
          <p:nvPr/>
        </p:nvSpPr>
        <p:spPr>
          <a:xfrm rot="5400000">
            <a:off x="7175020" y="1026302"/>
            <a:ext cx="103856" cy="11247122"/>
          </a:xfrm>
          <a:prstGeom prst="rightBrace">
            <a:avLst>
              <a:gd name="adj1" fmla="val 8333"/>
              <a:gd name="adj2" fmla="val 4999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5" name="Rounded Rectangle 7">
            <a:extLst>
              <a:ext uri="{FF2B5EF4-FFF2-40B4-BE49-F238E27FC236}">
                <a16:creationId xmlns:a16="http://schemas.microsoft.com/office/drawing/2014/main" id="{F985A687-DBD7-497D-B74D-23274E69C554}"/>
              </a:ext>
            </a:extLst>
          </p:cNvPr>
          <p:cNvSpPr/>
          <p:nvPr/>
        </p:nvSpPr>
        <p:spPr>
          <a:xfrm>
            <a:off x="274312" y="2002523"/>
            <a:ext cx="3521495" cy="143414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bIns="36576" rtlCol="0" anchor="ctr"/>
          <a:lstStyle/>
          <a:p>
            <a:pPr algn="ctr"/>
            <a:r>
              <a:rPr sz="1100" b="1" dirty="0">
                <a:solidFill>
                  <a:srgbClr val="2C3E50"/>
                </a:solidFill>
                <a:latin typeface="Arial"/>
              </a:rPr>
              <a:t>КОНЦЕПТУАЛЬНЫЙ КУРАТОР</a:t>
            </a:r>
          </a:p>
          <a:p>
            <a:pPr algn="ctr"/>
            <a:r>
              <a:rPr lang="ru-RU" sz="800" b="0" dirty="0">
                <a:solidFill>
                  <a:srgbClr val="5D6D7E"/>
                </a:solidFill>
                <a:latin typeface="Arial"/>
              </a:rPr>
              <a:t>концептуальный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/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архитектурно</a:t>
            </a:r>
            <a:r>
              <a:rPr lang="ru-RU" sz="800" dirty="0">
                <a:solidFill>
                  <a:srgbClr val="5D6D7E"/>
                </a:solidFill>
                <a:latin typeface="Arial"/>
              </a:rPr>
              <a:t>-стратегический</a:t>
            </a:r>
            <a:r>
              <a:rPr sz="800" b="0" dirty="0">
                <a:solidFill>
                  <a:srgbClr val="5D6D7E"/>
                </a:solidFill>
                <a:latin typeface="Arial"/>
              </a:rPr>
              <a:t> </a:t>
            </a:r>
            <a:r>
              <a:rPr lang="ru-RU" sz="800" b="0" dirty="0">
                <a:solidFill>
                  <a:srgbClr val="5D6D7E"/>
                </a:solidFill>
                <a:latin typeface="Arial"/>
              </a:rPr>
              <a:t>куратор</a:t>
            </a:r>
            <a:endParaRPr sz="800" b="0" dirty="0">
              <a:solidFill>
                <a:srgbClr val="5D6D7E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Архитектурная и содержательная концепция проекта</a:t>
            </a:r>
            <a:endParaRPr sz="700" b="0" dirty="0">
              <a:solidFill>
                <a:srgbClr val="2C3E50"/>
              </a:solidFill>
              <a:latin typeface="Arial"/>
            </a:endParaRPr>
          </a:p>
          <a:p>
            <a:pPr algn="l"/>
            <a:r>
              <a:rPr sz="700" b="0" dirty="0">
                <a:solidFill>
                  <a:srgbClr val="2C3E50"/>
                </a:solidFill>
                <a:latin typeface="Arial"/>
              </a:rPr>
              <a:t>•  </a:t>
            </a:r>
            <a:r>
              <a:rPr lang="ru-RU" sz="700" b="0" dirty="0">
                <a:solidFill>
                  <a:srgbClr val="2C3E50"/>
                </a:solidFill>
                <a:latin typeface="Arial"/>
              </a:rPr>
              <a:t>Куратор иностранного архитектора </a:t>
            </a:r>
            <a:r>
              <a:rPr lang="en-US" sz="700" b="0" dirty="0" err="1">
                <a:solidFill>
                  <a:srgbClr val="2C3E50"/>
                </a:solidFill>
                <a:latin typeface="Arial"/>
              </a:rPr>
              <a:t>Иностранный архитектор</a:t>
            </a:r>
            <a:endParaRPr lang="ru-RU" sz="700" b="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Сопровождение </a:t>
            </a:r>
            <a:r>
              <a:rPr lang="en-US" sz="700" dirty="0" err="1">
                <a:solidFill>
                  <a:srgbClr val="2C3E50"/>
                </a:solidFill>
                <a:latin typeface="Arial"/>
              </a:rPr>
              <a:t>schemic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 design </a:t>
            </a:r>
            <a:r>
              <a:rPr lang="ru-RU" sz="700" dirty="0">
                <a:solidFill>
                  <a:srgbClr val="2C3E50"/>
                </a:solidFill>
                <a:latin typeface="Arial"/>
              </a:rPr>
              <a:t>и сохранение </a:t>
            </a:r>
            <a:r>
              <a:rPr lang="en-US" sz="700" dirty="0">
                <a:solidFill>
                  <a:srgbClr val="2C3E50"/>
                </a:solidFill>
                <a:latin typeface="Arial"/>
              </a:rPr>
              <a:t>design intent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Участие в выборе российского </a:t>
            </a:r>
            <a:r>
              <a:rPr lang="ru-RU" sz="700" dirty="0" err="1">
                <a:solidFill>
                  <a:srgbClr val="2C3E50"/>
                </a:solidFill>
                <a:latin typeface="Arial"/>
              </a:rPr>
              <a:t>генпроектировщика</a:t>
            </a:r>
            <a:endParaRPr lang="ru-RU" sz="700" dirty="0">
              <a:solidFill>
                <a:srgbClr val="2C3E50"/>
              </a:solidFill>
              <a:latin typeface="Arial"/>
            </a:endParaRP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Координация мультимедийного консультанта по мультимедийной концепции</a:t>
            </a:r>
          </a:p>
          <a:p>
            <a:r>
              <a:rPr lang="ru-RU" sz="700" dirty="0">
                <a:solidFill>
                  <a:srgbClr val="2C3E50"/>
                </a:solidFill>
                <a:latin typeface="Arial"/>
              </a:rPr>
              <a:t>•  Презентация Мэру / публичная и коммуникационная рамка</a:t>
            </a:r>
            <a:endParaRPr sz="700" b="0" dirty="0">
              <a:solidFill>
                <a:srgbClr val="2C3E5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496</Words>
  <Application>Microsoft Office PowerPoint</Application>
  <PresentationFormat>Произвольный</PresentationFormat>
  <Paragraphs>111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Гусейнов Али Айдын Оглы</dc:creator>
  <cp:keywords/>
  <dc:description>generated using python-pptx</dc:description>
  <cp:lastModifiedBy>ALI</cp:lastModifiedBy>
  <cp:revision>13</cp:revision>
  <dcterms:created xsi:type="dcterms:W3CDTF">2013-01-27T09:14:16Z</dcterms:created>
  <dcterms:modified xsi:type="dcterms:W3CDTF">2026-08-07T11:47:30Z</dcterms:modified>
  <cp:category/>
</cp:coreProperties>
</file>