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>
            <a:extLst>
              <a:ext uri="{FF2B5EF4-FFF2-40B4-BE49-F238E27FC236}">
                <a16:creationId xmlns:a16="http://schemas.microsoft.com/office/drawing/2014/main" id="{7422F63A-BB5D-4958-92D5-806C1E3BF0F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7562" y="4756830"/>
            <a:ext cx="11811907" cy="33031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5013782" y="143202"/>
            <a:ext cx="4517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  <a:endParaRPr lang="ru-RU" sz="18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  <a:p>
            <a:pPr algn="l"/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0" name="Rounded Rectangle 4">
            <a:extLst>
              <a:ext uri="{FF2B5EF4-FFF2-40B4-BE49-F238E27FC236}">
                <a16:creationId xmlns:a16="http://schemas.microsoft.com/office/drawing/2014/main" id="{E7A1E989-7196-4088-B5A6-E74FB0BB322C}"/>
              </a:ext>
            </a:extLst>
          </p:cNvPr>
          <p:cNvSpPr/>
          <p:nvPr/>
        </p:nvSpPr>
        <p:spPr>
          <a:xfrm>
            <a:off x="243179" y="748989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ИНВЕСТОР / СОБСТВЕННИК / ЗА</a:t>
            </a:r>
            <a:r>
              <a:rPr lang="ru-RU" sz="1200" b="1" dirty="0">
                <a:solidFill>
                  <a:srgbClr val="C0392B"/>
                </a:solidFill>
                <a:latin typeface="Arial"/>
              </a:rPr>
              <a:t>СТРОЙЩИК</a:t>
            </a:r>
            <a:endParaRPr sz="1200" b="1" dirty="0">
              <a:solidFill>
                <a:srgbClr val="C0392B"/>
              </a:solidFill>
              <a:latin typeface="Arial"/>
            </a:endParaRP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8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1" name="Rounded Rectangle 5">
            <a:extLst>
              <a:ext uri="{FF2B5EF4-FFF2-40B4-BE49-F238E27FC236}">
                <a16:creationId xmlns:a16="http://schemas.microsoft.com/office/drawing/2014/main" id="{D2D6BADD-B610-4967-A8F5-830F449B6850}"/>
              </a:ext>
            </a:extLst>
          </p:cNvPr>
          <p:cNvSpPr/>
          <p:nvPr/>
        </p:nvSpPr>
        <p:spPr>
          <a:xfrm>
            <a:off x="5821019" y="748989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  <a:endParaRPr lang="ru-RU" sz="8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8529608" y="1949634"/>
            <a:ext cx="3522994" cy="2599332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 dirty="0">
                <a:solidFill>
                  <a:srgbClr val="6C348D"/>
                </a:solidFill>
                <a:latin typeface="Arial"/>
              </a:rPr>
              <a:t>ОТЕЛКА (</a:t>
            </a:r>
            <a:r>
              <a:rPr lang="ru-RU" sz="12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Дизайн интерьеров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chemeClr val="tx1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42442E71-64A2-4C68-825C-D8E71D0A810A}"/>
              </a:ext>
            </a:extLst>
          </p:cNvPr>
          <p:cNvGrpSpPr/>
          <p:nvPr/>
        </p:nvGrpSpPr>
        <p:grpSpPr>
          <a:xfrm>
            <a:off x="272419" y="1990300"/>
            <a:ext cx="3521495" cy="2596909"/>
            <a:chOff x="899230" y="1930004"/>
            <a:chExt cx="3521495" cy="2596909"/>
          </a:xfrm>
        </p:grpSpPr>
        <p:sp>
          <p:nvSpPr>
            <p:cNvPr id="127" name="Rounded Rectangle 7">
              <a:extLst>
                <a:ext uri="{FF2B5EF4-FFF2-40B4-BE49-F238E27FC236}">
                  <a16:creationId xmlns:a16="http://schemas.microsoft.com/office/drawing/2014/main" id="{1E2854B4-FBC9-4F22-BF16-DE8DC2DC77D2}"/>
                </a:ext>
              </a:extLst>
            </p:cNvPr>
            <p:cNvSpPr/>
            <p:nvPr/>
          </p:nvSpPr>
          <p:spPr>
            <a:xfrm>
              <a:off x="899230" y="1930004"/>
              <a:ext cx="3521495" cy="2596909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ctr"/>
            <a:lstStyle/>
            <a:p>
              <a:pPr algn="ctr"/>
              <a:endParaRPr sz="700" b="0" dirty="0">
                <a:solidFill>
                  <a:srgbClr val="2C3E50"/>
                </a:solidFill>
                <a:latin typeface="Arial"/>
              </a:endParaRPr>
            </a:p>
          </p:txBody>
        </p:sp>
        <p:sp>
          <p:nvSpPr>
            <p:cNvPr id="128" name="Rounded Rectangle 8">
              <a:extLst>
                <a:ext uri="{FF2B5EF4-FFF2-40B4-BE49-F238E27FC236}">
                  <a16:creationId xmlns:a16="http://schemas.microsoft.com/office/drawing/2014/main" id="{9350D1E9-A9DE-4517-B4F4-D120EB891816}"/>
                </a:ext>
              </a:extLst>
            </p:cNvPr>
            <p:cNvSpPr/>
            <p:nvPr/>
          </p:nvSpPr>
          <p:spPr>
            <a:xfrm>
              <a:off x="988729" y="3490160"/>
              <a:ext cx="1508760" cy="960111"/>
            </a:xfrm>
            <a:prstGeom prst="roundRect">
              <a:avLst>
                <a:gd name="adj" fmla="val 8000"/>
              </a:avLst>
            </a:prstGeom>
            <a:solidFill>
              <a:srgbClr val="EAFAF1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t"/>
            <a:lstStyle/>
            <a:p>
              <a:pPr algn="ctr"/>
              <a:r>
                <a:rPr lang="ru-RU" sz="900" b="1" dirty="0">
                  <a:solidFill>
                    <a:srgbClr val="117A65"/>
                  </a:solidFill>
                  <a:latin typeface="Arial"/>
                </a:rPr>
                <a:t>АРХИТЕКТОР</a:t>
              </a:r>
              <a:endParaRPr sz="900" b="1" dirty="0">
                <a:solidFill>
                  <a:srgbClr val="117A65"/>
                </a:solidFill>
                <a:latin typeface="Arial"/>
              </a:endParaRPr>
            </a:p>
            <a:p>
              <a:endParaRPr lang="ru-RU" sz="700" dirty="0">
                <a:solidFill>
                  <a:srgbClr val="2C3E50"/>
                </a:solidFill>
                <a:latin typeface="Arial"/>
              </a:endParaRP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Авторская идея / </a:t>
              </a:r>
              <a:r>
                <a:rPr lang="en-US" sz="700" dirty="0">
                  <a:solidFill>
                    <a:srgbClr val="2C3E50"/>
                  </a:solidFill>
                  <a:latin typeface="Arial"/>
                </a:rPr>
                <a:t>design intent</a:t>
              </a:r>
              <a:endParaRPr lang="ru-RU" sz="700" dirty="0">
                <a:solidFill>
                  <a:srgbClr val="2C3E50"/>
                </a:solidFill>
                <a:latin typeface="Arial"/>
              </a:endParaRP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</a:t>
              </a:r>
              <a:r>
                <a:rPr lang="en-US" sz="700" dirty="0">
                  <a:solidFill>
                    <a:srgbClr val="2C3E50"/>
                  </a:solidFill>
                  <a:latin typeface="Arial"/>
                </a:rPr>
                <a:t>Schematic design</a:t>
              </a:r>
              <a:endParaRPr lang="ru-RU" sz="700" dirty="0">
                <a:solidFill>
                  <a:srgbClr val="2C3E50"/>
                </a:solidFill>
                <a:latin typeface="Arial"/>
              </a:endParaRPr>
            </a:p>
          </p:txBody>
        </p:sp>
        <p:sp>
          <p:nvSpPr>
            <p:cNvPr id="129" name="Rounded Rectangle 9">
              <a:extLst>
                <a:ext uri="{FF2B5EF4-FFF2-40B4-BE49-F238E27FC236}">
                  <a16:creationId xmlns:a16="http://schemas.microsoft.com/office/drawing/2014/main" id="{A954E53B-E67A-4F3C-8D47-DC19FE975699}"/>
                </a:ext>
              </a:extLst>
            </p:cNvPr>
            <p:cNvSpPr/>
            <p:nvPr/>
          </p:nvSpPr>
          <p:spPr>
            <a:xfrm>
              <a:off x="2748421" y="3495764"/>
              <a:ext cx="1508760" cy="960115"/>
            </a:xfrm>
            <a:prstGeom prst="roundRect">
              <a:avLst>
                <a:gd name="adj" fmla="val 8000"/>
              </a:avLst>
            </a:prstGeom>
            <a:solidFill>
              <a:srgbClr val="EAFAF1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t"/>
            <a:lstStyle/>
            <a:p>
              <a:pPr algn="ctr"/>
              <a:r>
                <a:rPr lang="ru-RU" sz="900" b="1" dirty="0">
                  <a:solidFill>
                    <a:srgbClr val="117A65"/>
                  </a:solidFill>
                  <a:latin typeface="Arial"/>
                </a:rPr>
                <a:t>МУЛЬТИМЕДИЙНЫЙ КОНСУЛЬТАНТ</a:t>
              </a:r>
              <a:endParaRPr sz="900" b="1" dirty="0">
                <a:solidFill>
                  <a:srgbClr val="117A65"/>
                </a:solidFill>
                <a:latin typeface="Arial"/>
              </a:endParaRP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Мультимедийная и содержательная концепция</a:t>
              </a: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Консультации</a:t>
              </a:r>
            </a:p>
            <a:p>
              <a:r>
                <a:rPr lang="ru-RU" sz="700" dirty="0">
                  <a:solidFill>
                    <a:srgbClr val="2C3E50"/>
                  </a:solidFill>
                  <a:latin typeface="Arial"/>
                </a:rPr>
                <a:t>•  Дальнейший статус уточняется</a:t>
              </a:r>
            </a:p>
            <a:p>
              <a:pPr algn="ctr"/>
              <a:endParaRPr sz="700" b="0" dirty="0">
                <a:solidFill>
                  <a:srgbClr val="5D6D7E"/>
                </a:solidFill>
                <a:latin typeface="Arial"/>
              </a:endParaRPr>
            </a:p>
          </p:txBody>
        </p:sp>
        <p:sp>
          <p:nvSpPr>
            <p:cNvPr id="130" name="Rounded Rectangle 7">
              <a:extLst>
                <a:ext uri="{FF2B5EF4-FFF2-40B4-BE49-F238E27FC236}">
                  <a16:creationId xmlns:a16="http://schemas.microsoft.com/office/drawing/2014/main" id="{9FD27CFF-E85E-4359-8E13-D265912F2AD7}"/>
                </a:ext>
              </a:extLst>
            </p:cNvPr>
            <p:cNvSpPr/>
            <p:nvPr/>
          </p:nvSpPr>
          <p:spPr>
            <a:xfrm>
              <a:off x="899230" y="1930162"/>
              <a:ext cx="3521495" cy="1434147"/>
            </a:xfrm>
            <a:prstGeom prst="roundRect">
              <a:avLst>
                <a:gd name="adj" fmla="val 8000"/>
              </a:avLst>
            </a:prstGeom>
            <a:solidFill>
              <a:srgbClr val="EAFAF1"/>
            </a:solidFill>
            <a:ln w="19050">
              <a:solidFill>
                <a:srgbClr val="117A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bIns="36576" rtlCol="0" anchor="t"/>
            <a:lstStyle/>
            <a:p>
              <a:pPr algn="ctr"/>
              <a:r>
                <a:rPr sz="1200" b="1" dirty="0">
                  <a:solidFill>
                    <a:srgbClr val="117A65"/>
                  </a:solidFill>
                  <a:latin typeface="Arial"/>
                </a:rPr>
                <a:t>КОНЦЕПТУАЛЬНЫЙ КУРАТОР</a:t>
              </a:r>
            </a:p>
            <a:p>
              <a:pPr algn="l"/>
              <a:endParaRPr lang="ru-RU" sz="700" b="0" dirty="0">
                <a:solidFill>
                  <a:srgbClr val="2C3E50"/>
                </a:solidFill>
                <a:latin typeface="Arial"/>
              </a:endParaRPr>
            </a:p>
            <a:p>
              <a:pPr algn="l"/>
              <a:r>
                <a:rPr sz="900" b="0" dirty="0">
                  <a:solidFill>
                    <a:srgbClr val="2C3E50"/>
                  </a:solidFill>
                  <a:latin typeface="Arial"/>
                </a:rPr>
                <a:t>•  </a:t>
              </a:r>
              <a:r>
                <a:rPr lang="ru-RU" sz="900" b="0" dirty="0">
                  <a:solidFill>
                    <a:srgbClr val="2C3E50"/>
                  </a:solidFill>
                  <a:latin typeface="Arial"/>
                </a:rPr>
                <a:t>Архитектурная и содержательная концепция проекта</a:t>
              </a:r>
              <a:endParaRPr sz="900" b="0" dirty="0">
                <a:solidFill>
                  <a:srgbClr val="2C3E50"/>
                </a:solidFill>
                <a:latin typeface="Arial"/>
              </a:endParaRPr>
            </a:p>
            <a:p>
              <a:pPr algn="l"/>
              <a:r>
                <a:rPr sz="900" b="0" dirty="0">
                  <a:solidFill>
                    <a:srgbClr val="2C3E50"/>
                  </a:solidFill>
                  <a:latin typeface="Arial"/>
                </a:rPr>
                <a:t>•  </a:t>
              </a:r>
              <a:r>
                <a:rPr lang="ru-RU" sz="900" b="0" dirty="0">
                  <a:solidFill>
                    <a:srgbClr val="2C3E50"/>
                  </a:solidFill>
                  <a:latin typeface="Arial"/>
                </a:rPr>
                <a:t>Куратор иностранного архитектора</a:t>
              </a: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Сопровождение </a:t>
              </a:r>
              <a:r>
                <a:rPr lang="en-US" sz="900" dirty="0" err="1">
                  <a:solidFill>
                    <a:srgbClr val="2C3E50"/>
                  </a:solidFill>
                  <a:latin typeface="Arial"/>
                </a:rPr>
                <a:t>schemic</a:t>
              </a:r>
              <a:r>
                <a:rPr lang="en-US" sz="900" dirty="0">
                  <a:solidFill>
                    <a:srgbClr val="2C3E50"/>
                  </a:solidFill>
                  <a:latin typeface="Arial"/>
                </a:rPr>
                <a:t> design </a:t>
              </a:r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и сохранение </a:t>
              </a:r>
              <a:r>
                <a:rPr lang="en-US" sz="900" dirty="0">
                  <a:solidFill>
                    <a:srgbClr val="2C3E50"/>
                  </a:solidFill>
                  <a:latin typeface="Arial"/>
                </a:rPr>
                <a:t>design intent</a:t>
              </a:r>
              <a:endParaRPr lang="ru-RU" sz="900" dirty="0">
                <a:solidFill>
                  <a:srgbClr val="2C3E50"/>
                </a:solidFill>
                <a:latin typeface="Arial"/>
              </a:endParaRP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Участие в выборе российского генпроектировщика</a:t>
              </a: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Координация мультимедийного консультанта по мультимедийной концепции</a:t>
              </a:r>
            </a:p>
            <a:p>
              <a:r>
                <a:rPr lang="ru-RU" sz="900" dirty="0">
                  <a:solidFill>
                    <a:srgbClr val="2C3E50"/>
                  </a:solidFill>
                  <a:latin typeface="Arial"/>
                </a:rPr>
                <a:t>•  Публичная презентация и коммуникационная рамка</a:t>
              </a:r>
              <a:endParaRPr sz="900" b="0" dirty="0">
                <a:solidFill>
                  <a:srgbClr val="2C3E50"/>
                </a:solidFill>
                <a:latin typeface="Arial"/>
              </a:endParaRPr>
            </a:p>
          </p:txBody>
        </p:sp>
      </p:grpSp>
      <p:cxnSp>
        <p:nvCxnSpPr>
          <p:cNvPr id="136" name="Прямая со стрелкой 135">
            <a:extLst>
              <a:ext uri="{FF2B5EF4-FFF2-40B4-BE49-F238E27FC236}">
                <a16:creationId xmlns:a16="http://schemas.microsoft.com/office/drawing/2014/main" id="{95D8B77B-7EDA-479E-83EB-720F93DC3A41}"/>
              </a:ext>
            </a:extLst>
          </p:cNvPr>
          <p:cNvCxnSpPr>
            <a:cxnSpLocks/>
            <a:stCxn id="110" idx="3"/>
            <a:endCxn id="111" idx="1"/>
          </p:cNvCxnSpPr>
          <p:nvPr/>
        </p:nvCxnSpPr>
        <p:spPr>
          <a:xfrm>
            <a:off x="5455259" y="1274769"/>
            <a:ext cx="365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 стрелкой 138">
            <a:extLst>
              <a:ext uri="{FF2B5EF4-FFF2-40B4-BE49-F238E27FC236}">
                <a16:creationId xmlns:a16="http://schemas.microsoft.com/office/drawing/2014/main" id="{BAB3BA96-B8ED-40F6-AB8B-0321595BB129}"/>
              </a:ext>
            </a:extLst>
          </p:cNvPr>
          <p:cNvCxnSpPr>
            <a:cxnSpLocks/>
            <a:stCxn id="130" idx="3"/>
          </p:cNvCxnSpPr>
          <p:nvPr/>
        </p:nvCxnSpPr>
        <p:spPr>
          <a:xfrm flipV="1">
            <a:off x="3793914" y="2707531"/>
            <a:ext cx="14430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Соединитель: уступ 139">
            <a:extLst>
              <a:ext uri="{FF2B5EF4-FFF2-40B4-BE49-F238E27FC236}">
                <a16:creationId xmlns:a16="http://schemas.microsoft.com/office/drawing/2014/main" id="{998747F1-3360-48C8-94A6-A187C2ECA2F4}"/>
              </a:ext>
            </a:extLst>
          </p:cNvPr>
          <p:cNvCxnSpPr>
            <a:cxnSpLocks/>
            <a:stCxn id="130" idx="1"/>
            <a:endCxn id="86" idx="1"/>
          </p:cNvCxnSpPr>
          <p:nvPr/>
        </p:nvCxnSpPr>
        <p:spPr>
          <a:xfrm rot="10800000" flipH="1" flipV="1">
            <a:off x="272418" y="2707531"/>
            <a:ext cx="137007" cy="3215523"/>
          </a:xfrm>
          <a:prstGeom prst="bentConnector3">
            <a:avLst>
              <a:gd name="adj1" fmla="val -10901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Прямая со стрелкой 141">
            <a:extLst>
              <a:ext uri="{FF2B5EF4-FFF2-40B4-BE49-F238E27FC236}">
                <a16:creationId xmlns:a16="http://schemas.microsoft.com/office/drawing/2014/main" id="{DE281C4D-03F9-456C-8239-CB9118A362AD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6172845" y="1800549"/>
            <a:ext cx="0" cy="315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AEC53159-C062-45E6-9C06-8F0D3E8152E6}"/>
              </a:ext>
            </a:extLst>
          </p:cNvPr>
          <p:cNvCxnSpPr>
            <a:cxnSpLocks/>
          </p:cNvCxnSpPr>
          <p:nvPr/>
        </p:nvCxnSpPr>
        <p:spPr>
          <a:xfrm>
            <a:off x="6184674" y="3974758"/>
            <a:ext cx="1" cy="782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>
            <a:extLst>
              <a:ext uri="{FF2B5EF4-FFF2-40B4-BE49-F238E27FC236}">
                <a16:creationId xmlns:a16="http://schemas.microsoft.com/office/drawing/2014/main" id="{1B2D457A-3584-4B5E-8D02-720439E9D558}"/>
              </a:ext>
            </a:extLst>
          </p:cNvPr>
          <p:cNvCxnSpPr>
            <a:cxnSpLocks/>
          </p:cNvCxnSpPr>
          <p:nvPr/>
        </p:nvCxnSpPr>
        <p:spPr>
          <a:xfrm>
            <a:off x="6434924" y="3383222"/>
            <a:ext cx="1441524" cy="15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4069725" y="2115958"/>
            <a:ext cx="4206240" cy="1868416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технического заказчика, генпроектировщика,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982" name="Прямая со стрелкой 981">
            <a:extLst>
              <a:ext uri="{FF2B5EF4-FFF2-40B4-BE49-F238E27FC236}">
                <a16:creationId xmlns:a16="http://schemas.microsoft.com/office/drawing/2014/main" id="{95CBD10F-ED01-4A38-B07C-02FC9EBEB9D8}"/>
              </a:ext>
            </a:extLst>
          </p:cNvPr>
          <p:cNvCxnSpPr>
            <a:cxnSpLocks/>
            <a:endCxn id="129" idx="0"/>
          </p:cNvCxnSpPr>
          <p:nvPr/>
        </p:nvCxnSpPr>
        <p:spPr>
          <a:xfrm>
            <a:off x="2874076" y="3424605"/>
            <a:ext cx="1914" cy="13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Прямая со стрелкой 170">
            <a:extLst>
              <a:ext uri="{FF2B5EF4-FFF2-40B4-BE49-F238E27FC236}">
                <a16:creationId xmlns:a16="http://schemas.microsoft.com/office/drawing/2014/main" id="{80C1FA09-9C54-4023-A607-12EFC9F07B28}"/>
              </a:ext>
            </a:extLst>
          </p:cNvPr>
          <p:cNvCxnSpPr>
            <a:cxnSpLocks/>
            <a:endCxn id="128" idx="0"/>
          </p:cNvCxnSpPr>
          <p:nvPr/>
        </p:nvCxnSpPr>
        <p:spPr>
          <a:xfrm>
            <a:off x="1116298" y="3421336"/>
            <a:ext cx="0" cy="129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250226" y="748989"/>
            <a:ext cx="2139479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250226" y="2625947"/>
            <a:ext cx="2139479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250226" y="4507079"/>
            <a:ext cx="2139479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250226" y="6368340"/>
            <a:ext cx="2139479" cy="1691639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A419B8-D43B-4124-8439-06B96590F57F}"/>
              </a:ext>
            </a:extLst>
          </p:cNvPr>
          <p:cNvSpPr txBox="1"/>
          <p:nvPr/>
        </p:nvSpPr>
        <p:spPr>
          <a:xfrm>
            <a:off x="2611494" y="4803008"/>
            <a:ext cx="709308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rgbClr val="7D6608"/>
                </a:solidFill>
                <a:latin typeface="Arial"/>
              </a:rPr>
              <a:t>ТЕХНИЧЕСКИЙ ЗАКАЗЧИК</a:t>
            </a:r>
            <a:endParaRPr lang="ru-RU" sz="1200" b="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900" b="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, взаимодействие с надзором,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ЗОС, Акт ввода </a:t>
            </a: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628273" y="692270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479998" y="692270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4331722" y="692270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6183446" y="692270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8035170" y="692270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9886894" y="692270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5004465" y="6627635"/>
            <a:ext cx="24352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2875176" y="5264695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322943" y="5264707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7706617" y="5264695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10090292" y="5264707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409426" y="5264688"/>
            <a:ext cx="1816303" cy="131673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cxnSp>
        <p:nvCxnSpPr>
          <p:cNvPr id="187" name="Соединитель: уступ 186">
            <a:extLst>
              <a:ext uri="{FF2B5EF4-FFF2-40B4-BE49-F238E27FC236}">
                <a16:creationId xmlns:a16="http://schemas.microsoft.com/office/drawing/2014/main" id="{E1A9883B-1B87-4BC0-8D4E-9A2E7EE9A9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87797" y="4605165"/>
            <a:ext cx="757608" cy="561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Соединитель: уступ 973">
            <a:extLst>
              <a:ext uri="{FF2B5EF4-FFF2-40B4-BE49-F238E27FC236}">
                <a16:creationId xmlns:a16="http://schemas.microsoft.com/office/drawing/2014/main" id="{6370241F-F829-44D6-A409-8721B6D1FA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22086" y="4035015"/>
            <a:ext cx="2301505" cy="157844"/>
          </a:xfrm>
          <a:prstGeom prst="bentConnector3">
            <a:avLst>
              <a:gd name="adj1" fmla="val -7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>
            <a:extLst>
              <a:ext uri="{FF2B5EF4-FFF2-40B4-BE49-F238E27FC236}">
                <a16:creationId xmlns:a16="http://schemas.microsoft.com/office/drawing/2014/main" id="{DCEEEB6D-6191-44AB-83A3-C98340CA5C32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1116298" y="4510567"/>
            <a:ext cx="0" cy="754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Соединитель: уступ 987">
            <a:extLst>
              <a:ext uri="{FF2B5EF4-FFF2-40B4-BE49-F238E27FC236}">
                <a16:creationId xmlns:a16="http://schemas.microsoft.com/office/drawing/2014/main" id="{26F61A52-F130-47E3-8E42-D59454ECE7E4}"/>
              </a:ext>
            </a:extLst>
          </p:cNvPr>
          <p:cNvCxnSpPr>
            <a:cxnSpLocks/>
          </p:cNvCxnSpPr>
          <p:nvPr/>
        </p:nvCxnSpPr>
        <p:spPr>
          <a:xfrm rot="5400000">
            <a:off x="1870038" y="4648843"/>
            <a:ext cx="754121" cy="4775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610FBCF-372A-4B62-AD5C-96F88A89561C}"/>
              </a:ext>
            </a:extLst>
          </p:cNvPr>
          <p:cNvCxnSpPr>
            <a:cxnSpLocks/>
            <a:stCxn id="110" idx="2"/>
          </p:cNvCxnSpPr>
          <p:nvPr/>
        </p:nvCxnSpPr>
        <p:spPr>
          <a:xfrm>
            <a:off x="2849219" y="1800549"/>
            <a:ext cx="0" cy="1899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BCCB052D-AEAF-45E4-A1CF-08B6F48C37A3}"/>
              </a:ext>
            </a:extLst>
          </p:cNvPr>
          <p:cNvCxnSpPr>
            <a:stCxn id="111" idx="2"/>
            <a:endCxn id="101" idx="3"/>
          </p:cNvCxnSpPr>
          <p:nvPr/>
        </p:nvCxnSpPr>
        <p:spPr>
          <a:xfrm rot="5400000">
            <a:off x="7726704" y="2349810"/>
            <a:ext cx="1249617" cy="151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3FC9E876-DED5-48FB-9D99-EFBDB75B83A7}"/>
              </a:ext>
            </a:extLst>
          </p:cNvPr>
          <p:cNvCxnSpPr>
            <a:cxnSpLocks/>
            <a:endCxn id="124" idx="1"/>
          </p:cNvCxnSpPr>
          <p:nvPr/>
        </p:nvCxnSpPr>
        <p:spPr>
          <a:xfrm>
            <a:off x="8275965" y="3249300"/>
            <a:ext cx="2536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575</Words>
  <Application>Microsoft Office PowerPoint</Application>
  <PresentationFormat>Произвольный</PresentationFormat>
  <Paragraphs>139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61</cp:revision>
  <cp:lastPrinted>2026-08-07T13:33:23Z</cp:lastPrinted>
  <dcterms:created xsi:type="dcterms:W3CDTF">2013-01-27T09:14:16Z</dcterms:created>
  <dcterms:modified xsi:type="dcterms:W3CDTF">2026-08-10T10:10:45Z</dcterms:modified>
  <cp:category/>
</cp:coreProperties>
</file>