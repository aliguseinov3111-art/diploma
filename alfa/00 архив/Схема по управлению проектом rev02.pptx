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0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7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8580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ИНВЕСТОР / СОБСТВЕННИК / ЗАКАЗЧИК</a:t>
            </a: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52160" y="68580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концептуальный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архитектурно</a:t>
            </a:r>
            <a:r>
              <a:rPr lang="ru-RU" sz="800" dirty="0">
                <a:solidFill>
                  <a:srgbClr val="5D6D7E"/>
                </a:solidFill>
                <a:latin typeface="Arial"/>
              </a:rPr>
              <a:t>-стратегический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куратор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Архитектурная и содержательная концепция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Куратор иностранного архитектора </a:t>
            </a:r>
            <a:r>
              <a:rPr lang="en-US" sz="700" b="0" dirty="0" err="1">
                <a:solidFill>
                  <a:srgbClr val="2C3E50"/>
                </a:solidFill>
                <a:latin typeface="Arial"/>
              </a:rPr>
              <a:t>Иностранный архитектор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Сопровождение 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schemic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design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и сохранение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Участие в выборе российского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мультимедийного консультанта по мультимедийной концепции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Презентация Мэру / публичная и коммуникационная рамка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" y="3538727"/>
            <a:ext cx="1508760" cy="96011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900" b="1" dirty="0">
                <a:solidFill>
                  <a:srgbClr val="2C3E50"/>
                </a:solidFill>
                <a:latin typeface="Arial"/>
              </a:rPr>
              <a:t>А</a:t>
            </a:r>
            <a:r>
              <a:rPr sz="900" b="1" dirty="0" err="1">
                <a:solidFill>
                  <a:srgbClr val="2C3E50"/>
                </a:solidFill>
                <a:latin typeface="Arial"/>
              </a:rPr>
              <a:t>рхитектор</a:t>
            </a:r>
            <a:endParaRPr sz="900" b="1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Иностранный архитектор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Авторская идея /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Schematic design</a:t>
            </a:r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20240" y="3538727"/>
            <a:ext cx="1508760" cy="9601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endParaRPr lang="ru-RU" sz="9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sz="900" b="1" dirty="0" err="1">
                <a:solidFill>
                  <a:srgbClr val="2C3E50"/>
                </a:solidFill>
                <a:latin typeface="Arial"/>
              </a:rPr>
              <a:t>Мультимедийный</a:t>
            </a:r>
            <a:r>
              <a:rPr sz="900" b="1" dirty="0">
                <a:solidFill>
                  <a:srgbClr val="2C3E50"/>
                </a:solidFill>
                <a:latin typeface="Arial"/>
              </a:rPr>
              <a:t>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Мультимедийная и содержательная концепция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Неформальный статус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Дальнейший статус уточняется</a:t>
            </a:r>
          </a:p>
          <a:p>
            <a:pPr algn="ctr"/>
            <a:endParaRPr sz="700" b="0" dirty="0">
              <a:solidFill>
                <a:srgbClr val="5D6D7E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86200" y="2011680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управляющая компания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fee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-девелопер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Градостроительный аудит и разрешительная стратегия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тендеров и закупочных процедур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технического заказчика,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,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Организация строительства, ЗОС, разрешение на ввод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86200" y="3538727"/>
            <a:ext cx="4206240" cy="9601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1A527A"/>
                </a:solidFill>
                <a:latin typeface="Arial"/>
              </a:rPr>
              <a:t>ТЕХНИЧЕСКИЙ ЗАКАЗЧИК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стройконтроль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, взаимодействие с надзором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17" name="Connector 16"/>
          <p:cNvCxnSpPr>
            <a:cxnSpLocks/>
            <a:stCxn id="11" idx="2"/>
            <a:endCxn id="12" idx="0"/>
          </p:cNvCxnSpPr>
          <p:nvPr/>
        </p:nvCxnSpPr>
        <p:spPr>
          <a:xfrm>
            <a:off x="5989320" y="3429000"/>
            <a:ext cx="0" cy="109727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74520" y="1938528"/>
            <a:ext cx="1005840" cy="0"/>
          </a:xfrm>
          <a:prstGeom prst="line">
            <a:avLst/>
          </a:prstGeom>
          <a:ln w="19050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74520" y="1938528"/>
            <a:ext cx="0" cy="73152"/>
          </a:xfrm>
          <a:prstGeom prst="line">
            <a:avLst/>
          </a:prstGeom>
          <a:ln w="19050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4320" y="4864612"/>
            <a:ext cx="1798320" cy="131673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ГЕНПРОЕКТИРОВЩИК РФ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Проектная 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Адаптация решений А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рхитектор</a:t>
            </a:r>
            <a:r>
              <a:rPr lang="ru-RU" sz="700">
                <a:solidFill>
                  <a:srgbClr val="2C3E50"/>
                </a:solidFill>
                <a:latin typeface="Arial"/>
              </a:rPr>
              <a:t>а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 /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64080" y="4864612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Геотехнический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Транспортный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Фасадный консультант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Сметный консультант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3840" y="4864612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ИНЖЕНЕРИЯ И РЕСУРСЫ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Вынос / отключение сетей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системы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Пожарная безопасность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0" y="4864613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ГЕНПОДРЯДЧИК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833360" y="4864612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СТРОИТЕЛЬНЫЙ КОНТРОЛЬ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3120" y="4864613"/>
            <a:ext cx="1798320" cy="131673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УПРАВЛЕНИЕ ПРОЕКТОМ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Планирование и бюджет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Управление рисками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Документооборот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5989320" y="4498851"/>
            <a:ext cx="0" cy="201168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73480" y="4700021"/>
            <a:ext cx="944880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7348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5300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4276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3252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62228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T5"/>
          <p:cNvCxnSpPr>
            <a:cxnSpLocks/>
            <a:stCxn id="10" idx="2"/>
          </p:cNvCxnSpPr>
          <p:nvPr/>
        </p:nvCxnSpPr>
        <p:spPr>
          <a:xfrm>
            <a:off x="2674620" y="4498842"/>
            <a:ext cx="0" cy="201179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T6"/>
          <p:cNvCxnSpPr>
            <a:cxnSpLocks/>
          </p:cNvCxnSpPr>
          <p:nvPr/>
        </p:nvCxnSpPr>
        <p:spPr>
          <a:xfrm>
            <a:off x="1173480" y="4700021"/>
            <a:ext cx="1889760" cy="0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T7"/>
          <p:cNvCxnSpPr>
            <a:cxnSpLocks/>
            <a:endCxn id="22" idx="0"/>
          </p:cNvCxnSpPr>
          <p:nvPr/>
        </p:nvCxnSpPr>
        <p:spPr>
          <a:xfrm>
            <a:off x="1173480" y="4700021"/>
            <a:ext cx="0" cy="164591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T8"/>
          <p:cNvCxnSpPr>
            <a:cxnSpLocks/>
            <a:endCxn id="23" idx="0"/>
          </p:cNvCxnSpPr>
          <p:nvPr/>
        </p:nvCxnSpPr>
        <p:spPr>
          <a:xfrm>
            <a:off x="3063240" y="4700021"/>
            <a:ext cx="0" cy="164591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6236208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 (г.</a:t>
            </a:r>
            <a:r>
              <a:rPr lang="ru-RU" sz="1100" b="1" dirty="0">
                <a:solidFill>
                  <a:srgbClr val="D35400"/>
                </a:solidFill>
                <a:latin typeface="Arial"/>
              </a:rPr>
              <a:t> Москва</a:t>
            </a:r>
            <a:r>
              <a:rPr sz="1100" b="1" dirty="0">
                <a:solidFill>
                  <a:srgbClr val="D35400"/>
                </a:solidFill>
                <a:latin typeface="Arial"/>
              </a:rPr>
              <a:t>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17348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16408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ПЗЗ / параметры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306324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05384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495300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94360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Экспертиза 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стоимость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Экспертиза достоверности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684276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83336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/ начало работ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873252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72312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1062228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1612880" y="6858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1612880" y="25146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</a:t>
            </a:r>
            <a:r>
              <a:rPr lang="en-US" sz="700" b="0" dirty="0" err="1">
                <a:solidFill>
                  <a:srgbClr val="2C3E50"/>
                </a:solidFill>
                <a:latin typeface="Arial"/>
              </a:rPr>
              <a:t>рхитектор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техническая реализация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612880" y="43434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612880" y="617220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55" name="Connector 35">
            <a:extLst>
              <a:ext uri="{FF2B5EF4-FFF2-40B4-BE49-F238E27FC236}">
                <a16:creationId xmlns:a16="http://schemas.microsoft.com/office/drawing/2014/main" id="{AADADB19-1AC3-4D3A-970B-138F0C8CC3C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28700" y="4498838"/>
            <a:ext cx="0" cy="365775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T1"/>
          <p:cNvCxnSpPr>
            <a:cxnSpLocks/>
            <a:stCxn id="8" idx="2"/>
          </p:cNvCxnSpPr>
          <p:nvPr/>
        </p:nvCxnSpPr>
        <p:spPr>
          <a:xfrm>
            <a:off x="1874520" y="3429000"/>
            <a:ext cx="0" cy="54864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T2"/>
          <p:cNvCxnSpPr/>
          <p:nvPr/>
        </p:nvCxnSpPr>
        <p:spPr>
          <a:xfrm>
            <a:off x="1028700" y="3483864"/>
            <a:ext cx="1645920" cy="0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T3"/>
          <p:cNvCxnSpPr>
            <a:cxnSpLocks/>
            <a:endCxn id="9" idx="0"/>
          </p:cNvCxnSpPr>
          <p:nvPr/>
        </p:nvCxnSpPr>
        <p:spPr>
          <a:xfrm>
            <a:off x="1028700" y="3483864"/>
            <a:ext cx="0" cy="54863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T4"/>
          <p:cNvCxnSpPr>
            <a:cxnSpLocks/>
            <a:endCxn id="10" idx="0"/>
          </p:cNvCxnSpPr>
          <p:nvPr/>
        </p:nvCxnSpPr>
        <p:spPr>
          <a:xfrm>
            <a:off x="2674620" y="3483864"/>
            <a:ext cx="0" cy="54863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7">
            <a:extLst>
              <a:ext uri="{FF2B5EF4-FFF2-40B4-BE49-F238E27FC236}">
                <a16:creationId xmlns:a16="http://schemas.microsoft.com/office/drawing/2014/main" id="{70236959-CADB-4C83-B307-52119078CA0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3474720" y="2720340"/>
            <a:ext cx="41148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4AF252C4-37C9-4764-907C-6341A631F428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5486400" y="1211580"/>
            <a:ext cx="36576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31">
            <a:extLst>
              <a:ext uri="{FF2B5EF4-FFF2-40B4-BE49-F238E27FC236}">
                <a16:creationId xmlns:a16="http://schemas.microsoft.com/office/drawing/2014/main" id="{691620A9-99D2-4EF1-B6FA-0C83FDFF129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80360" y="1737360"/>
            <a:ext cx="0" cy="20116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31">
            <a:extLst>
              <a:ext uri="{FF2B5EF4-FFF2-40B4-BE49-F238E27FC236}">
                <a16:creationId xmlns:a16="http://schemas.microsoft.com/office/drawing/2014/main" id="{D8FBEB28-CA12-41F7-B53E-C7EC3B8AEEC7}"/>
              </a:ext>
            </a:extLst>
          </p:cNvPr>
          <p:cNvCxnSpPr>
            <a:cxnSpLocks/>
          </p:cNvCxnSpPr>
          <p:nvPr/>
        </p:nvCxnSpPr>
        <p:spPr>
          <a:xfrm>
            <a:off x="2880360" y="1938528"/>
            <a:ext cx="5577840" cy="0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31">
            <a:extLst>
              <a:ext uri="{FF2B5EF4-FFF2-40B4-BE49-F238E27FC236}">
                <a16:creationId xmlns:a16="http://schemas.microsoft.com/office/drawing/2014/main" id="{6718EC42-431F-4CA8-B64D-A0A1B6AF421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458200" y="1737360"/>
            <a:ext cx="0" cy="20116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31">
            <a:extLst>
              <a:ext uri="{FF2B5EF4-FFF2-40B4-BE49-F238E27FC236}">
                <a16:creationId xmlns:a16="http://schemas.microsoft.com/office/drawing/2014/main" id="{218DC13B-EC73-48B9-AEB7-E9BA4587BF1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989320" y="1938528"/>
            <a:ext cx="0" cy="7315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584</Words>
  <Application>Microsoft Office PowerPoint</Application>
  <PresentationFormat>Произвольный</PresentationFormat>
  <Paragraphs>128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12</cp:revision>
  <dcterms:created xsi:type="dcterms:W3CDTF">2013-01-27T09:14:16Z</dcterms:created>
  <dcterms:modified xsi:type="dcterms:W3CDTF">2026-08-03T12:49:02Z</dcterms:modified>
  <cp:category/>
</cp:coreProperties>
</file>