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19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13782" y="143202"/>
            <a:ext cx="4517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  <a:endParaRPr lang="ru-RU" sz="18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  <a:p>
            <a:pPr algn="l"/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2024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8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  <a:endParaRPr lang="ru-RU" sz="8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11330" y="2002523"/>
            <a:ext cx="4206240" cy="2596908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04160" y="5040963"/>
            <a:ext cx="11595083" cy="306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52876" y="5167498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2636" y="5167498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2396" y="5167499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522156" y="5167498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411916" y="5167499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УПРАВЛЕНИЕ ПРОЕКТОМ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6311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85287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4263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63239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052215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241191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7132320" y="1275575"/>
            <a:ext cx="365760" cy="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Rounded Rectangle 7">
            <a:extLst>
              <a:ext uri="{FF2B5EF4-FFF2-40B4-BE49-F238E27FC236}">
                <a16:creationId xmlns:a16="http://schemas.microsoft.com/office/drawing/2014/main" id="{0C1FB8B6-5C24-422C-9508-D43E7E0EE87D}"/>
              </a:ext>
            </a:extLst>
          </p:cNvPr>
          <p:cNvSpPr/>
          <p:nvPr/>
        </p:nvSpPr>
        <p:spPr>
          <a:xfrm>
            <a:off x="274319" y="2011679"/>
            <a:ext cx="3521495" cy="25969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D6BA4536-F14F-4823-B98C-CEC4FD37AB78}"/>
              </a:ext>
            </a:extLst>
          </p:cNvPr>
          <p:cNvSpPr/>
          <p:nvPr/>
        </p:nvSpPr>
        <p:spPr>
          <a:xfrm>
            <a:off x="401368" y="3546642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117A65"/>
                </a:solidFill>
                <a:latin typeface="Arial"/>
              </a:rPr>
              <a:t>АРХИТЕКТОР</a:t>
            </a:r>
            <a:endParaRPr sz="900" b="1" dirty="0">
              <a:solidFill>
                <a:srgbClr val="117A65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4" name="Rounded Rectangle 9">
            <a:extLst>
              <a:ext uri="{FF2B5EF4-FFF2-40B4-BE49-F238E27FC236}">
                <a16:creationId xmlns:a16="http://schemas.microsoft.com/office/drawing/2014/main" id="{1BF1534B-06F4-40D7-B1EF-21825A0CB79E}"/>
              </a:ext>
            </a:extLst>
          </p:cNvPr>
          <p:cNvSpPr/>
          <p:nvPr/>
        </p:nvSpPr>
        <p:spPr>
          <a:xfrm>
            <a:off x="2161060" y="3552246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117A65"/>
                </a:solidFill>
                <a:latin typeface="Arial"/>
              </a:rPr>
              <a:t>МУЛЬТИМЕДИЙНЫЙ КОНСУЛЬТАНТ</a:t>
            </a:r>
            <a:endParaRPr sz="900" b="1" dirty="0">
              <a:solidFill>
                <a:srgbClr val="117A65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8AB8F2BC-2044-44E5-A0CB-12BC0407A3F0}"/>
              </a:ext>
            </a:extLst>
          </p:cNvPr>
          <p:cNvSpPr/>
          <p:nvPr/>
        </p:nvSpPr>
        <p:spPr>
          <a:xfrm>
            <a:off x="10833087" y="2010365"/>
            <a:ext cx="3522994" cy="2589066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6C348D"/>
                </a:solidFill>
                <a:latin typeface="Arial"/>
              </a:rPr>
              <a:t>КОМПЛЕКС МЕРОПРИЯТИЙ ПОСЛЕ ЗОС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900" b="0" dirty="0">
                <a:solidFill>
                  <a:srgbClr val="2C3E50"/>
                </a:solidFill>
                <a:latin typeface="Arial"/>
              </a:rPr>
              <a:t>Fit-Out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 отделка помещений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Мебелировка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Мультимедиа, свет, звук, видео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IT-инфраструктура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Сценическое / выставочное оборудование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Поставки и монтаж оборудования</a:t>
            </a:r>
            <a:endParaRPr lang="ru-RU" sz="8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101" name="Connector 27">
            <a:extLst>
              <a:ext uri="{FF2B5EF4-FFF2-40B4-BE49-F238E27FC236}">
                <a16:creationId xmlns:a16="http://schemas.microsoft.com/office/drawing/2014/main" id="{2ABA576F-4E67-466E-B6A7-54D118F2DF32}"/>
              </a:ext>
            </a:extLst>
          </p:cNvPr>
          <p:cNvCxnSpPr>
            <a:cxnSpLocks/>
            <a:stCxn id="92" idx="3"/>
            <a:endCxn id="11" idx="1"/>
          </p:cNvCxnSpPr>
          <p:nvPr/>
        </p:nvCxnSpPr>
        <p:spPr>
          <a:xfrm flipV="1">
            <a:off x="3795814" y="3300977"/>
            <a:ext cx="1415516" cy="915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31">
            <a:extLst>
              <a:ext uri="{FF2B5EF4-FFF2-40B4-BE49-F238E27FC236}">
                <a16:creationId xmlns:a16="http://schemas.microsoft.com/office/drawing/2014/main" id="{8169A097-32CB-4F47-826F-32354B784AD6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7314450" y="2002523"/>
            <a:ext cx="740" cy="10573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27">
            <a:extLst>
              <a:ext uri="{FF2B5EF4-FFF2-40B4-BE49-F238E27FC236}">
                <a16:creationId xmlns:a16="http://schemas.microsoft.com/office/drawing/2014/main" id="{54F2573A-E2D3-42EA-9A99-52BBA99569C6}"/>
              </a:ext>
            </a:extLst>
          </p:cNvPr>
          <p:cNvCxnSpPr>
            <a:cxnSpLocks/>
            <a:stCxn id="96" idx="1"/>
            <a:endCxn id="11" idx="3"/>
          </p:cNvCxnSpPr>
          <p:nvPr/>
        </p:nvCxnSpPr>
        <p:spPr>
          <a:xfrm flipH="1" flipV="1">
            <a:off x="9417570" y="3300977"/>
            <a:ext cx="1415517" cy="3921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Правая фигурная скобка 991">
            <a:extLst>
              <a:ext uri="{FF2B5EF4-FFF2-40B4-BE49-F238E27FC236}">
                <a16:creationId xmlns:a16="http://schemas.microsoft.com/office/drawing/2014/main" id="{B75DA385-8BA1-467B-BCEA-AA897BB2F052}"/>
              </a:ext>
            </a:extLst>
          </p:cNvPr>
          <p:cNvSpPr/>
          <p:nvPr/>
        </p:nvSpPr>
        <p:spPr>
          <a:xfrm rot="5400000">
            <a:off x="8432431" y="1083816"/>
            <a:ext cx="308490" cy="11247120"/>
          </a:xfrm>
          <a:prstGeom prst="rightBrace">
            <a:avLst>
              <a:gd name="adj1" fmla="val 8333"/>
              <a:gd name="adj2" fmla="val 49982"/>
            </a:avLst>
          </a:prstGeom>
          <a:ln w="1905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5" name="Rounded Rectangle 7">
            <a:extLst>
              <a:ext uri="{FF2B5EF4-FFF2-40B4-BE49-F238E27FC236}">
                <a16:creationId xmlns:a16="http://schemas.microsoft.com/office/drawing/2014/main" id="{F985A687-DBD7-497D-B74D-23274E69C554}"/>
              </a:ext>
            </a:extLst>
          </p:cNvPr>
          <p:cNvSpPr/>
          <p:nvPr/>
        </p:nvSpPr>
        <p:spPr>
          <a:xfrm>
            <a:off x="274312" y="2002523"/>
            <a:ext cx="3521495" cy="1434147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17A65"/>
                </a:solidFill>
                <a:latin typeface="Arial"/>
              </a:rPr>
              <a:t>КОНЦЕПТУАЛЬНЫЙ КУРАТОР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Куратор иностранного архитектора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9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9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9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9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6" name="Connector 31">
            <a:extLst>
              <a:ext uri="{FF2B5EF4-FFF2-40B4-BE49-F238E27FC236}">
                <a16:creationId xmlns:a16="http://schemas.microsoft.com/office/drawing/2014/main" id="{3A56A0D2-B949-48E2-B556-C8943E67CF01}"/>
              </a:ext>
            </a:extLst>
          </p:cNvPr>
          <p:cNvCxnSpPr>
            <a:cxnSpLocks/>
          </p:cNvCxnSpPr>
          <p:nvPr/>
        </p:nvCxnSpPr>
        <p:spPr>
          <a:xfrm>
            <a:off x="4526280" y="1801355"/>
            <a:ext cx="0" cy="9731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31">
            <a:extLst>
              <a:ext uri="{FF2B5EF4-FFF2-40B4-BE49-F238E27FC236}">
                <a16:creationId xmlns:a16="http://schemas.microsoft.com/office/drawing/2014/main" id="{ACD6F08C-FF44-4154-AC63-7BE96AB27C9A}"/>
              </a:ext>
            </a:extLst>
          </p:cNvPr>
          <p:cNvCxnSpPr>
            <a:cxnSpLocks/>
          </p:cNvCxnSpPr>
          <p:nvPr/>
        </p:nvCxnSpPr>
        <p:spPr>
          <a:xfrm flipV="1">
            <a:off x="4526280" y="1889532"/>
            <a:ext cx="5577840" cy="219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31">
            <a:extLst>
              <a:ext uri="{FF2B5EF4-FFF2-40B4-BE49-F238E27FC236}">
                <a16:creationId xmlns:a16="http://schemas.microsoft.com/office/drawing/2014/main" id="{EB002CA0-7403-4597-A1D9-D1950F12C0FC}"/>
              </a:ext>
            </a:extLst>
          </p:cNvPr>
          <p:cNvCxnSpPr>
            <a:cxnSpLocks/>
          </p:cNvCxnSpPr>
          <p:nvPr/>
        </p:nvCxnSpPr>
        <p:spPr>
          <a:xfrm>
            <a:off x="10104120" y="1801355"/>
            <a:ext cx="0" cy="9731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1">
            <a:extLst>
              <a:ext uri="{FF2B5EF4-FFF2-40B4-BE49-F238E27FC236}">
                <a16:creationId xmlns:a16="http://schemas.microsoft.com/office/drawing/2014/main" id="{69928949-4CAA-40EA-B14A-63D82D2825E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14450" y="1891723"/>
            <a:ext cx="750" cy="110800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514DE84-CB28-4BDC-A937-3E6E9C076F92}"/>
              </a:ext>
            </a:extLst>
          </p:cNvPr>
          <p:cNvSpPr txBox="1"/>
          <p:nvPr/>
        </p:nvSpPr>
        <p:spPr>
          <a:xfrm>
            <a:off x="6964945" y="7828195"/>
            <a:ext cx="2466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103" name="Rounded Rectangle 21">
            <a:extLst>
              <a:ext uri="{FF2B5EF4-FFF2-40B4-BE49-F238E27FC236}">
                <a16:creationId xmlns:a16="http://schemas.microsoft.com/office/drawing/2014/main" id="{9A04EEF2-3C8C-4ACF-8056-2AA2C39EE074}"/>
              </a:ext>
            </a:extLst>
          </p:cNvPr>
          <p:cNvSpPr/>
          <p:nvPr/>
        </p:nvSpPr>
        <p:spPr>
          <a:xfrm>
            <a:off x="265537" y="5028318"/>
            <a:ext cx="2349616" cy="3060640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sz="800" b="1" dirty="0">
              <a:solidFill>
                <a:srgbClr val="7D6608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Техническое сопровождение реализации, ИРД,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</a:p>
        </p:txBody>
      </p:sp>
      <p:cxnSp>
        <p:nvCxnSpPr>
          <p:cNvPr id="300" name="Connector TZ-22"/>
          <p:cNvCxnSpPr>
            <a:cxnSpLocks/>
            <a:stCxn id="103" idx="3"/>
          </p:cNvCxnSpPr>
          <p:nvPr/>
        </p:nvCxnSpPr>
        <p:spPr>
          <a:xfrm>
            <a:off x="2615153" y="6558638"/>
            <a:ext cx="10695923" cy="6713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UK-22"/>
          <p:cNvCxnSpPr>
            <a:cxnSpLocks/>
          </p:cNvCxnSpPr>
          <p:nvPr/>
        </p:nvCxnSpPr>
        <p:spPr>
          <a:xfrm flipH="1">
            <a:off x="3862276" y="5098074"/>
            <a:ext cx="9452182" cy="3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TZ-22">
            <a:extLst>
              <a:ext uri="{FF2B5EF4-FFF2-40B4-BE49-F238E27FC236}">
                <a16:creationId xmlns:a16="http://schemas.microsoft.com/office/drawing/2014/main" id="{E23B7458-56DE-4F34-B23B-7032B30F4906}"/>
              </a:ext>
            </a:extLst>
          </p:cNvPr>
          <p:cNvCxnSpPr>
            <a:cxnSpLocks/>
          </p:cNvCxnSpPr>
          <p:nvPr/>
        </p:nvCxnSpPr>
        <p:spPr>
          <a:xfrm flipH="1">
            <a:off x="3862276" y="6484231"/>
            <a:ext cx="1" cy="74407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TZ-22">
            <a:extLst>
              <a:ext uri="{FF2B5EF4-FFF2-40B4-BE49-F238E27FC236}">
                <a16:creationId xmlns:a16="http://schemas.microsoft.com/office/drawing/2014/main" id="{12C7026C-EE9A-4B72-A137-97BDB55F7063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641796" y="6484225"/>
            <a:ext cx="0" cy="81126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TZ-22">
            <a:extLst>
              <a:ext uri="{FF2B5EF4-FFF2-40B4-BE49-F238E27FC236}">
                <a16:creationId xmlns:a16="http://schemas.microsoft.com/office/drawing/2014/main" id="{77CB2234-D24F-406A-A406-4938959F1622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5752036" y="6484233"/>
            <a:ext cx="0" cy="81118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TZ-22">
            <a:extLst>
              <a:ext uri="{FF2B5EF4-FFF2-40B4-BE49-F238E27FC236}">
                <a16:creationId xmlns:a16="http://schemas.microsoft.com/office/drawing/2014/main" id="{340ADC5D-FCBD-4E5B-8663-A73318F5F534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1421316" y="6484221"/>
            <a:ext cx="0" cy="81130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TZ-22">
            <a:extLst>
              <a:ext uri="{FF2B5EF4-FFF2-40B4-BE49-F238E27FC236}">
                <a16:creationId xmlns:a16="http://schemas.microsoft.com/office/drawing/2014/main" id="{D822C6D0-482E-4E14-8250-A4B5B31E2373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9531553" y="6484225"/>
            <a:ext cx="3" cy="81126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TZ-22">
            <a:extLst>
              <a:ext uri="{FF2B5EF4-FFF2-40B4-BE49-F238E27FC236}">
                <a16:creationId xmlns:a16="http://schemas.microsoft.com/office/drawing/2014/main" id="{071BD01A-BE40-42B3-A8B0-638EB039490F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13311076" y="6484233"/>
            <a:ext cx="0" cy="87050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UK-22">
            <a:extLst>
              <a:ext uri="{FF2B5EF4-FFF2-40B4-BE49-F238E27FC236}">
                <a16:creationId xmlns:a16="http://schemas.microsoft.com/office/drawing/2014/main" id="{204A1C5D-BCA8-431B-B38F-56F474D2F956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314450" y="4599431"/>
            <a:ext cx="750" cy="498643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21">
            <a:extLst>
              <a:ext uri="{FF2B5EF4-FFF2-40B4-BE49-F238E27FC236}">
                <a16:creationId xmlns:a16="http://schemas.microsoft.com/office/drawing/2014/main" id="{7087FC53-46BA-4940-AC84-FBAC6DAC617B}"/>
              </a:ext>
            </a:extLst>
          </p:cNvPr>
          <p:cNvSpPr/>
          <p:nvPr/>
        </p:nvSpPr>
        <p:spPr>
          <a:xfrm>
            <a:off x="2954125" y="5167498"/>
            <a:ext cx="1816303" cy="131673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А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cxnSp>
        <p:nvCxnSpPr>
          <p:cNvPr id="98" name="Connector UK-22">
            <a:extLst>
              <a:ext uri="{FF2B5EF4-FFF2-40B4-BE49-F238E27FC236}">
                <a16:creationId xmlns:a16="http://schemas.microsoft.com/office/drawing/2014/main" id="{58A81F4A-BF62-4583-A81E-C8D2C198185E}"/>
              </a:ext>
            </a:extLst>
          </p:cNvPr>
          <p:cNvCxnSpPr>
            <a:cxnSpLocks/>
            <a:stCxn id="97" idx="0"/>
          </p:cNvCxnSpPr>
          <p:nvPr/>
        </p:nvCxnSpPr>
        <p:spPr>
          <a:xfrm flipV="1">
            <a:off x="3862277" y="5098074"/>
            <a:ext cx="0" cy="69424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UK-22">
            <a:extLst>
              <a:ext uri="{FF2B5EF4-FFF2-40B4-BE49-F238E27FC236}">
                <a16:creationId xmlns:a16="http://schemas.microsoft.com/office/drawing/2014/main" id="{2D938002-FAAD-4591-A096-D65AA0CE6637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5752036" y="5098076"/>
            <a:ext cx="0" cy="69422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UK-22">
            <a:extLst>
              <a:ext uri="{FF2B5EF4-FFF2-40B4-BE49-F238E27FC236}">
                <a16:creationId xmlns:a16="http://schemas.microsoft.com/office/drawing/2014/main" id="{822F3443-04DD-46A7-8F82-4D4BDF385709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641796" y="5098076"/>
            <a:ext cx="0" cy="69422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UK-22">
            <a:extLst>
              <a:ext uri="{FF2B5EF4-FFF2-40B4-BE49-F238E27FC236}">
                <a16:creationId xmlns:a16="http://schemas.microsoft.com/office/drawing/2014/main" id="{2646C624-74E5-4F87-9DFF-52DE593A64DC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9531556" y="5095583"/>
            <a:ext cx="0" cy="71916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UK-22">
            <a:extLst>
              <a:ext uri="{FF2B5EF4-FFF2-40B4-BE49-F238E27FC236}">
                <a16:creationId xmlns:a16="http://schemas.microsoft.com/office/drawing/2014/main" id="{B6EA394A-96DE-4395-A3C9-93B16DF21BBB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11421316" y="5098074"/>
            <a:ext cx="0" cy="69424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UK-22">
            <a:extLst>
              <a:ext uri="{FF2B5EF4-FFF2-40B4-BE49-F238E27FC236}">
                <a16:creationId xmlns:a16="http://schemas.microsoft.com/office/drawing/2014/main" id="{7BDF1049-BE5A-418C-AF0F-93A348248680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3311076" y="5098077"/>
            <a:ext cx="0" cy="69422"/>
          </a:xfrm>
          <a:prstGeom prst="line">
            <a:avLst/>
          </a:prstGeom>
          <a:ln w="15875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31">
            <a:extLst>
              <a:ext uri="{FF2B5EF4-FFF2-40B4-BE49-F238E27FC236}">
                <a16:creationId xmlns:a16="http://schemas.microsoft.com/office/drawing/2014/main" id="{CF55814B-C611-443A-A2B5-6E21C5E559F1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314450" y="4599431"/>
            <a:ext cx="750" cy="288316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31">
            <a:extLst>
              <a:ext uri="{FF2B5EF4-FFF2-40B4-BE49-F238E27FC236}">
                <a16:creationId xmlns:a16="http://schemas.microsoft.com/office/drawing/2014/main" id="{20368A54-E66B-4E05-88C3-408ED2A51C1F}"/>
              </a:ext>
            </a:extLst>
          </p:cNvPr>
          <p:cNvCxnSpPr>
            <a:cxnSpLocks/>
          </p:cNvCxnSpPr>
          <p:nvPr/>
        </p:nvCxnSpPr>
        <p:spPr>
          <a:xfrm>
            <a:off x="1444699" y="4871228"/>
            <a:ext cx="5870501" cy="787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31">
            <a:extLst>
              <a:ext uri="{FF2B5EF4-FFF2-40B4-BE49-F238E27FC236}">
                <a16:creationId xmlns:a16="http://schemas.microsoft.com/office/drawing/2014/main" id="{D8433E17-8BC8-4CAB-8152-B5E8AE1921E9}"/>
              </a:ext>
            </a:extLst>
          </p:cNvPr>
          <p:cNvCxnSpPr>
            <a:cxnSpLocks/>
          </p:cNvCxnSpPr>
          <p:nvPr/>
        </p:nvCxnSpPr>
        <p:spPr>
          <a:xfrm flipV="1">
            <a:off x="1444699" y="4871228"/>
            <a:ext cx="0" cy="14415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476</Words>
  <Application>Microsoft Office PowerPoint</Application>
  <PresentationFormat>Произвольный</PresentationFormat>
  <Paragraphs>122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19</cp:revision>
  <dcterms:created xsi:type="dcterms:W3CDTF">2013-01-27T09:14:16Z</dcterms:created>
  <dcterms:modified xsi:type="dcterms:W3CDTF">2026-08-07T12:47:12Z</dcterms:modified>
  <cp:category/>
</cp:coreProperties>
</file>