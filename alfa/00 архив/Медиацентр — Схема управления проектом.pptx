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275320" y="3204972"/>
            <a:ext cx="2286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1A1A1A"/>
                </a:solidFill>
                <a:latin typeface="Calibri"/>
              </a:rPr>
              <a:t>Укрупненная</a:t>
            </a:r>
            <a:r>
              <a:rPr sz="26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</a:rPr>
              <a:t>схема</a:t>
            </a:r>
            <a:r>
              <a:rPr sz="26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</a:rPr>
              <a:t>работы</a:t>
            </a:r>
            <a:r>
              <a:rPr sz="26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</a:rPr>
              <a:t>над</a:t>
            </a:r>
            <a:r>
              <a:rPr sz="26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</a:rPr>
              <a:t>проектом</a:t>
            </a:r>
            <a:endParaRPr sz="26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21440" y="91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11750040" y="109728"/>
            <a:ext cx="292608" cy="292608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777239"/>
            <a:ext cx="11430000" cy="1664207"/>
          </a:xfrm>
          <a:prstGeom prst="roundRect">
            <a:avLst>
              <a:gd name="adj" fmla="val 8000"/>
            </a:avLst>
          </a:prstGeom>
          <a:solidFill>
            <a:srgbClr val="E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t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Инвестор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собственник</a:t>
            </a:r>
            <a:endParaRPr sz="15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0" dirty="0" err="1">
                <a:solidFill>
                  <a:srgbClr val="FFFFFF"/>
                </a:solidFill>
                <a:latin typeface="Calibri"/>
              </a:rPr>
              <a:t>Альфа-банк</a:t>
            </a:r>
            <a:endParaRPr sz="1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51760" y="1298448"/>
            <a:ext cx="6949440" cy="457200"/>
          </a:xfrm>
          <a:prstGeom prst="roundRect">
            <a:avLst>
              <a:gd name="adj" fmla="val 30000"/>
            </a:avLst>
          </a:prstGeom>
          <a:solidFill>
            <a:srgbClr val="F7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 err="1">
                <a:solidFill>
                  <a:srgbClr val="1A1A1A"/>
                </a:solidFill>
                <a:latin typeface="Calibri"/>
              </a:rPr>
              <a:t>Совет</a:t>
            </a:r>
            <a:r>
              <a:rPr sz="12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Calibri"/>
              </a:rPr>
              <a:t>акционеров</a:t>
            </a:r>
            <a:endParaRPr sz="120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00" b="0" dirty="0" err="1">
                <a:solidFill>
                  <a:srgbClr val="1A1A1A"/>
                </a:solidFill>
                <a:latin typeface="Calibri"/>
              </a:rPr>
              <a:t>Высший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уровень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принятия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решений</a:t>
            </a:r>
            <a:endParaRPr sz="1000" b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126480" y="1755648"/>
            <a:ext cx="0" cy="11887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874519"/>
            <a:ext cx="6949440" cy="530352"/>
          </a:xfrm>
          <a:prstGeom prst="roundRect">
            <a:avLst>
              <a:gd name="adj" fmla="val 30000"/>
            </a:avLst>
          </a:prstGeom>
          <a:solidFill>
            <a:srgbClr val="F7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00" b="1" dirty="0" err="1">
                <a:solidFill>
                  <a:srgbClr val="1A1A1A"/>
                </a:solidFill>
                <a:latin typeface="Calibri"/>
              </a:rPr>
              <a:t>Внутренний</a:t>
            </a:r>
            <a:r>
              <a:rPr sz="11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A1A1A"/>
                </a:solidFill>
                <a:latin typeface="Calibri"/>
              </a:rPr>
              <a:t>функциональный</a:t>
            </a:r>
            <a:r>
              <a:rPr sz="11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1A1A1A"/>
                </a:solidFill>
                <a:latin typeface="Calibri"/>
              </a:rPr>
              <a:t>заказчик</a:t>
            </a:r>
            <a:r>
              <a:rPr sz="1100" b="1" dirty="0">
                <a:solidFill>
                  <a:srgbClr val="1A1A1A"/>
                </a:solidFill>
                <a:latin typeface="Calibri"/>
              </a:rPr>
              <a:t>:</a:t>
            </a:r>
          </a:p>
          <a:p>
            <a:pPr algn="ctr"/>
            <a:r>
              <a:rPr sz="1000" b="0" dirty="0">
                <a:solidFill>
                  <a:srgbClr val="1A1A1A"/>
                </a:solidFill>
                <a:latin typeface="Calibri"/>
              </a:rPr>
              <a:t>CEO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Маркетинг</a:t>
            </a:r>
            <a:r>
              <a:rPr sz="1000" b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1A1A1A"/>
                </a:solidFill>
                <a:latin typeface="Calibri"/>
              </a:rPr>
              <a:t>Инфраструктура</a:t>
            </a:r>
            <a:endParaRPr sz="1000" b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850" b="0" dirty="0" err="1">
                <a:solidFill>
                  <a:srgbClr val="1A1A1A"/>
                </a:solidFill>
                <a:latin typeface="Calibri"/>
              </a:rPr>
              <a:t>Представитель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банка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на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уровне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принятия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решений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и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формулирования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задач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от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акционеров</a:t>
            </a:r>
            <a:endParaRPr sz="850" b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623059" y="2441446"/>
            <a:ext cx="1" cy="28346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4503420" y="2441446"/>
            <a:ext cx="0" cy="28346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6992111" y="2441446"/>
            <a:ext cx="3049" cy="28346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2724912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F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Команда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по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созданию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иммерсивной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среды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Sila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Sveta</a:t>
            </a:r>
          </a:p>
          <a:p>
            <a:pPr algn="ctr"/>
            <a:r>
              <a:rPr sz="950" b="0" dirty="0" err="1">
                <a:solidFill>
                  <a:srgbClr val="FFFFFF"/>
                </a:solidFill>
                <a:latin typeface="Calibri"/>
              </a:rPr>
              <a:t>Разработка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экспозиции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продакшен</a:t>
            </a:r>
            <a:endParaRPr sz="95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50" b="0" dirty="0" err="1">
                <a:solidFill>
                  <a:srgbClr val="FFFFFF"/>
                </a:solidFill>
                <a:latin typeface="Calibri"/>
              </a:rPr>
              <a:t>контента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мультимедиа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оснащения</a:t>
            </a:r>
            <a:endParaRPr sz="95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46120" y="2724912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F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Управление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продуктом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КБ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Стрелка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50" b="0" dirty="0" err="1">
                <a:solidFill>
                  <a:srgbClr val="FFFFFF"/>
                </a:solidFill>
                <a:latin typeface="Calibri"/>
              </a:rPr>
              <a:t>Обеспечивает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концептуальную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целостность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/>
            <a:r>
              <a:rPr sz="950" b="0" dirty="0" err="1">
                <a:solidFill>
                  <a:srgbClr val="FFFFFF"/>
                </a:solidFill>
                <a:latin typeface="Calibri"/>
              </a:rPr>
              <a:t>качество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последовательность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проекта</a:t>
            </a:r>
            <a:endParaRPr sz="950" b="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3329940"/>
            <a:ext cx="36576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0" y="2724912"/>
            <a:ext cx="2103120" cy="3794760"/>
          </a:xfrm>
          <a:prstGeom prst="roundRect">
            <a:avLst>
              <a:gd name="adj" fmla="val 8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Управление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реализацией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 /</a:t>
            </a: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Управляющая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компания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«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Кванта</a:t>
            </a:r>
            <a:endParaRPr sz="1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Calibri"/>
              </a:rPr>
              <a:t>Девелопмент</a:t>
            </a:r>
            <a:r>
              <a:rPr sz="1200" b="1" dirty="0">
                <a:solidFill>
                  <a:srgbClr val="FFFFFF"/>
                </a:solidFill>
                <a:latin typeface="Calibri"/>
              </a:rPr>
              <a:t>»</a:t>
            </a: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Calibri"/>
              </a:rPr>
              <a:t>Представитель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Банка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операционном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уровне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руководитель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команды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реализации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курирующий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сроки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разрешения</a:t>
            </a:r>
            <a:r>
              <a:rPr sz="900" b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900" b="0" dirty="0" err="1">
                <a:solidFill>
                  <a:srgbClr val="FFFFFF"/>
                </a:solidFill>
                <a:latin typeface="Calibri"/>
              </a:rPr>
              <a:t>бюджет</a:t>
            </a:r>
            <a:endParaRPr sz="9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03920" y="2724912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Технический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заказчик</a:t>
            </a:r>
            <a:endParaRPr sz="115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900" b="0" dirty="0">
                <a:solidFill>
                  <a:srgbClr val="1A1A1A"/>
                </a:solidFill>
                <a:latin typeface="Calibri"/>
              </a:rPr>
              <a:t>(Project Management Contractor)</a:t>
            </a:r>
          </a:p>
          <a:p>
            <a:pPr algn="ctr"/>
            <a:r>
              <a:rPr sz="850" b="0" dirty="0" err="1">
                <a:solidFill>
                  <a:srgbClr val="1A1A1A"/>
                </a:solidFill>
                <a:latin typeface="Calibri"/>
              </a:rPr>
              <a:t>Генеральный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подрядчик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управления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проектом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организующий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процессы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согласования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и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строительства</a:t>
            </a:r>
            <a:endParaRPr sz="850" b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0149840" y="3685032"/>
            <a:ext cx="0" cy="15544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384048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Генеральный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проектировщик</a:t>
            </a:r>
            <a:endParaRPr sz="115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900" b="0" dirty="0">
                <a:solidFill>
                  <a:srgbClr val="1A1A1A"/>
                </a:solidFill>
                <a:latin typeface="Calibri"/>
              </a:rPr>
              <a:t>(Architect of Record)</a:t>
            </a:r>
          </a:p>
          <a:p>
            <a:pPr algn="ctr"/>
            <a:r>
              <a:rPr sz="850" b="0" dirty="0" err="1">
                <a:solidFill>
                  <a:srgbClr val="1A1A1A"/>
                </a:solidFill>
                <a:latin typeface="Calibri"/>
              </a:rPr>
              <a:t>Перевод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концепции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в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проектную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и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рабочую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документацию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с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учетом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нормативной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1A1A1A"/>
                </a:solidFill>
                <a:latin typeface="Calibri"/>
              </a:rPr>
              <a:t>базы</a:t>
            </a:r>
            <a:r>
              <a:rPr sz="850" b="0" dirty="0">
                <a:solidFill>
                  <a:srgbClr val="1A1A1A"/>
                </a:solidFill>
                <a:latin typeface="Calibri"/>
              </a:rPr>
              <a:t> 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49840" y="4800600"/>
            <a:ext cx="0" cy="15544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03920" y="4956048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Генеральный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подрядчик</a:t>
            </a:r>
            <a:endParaRPr sz="115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950" b="0" dirty="0" err="1">
                <a:solidFill>
                  <a:srgbClr val="1A1A1A"/>
                </a:solidFill>
                <a:latin typeface="Calibri"/>
              </a:rPr>
              <a:t>Отвечает</a:t>
            </a:r>
            <a:r>
              <a:rPr sz="9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Calibri"/>
              </a:rPr>
              <a:t>за</a:t>
            </a:r>
            <a:r>
              <a:rPr sz="9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Calibri"/>
              </a:rPr>
              <a:t>процессы</a:t>
            </a:r>
            <a:r>
              <a:rPr sz="95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Calibri"/>
              </a:rPr>
              <a:t>строительства</a:t>
            </a:r>
            <a:endParaRPr sz="950" b="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046720" y="4320540"/>
            <a:ext cx="4572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" y="4434840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Разработчики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концепции</a:t>
            </a:r>
            <a:endParaRPr sz="115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00" b="1" dirty="0">
                <a:solidFill>
                  <a:srgbClr val="1A1A1A"/>
                </a:solidFill>
                <a:latin typeface="Calibri"/>
              </a:rPr>
              <a:t>(Lead Design Author)</a:t>
            </a:r>
          </a:p>
          <a:p>
            <a:pPr algn="ctr"/>
            <a:r>
              <a:rPr sz="1150" dirty="0" err="1">
                <a:solidFill>
                  <a:srgbClr val="1A1A1A"/>
                </a:solidFill>
                <a:latin typeface="Calibri"/>
              </a:rPr>
              <a:t>Neri&amp;Hu</a:t>
            </a:r>
            <a:endParaRPr sz="115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900" b="0" dirty="0" err="1">
                <a:solidFill>
                  <a:srgbClr val="1A1A1A"/>
                </a:solidFill>
                <a:latin typeface="Calibri"/>
              </a:rPr>
              <a:t>Авторы</a:t>
            </a:r>
            <a:r>
              <a:rPr sz="9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A1A1A"/>
                </a:solidFill>
                <a:latin typeface="Calibri"/>
              </a:rPr>
              <a:t>архитектурного</a:t>
            </a:r>
            <a:r>
              <a:rPr sz="9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A1A1A"/>
                </a:solidFill>
                <a:latin typeface="Calibri"/>
              </a:rPr>
              <a:t>облика</a:t>
            </a:r>
            <a:r>
              <a:rPr sz="9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A1A1A"/>
                </a:solidFill>
                <a:latin typeface="Calibri"/>
              </a:rPr>
              <a:t>проекта</a:t>
            </a:r>
            <a:r>
              <a:rPr sz="900" b="0" dirty="0">
                <a:solidFill>
                  <a:srgbClr val="1A1A1A"/>
                </a:solidFill>
                <a:latin typeface="Calibri"/>
              </a:rPr>
              <a:t> и </a:t>
            </a:r>
            <a:r>
              <a:rPr sz="900" b="0" dirty="0" err="1">
                <a:solidFill>
                  <a:srgbClr val="1A1A1A"/>
                </a:solidFill>
                <a:latin typeface="Calibri"/>
              </a:rPr>
              <a:t>философии</a:t>
            </a:r>
            <a:r>
              <a:rPr sz="900" b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1A1A1A"/>
                </a:solidFill>
                <a:latin typeface="Calibri"/>
              </a:rPr>
              <a:t>пространства</a:t>
            </a:r>
            <a:endParaRPr sz="9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5760" y="5577840"/>
            <a:ext cx="53949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t"/>
          <a:lstStyle/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Разработчики</a:t>
            </a:r>
            <a:endParaRPr sz="115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50" b="1" dirty="0" err="1">
                <a:solidFill>
                  <a:srgbClr val="1A1A1A"/>
                </a:solidFill>
                <a:latin typeface="Calibri"/>
              </a:rPr>
              <a:t>по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другим</a:t>
            </a:r>
            <a:r>
              <a:rPr sz="1150" b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A1A1A"/>
                </a:solidFill>
                <a:latin typeface="Calibri"/>
              </a:rPr>
              <a:t>направлениям</a:t>
            </a:r>
            <a:endParaRPr sz="115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6053328"/>
            <a:ext cx="1691640" cy="548640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00" b="0" dirty="0" err="1">
                <a:solidFill>
                  <a:srgbClr val="333333"/>
                </a:solidFill>
                <a:latin typeface="Calibri"/>
              </a:rPr>
              <a:t>Дизайн</a:t>
            </a:r>
            <a:endParaRPr sz="1000" b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Calibri"/>
              </a:rPr>
              <a:t>интерьеров</a:t>
            </a:r>
            <a:endParaRPr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286000" y="6053328"/>
            <a:ext cx="1691640" cy="548640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00" b="0" dirty="0" err="1">
                <a:solidFill>
                  <a:srgbClr val="333333"/>
                </a:solidFill>
                <a:latin typeface="Calibri"/>
              </a:rPr>
              <a:t>Благоустройство</a:t>
            </a:r>
            <a:endParaRPr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069080" y="6053328"/>
            <a:ext cx="1600200" cy="548640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00" b="0" dirty="0" err="1">
                <a:solidFill>
                  <a:srgbClr val="333333"/>
                </a:solidFill>
                <a:latin typeface="Calibri"/>
              </a:rPr>
              <a:t>Архитектурная</a:t>
            </a:r>
            <a:endParaRPr sz="1000" b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Calibri"/>
              </a:rPr>
              <a:t>подсветка</a:t>
            </a:r>
            <a:endParaRPr sz="1000" b="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2880360" y="3482340"/>
            <a:ext cx="36576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5760720" y="3340100"/>
            <a:ext cx="1828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5760720" y="3492500"/>
            <a:ext cx="1828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4437380" y="4142232"/>
            <a:ext cx="0" cy="29260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4644391" y="4142232"/>
            <a:ext cx="0" cy="29260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2959100" y="534924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166111" y="534924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760720" y="4892040"/>
            <a:ext cx="1828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8288383" y="3204972"/>
            <a:ext cx="0" cy="2231136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8275320" y="5436108"/>
            <a:ext cx="22860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</Words>
  <Application>Microsoft Office PowerPoint</Application>
  <PresentationFormat>Широкоэкранный</PresentationFormat>
  <Paragraphs>46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Ali</dc:creator>
  <cp:keywords/>
  <dc:description>generated using python-pptx</dc:description>
  <cp:lastModifiedBy>ALI</cp:lastModifiedBy>
  <cp:revision>2</cp:revision>
  <dcterms:created xsi:type="dcterms:W3CDTF">2013-01-27T09:14:16Z</dcterms:created>
  <dcterms:modified xsi:type="dcterms:W3CDTF">2026-08-11T13:49:35Z</dcterms:modified>
  <cp:category/>
</cp:coreProperties>
</file>