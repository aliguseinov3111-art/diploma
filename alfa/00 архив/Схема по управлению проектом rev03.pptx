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001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974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Arial"/>
              </a:rPr>
              <a:t>СТРУКТУРА УПРАВЛЕНИЯ ПРОЕКТОМ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Arial"/>
              </a:rPr>
              <a:t>Объект реконструкции → мультимедийный центр, г. Москва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85800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100" b="1" dirty="0">
                <a:solidFill>
                  <a:srgbClr val="C0392B"/>
                </a:solidFill>
                <a:latin typeface="Arial"/>
              </a:rPr>
              <a:t>ИНВЕСТОР / СОБСТВЕННИК / ЗАКАЗЧИК</a:t>
            </a:r>
          </a:p>
          <a:p>
            <a:pPr algn="ctr"/>
            <a:endParaRPr sz="800" b="0" dirty="0">
              <a:solidFill>
                <a:srgbClr val="5D6D7E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Стратегические решения и утверждение ключевых параметров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Утверждение бюджета, сроков, договорной модели и участников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Имущественный и правовой контур ( в т.ч. Доходный дом / РПИ / юрлица Заказчика)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Юридическое сопровождение и защита интересов Заказчика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852160" y="685800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100" b="1" dirty="0">
                <a:solidFill>
                  <a:srgbClr val="C0392B"/>
                </a:solidFill>
                <a:latin typeface="Arial"/>
              </a:rPr>
              <a:t>ИНВЕСТИЦИОННЫЙ / КООРДИНАЦИОННЫЙ КОМИТЕТ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Ключевые решения по проекту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Контроль бюджета, сроков и рисков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Утверждение существенных изменений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Утверждение тендеров по выбору исполнителей и закупкам на проект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011680"/>
            <a:ext cx="32004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100" b="1" dirty="0">
                <a:solidFill>
                  <a:srgbClr val="2C3E50"/>
                </a:solidFill>
                <a:latin typeface="Arial"/>
              </a:rPr>
              <a:t>КОНЦЕПТУАЛЬНЫЙ КУРАТОР</a:t>
            </a:r>
          </a:p>
          <a:p>
            <a:pPr algn="ctr"/>
            <a:r>
              <a:rPr lang="ru-RU" sz="800" b="0" dirty="0">
                <a:solidFill>
                  <a:srgbClr val="5D6D7E"/>
                </a:solidFill>
                <a:latin typeface="Arial"/>
              </a:rPr>
              <a:t>концептуальный</a:t>
            </a:r>
            <a:r>
              <a:rPr sz="800" b="0" dirty="0">
                <a:solidFill>
                  <a:srgbClr val="5D6D7E"/>
                </a:solidFill>
                <a:latin typeface="Arial"/>
              </a:rPr>
              <a:t> / </a:t>
            </a:r>
            <a:r>
              <a:rPr lang="ru-RU" sz="800" b="0" dirty="0">
                <a:solidFill>
                  <a:srgbClr val="5D6D7E"/>
                </a:solidFill>
                <a:latin typeface="Arial"/>
              </a:rPr>
              <a:t>архитектурно</a:t>
            </a:r>
            <a:r>
              <a:rPr lang="ru-RU" sz="800" dirty="0">
                <a:solidFill>
                  <a:srgbClr val="5D6D7E"/>
                </a:solidFill>
                <a:latin typeface="Arial"/>
              </a:rPr>
              <a:t>-стратегический</a:t>
            </a:r>
            <a:r>
              <a:rPr sz="800" b="0" dirty="0">
                <a:solidFill>
                  <a:srgbClr val="5D6D7E"/>
                </a:solidFill>
                <a:latin typeface="Arial"/>
              </a:rPr>
              <a:t> </a:t>
            </a:r>
            <a:r>
              <a:rPr lang="ru-RU" sz="800" b="0" dirty="0">
                <a:solidFill>
                  <a:srgbClr val="5D6D7E"/>
                </a:solidFill>
                <a:latin typeface="Arial"/>
              </a:rPr>
              <a:t>куратор</a:t>
            </a:r>
            <a:endParaRPr sz="800" b="0" dirty="0">
              <a:solidFill>
                <a:srgbClr val="5D6D7E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Архитектурная и содержательная концепция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Куратор иностранного архитектора </a:t>
            </a:r>
            <a:r>
              <a:rPr lang="en-US" sz="700" b="0" dirty="0" err="1">
                <a:solidFill>
                  <a:srgbClr val="2C3E50"/>
                </a:solidFill>
                <a:latin typeface="Arial"/>
              </a:rPr>
              <a:t>Иностранный архитектор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Сопровождение </a:t>
            </a:r>
            <a:r>
              <a:rPr lang="en-US" sz="700" dirty="0" err="1">
                <a:solidFill>
                  <a:srgbClr val="2C3E50"/>
                </a:solidFill>
                <a:latin typeface="Arial"/>
              </a:rPr>
              <a:t>schemic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 design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и сохранение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design intent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Участие в выборе российского </a:t>
            </a:r>
            <a:r>
              <a:rPr lang="ru-RU" sz="700" dirty="0" err="1">
                <a:solidFill>
                  <a:srgbClr val="2C3E50"/>
                </a:solidFill>
                <a:latin typeface="Arial"/>
              </a:rPr>
              <a:t>генпроектировщика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Координация мультимедийного консультанта по мультимедийной концепции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Презентация Мэру / публичная и коммуникационная рамка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74320" y="3538727"/>
            <a:ext cx="1508760" cy="96011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lang="ru-RU" sz="900" b="1" dirty="0">
                <a:solidFill>
                  <a:srgbClr val="2C3E50"/>
                </a:solidFill>
                <a:latin typeface="Arial"/>
              </a:rPr>
              <a:t>А</a:t>
            </a:r>
            <a:r>
              <a:rPr sz="900" b="1" dirty="0" err="1">
                <a:solidFill>
                  <a:srgbClr val="2C3E50"/>
                </a:solidFill>
                <a:latin typeface="Arial"/>
              </a:rPr>
              <a:t>рхитектор</a:t>
            </a:r>
            <a:endParaRPr sz="900" b="1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Иностранный архитектор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Авторская идея /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design intent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Schematic design</a:t>
            </a:r>
            <a:endParaRPr lang="ru-RU" sz="70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20240" y="3538727"/>
            <a:ext cx="1508760" cy="9601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endParaRPr lang="ru-RU" sz="900" b="1" dirty="0">
              <a:solidFill>
                <a:srgbClr val="2C3E50"/>
              </a:solidFill>
              <a:latin typeface="Arial"/>
            </a:endParaRPr>
          </a:p>
          <a:p>
            <a:pPr algn="ctr"/>
            <a:r>
              <a:rPr sz="900" b="1" dirty="0" err="1">
                <a:solidFill>
                  <a:srgbClr val="2C3E50"/>
                </a:solidFill>
                <a:latin typeface="Arial"/>
              </a:rPr>
              <a:t>Мультимедийный</a:t>
            </a:r>
            <a:r>
              <a:rPr sz="900" b="1" dirty="0">
                <a:solidFill>
                  <a:srgbClr val="2C3E50"/>
                </a:solidFill>
                <a:latin typeface="Arial"/>
              </a:rPr>
              <a:t> консультант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Мультимедийная и содержательная концепция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Консультации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Неформальный статус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Дальнейший статус уточняется</a:t>
            </a:r>
          </a:p>
          <a:p>
            <a:pPr algn="ctr"/>
            <a:endParaRPr sz="700" b="0" dirty="0">
              <a:solidFill>
                <a:srgbClr val="5D6D7E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886200" y="2011680"/>
            <a:ext cx="4206240" cy="1417320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200" b="1" dirty="0">
                <a:solidFill>
                  <a:srgbClr val="1A527A"/>
                </a:solidFill>
                <a:latin typeface="Arial"/>
              </a:rPr>
              <a:t>УПРАВЛЯЮЩАЯ КОМПАНИЯ</a:t>
            </a:r>
          </a:p>
          <a:p>
            <a:pPr algn="ctr"/>
            <a:r>
              <a:rPr lang="ru-RU" sz="800" b="0" dirty="0">
                <a:solidFill>
                  <a:srgbClr val="5D6D7E"/>
                </a:solidFill>
                <a:latin typeface="Arial"/>
              </a:rPr>
              <a:t>управляющая компания</a:t>
            </a:r>
            <a:r>
              <a:rPr sz="800" b="0" dirty="0">
                <a:solidFill>
                  <a:srgbClr val="5D6D7E"/>
                </a:solidFill>
                <a:latin typeface="Arial"/>
              </a:rPr>
              <a:t> / fee</a:t>
            </a:r>
            <a:r>
              <a:rPr lang="ru-RU" sz="800" b="0" dirty="0">
                <a:solidFill>
                  <a:srgbClr val="5D6D7E"/>
                </a:solidFill>
                <a:latin typeface="Arial"/>
              </a:rPr>
              <a:t>-девелопер</a:t>
            </a:r>
            <a:endParaRPr sz="800" b="0" dirty="0">
              <a:solidFill>
                <a:srgbClr val="5D6D7E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Организация практической реализации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Градостроительный аудит и разрешительная стратегия</a:t>
            </a:r>
          </a:p>
          <a:p>
            <a:pPr algn="l"/>
            <a:r>
              <a:rPr lang="ru-RU" sz="700" b="0" dirty="0">
                <a:solidFill>
                  <a:srgbClr val="2C3E50"/>
                </a:solidFill>
                <a:latin typeface="Arial"/>
              </a:rPr>
              <a:t>   ПЗЗ, ППЗ, ГЗК, АГР, ИРД,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РпС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 / реконструкция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Организация тендеров и закупочных процедур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Координация технического заказчика, </a:t>
            </a:r>
            <a:r>
              <a:rPr lang="ru-RU" sz="700" dirty="0" err="1">
                <a:solidFill>
                  <a:srgbClr val="2C3E50"/>
                </a:solidFill>
                <a:latin typeface="Arial"/>
              </a:rPr>
              <a:t>генпроектировщика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, 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   генподрядчика и других участников проекта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Бюджет, сроки, качество, риски, отчетность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Организация строительства, ЗОС, разрешение на ввод</a:t>
            </a:r>
          </a:p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886200" y="3538727"/>
            <a:ext cx="4206240" cy="9601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100" b="1" dirty="0">
                <a:solidFill>
                  <a:srgbClr val="1A527A"/>
                </a:solidFill>
                <a:latin typeface="Arial"/>
              </a:rPr>
              <a:t>ТЕХНИЧЕСКИЙ ЗАКАЗЧИК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Техническое сопровождение реализации, ИРД, </a:t>
            </a:r>
            <a:r>
              <a:rPr lang="ru-RU" sz="700" dirty="0" err="1">
                <a:solidFill>
                  <a:srgbClr val="2C3E50"/>
                </a:solidFill>
                <a:latin typeface="Arial"/>
              </a:rPr>
              <a:t>стройконтроль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, взаимодействие с надзором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17" name="Connector 16"/>
          <p:cNvCxnSpPr>
            <a:cxnSpLocks/>
            <a:stCxn id="11" idx="2"/>
            <a:endCxn id="12" idx="0"/>
          </p:cNvCxnSpPr>
          <p:nvPr/>
        </p:nvCxnSpPr>
        <p:spPr>
          <a:xfrm>
            <a:off x="5989320" y="3429000"/>
            <a:ext cx="0" cy="109727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74320" y="4864612"/>
            <a:ext cx="1798320" cy="1316733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ГЕНПРОЕКТИРОВЩИК РФ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Проектная и рабочая документация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Адаптация решений А</a:t>
            </a:r>
            <a:r>
              <a:rPr lang="en-US" sz="700" dirty="0" err="1">
                <a:solidFill>
                  <a:srgbClr val="2C3E50"/>
                </a:solidFill>
                <a:latin typeface="Arial"/>
              </a:rPr>
              <a:t>рхитектор</a:t>
            </a:r>
            <a:r>
              <a:rPr lang="ru-RU" sz="700">
                <a:solidFill>
                  <a:srgbClr val="2C3E50"/>
                </a:solidFill>
                <a:latin typeface="Arial"/>
              </a:rPr>
              <a:t>а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Экспертизы и проектная ответственность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BIM /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документация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64080" y="4864612"/>
            <a:ext cx="1798320" cy="1316735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ПРОЕКТНЫЕ И ЭКСПЕРТНЫЕ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Изыскания и обследования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Историко-культурные экспертизы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Археология и мониторинг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Инженерные консультации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Кадастровый инженер / БТИ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Геотехнический консультант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Транспортный консультант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Фасадный консультант 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Сметный консультант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53840" y="4864612"/>
            <a:ext cx="1798320" cy="1316727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ИНЖЕНЕРИЯ И РЕСУРСЫ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ТУ и техническое подключение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Вынос / отключение сетей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Инженерные системы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Пожарная безопасность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943600" y="4864613"/>
            <a:ext cx="1798320" cy="1316726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ГЕНПОДРЯДЧИК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Глубокая 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Демонтаж сложных конструкций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СМР и поставки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Субподрядчики, ОТ и ТБ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833360" y="4864612"/>
            <a:ext cx="1798320" cy="1316723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СТРОИТЕЛЬНЫЙ КОНТРОЛЬ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надзор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качества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Приемка работ</a:t>
            </a:r>
            <a:r>
              <a:rPr sz="700" b="0" dirty="0">
                <a:solidFill>
                  <a:srgbClr val="2C3E50"/>
                </a:solidFill>
                <a:latin typeface="Arial"/>
              </a:rPr>
              <a:t>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23120" y="4864613"/>
            <a:ext cx="1798320" cy="131673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УПРАВЛЕНИЕ ПРОЕКТОМ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Планирование и бюджет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Управление рисками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Отчетность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Документооборот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28" name="Connector 27"/>
          <p:cNvCxnSpPr>
            <a:cxnSpLocks/>
          </p:cNvCxnSpPr>
          <p:nvPr/>
        </p:nvCxnSpPr>
        <p:spPr>
          <a:xfrm>
            <a:off x="5989320" y="4498851"/>
            <a:ext cx="0" cy="201168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73480" y="4700021"/>
            <a:ext cx="9448800" cy="0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73480" y="4700021"/>
            <a:ext cx="0" cy="164592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3240" y="4700021"/>
            <a:ext cx="0" cy="164592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953000" y="4700021"/>
            <a:ext cx="0" cy="164592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842760" y="4700021"/>
            <a:ext cx="0" cy="164592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732520" y="4700021"/>
            <a:ext cx="0" cy="164592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622280" y="4700021"/>
            <a:ext cx="0" cy="164592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T5"/>
          <p:cNvCxnSpPr>
            <a:cxnSpLocks/>
            <a:stCxn id="10" idx="2"/>
          </p:cNvCxnSpPr>
          <p:nvPr/>
        </p:nvCxnSpPr>
        <p:spPr>
          <a:xfrm>
            <a:off x="2674620" y="4498842"/>
            <a:ext cx="0" cy="201179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6" name="Connector T6"/>
          <p:cNvCxnSpPr>
            <a:cxnSpLocks/>
          </p:cNvCxnSpPr>
          <p:nvPr/>
        </p:nvCxnSpPr>
        <p:spPr>
          <a:xfrm>
            <a:off x="1173480" y="4700021"/>
            <a:ext cx="1889760" cy="0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7" name="Connector T7"/>
          <p:cNvCxnSpPr>
            <a:cxnSpLocks/>
            <a:endCxn id="22" idx="0"/>
          </p:cNvCxnSpPr>
          <p:nvPr/>
        </p:nvCxnSpPr>
        <p:spPr>
          <a:xfrm>
            <a:off x="1173480" y="4700021"/>
            <a:ext cx="0" cy="164591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8" name="Connector T8"/>
          <p:cNvCxnSpPr>
            <a:cxnSpLocks/>
            <a:endCxn id="23" idx="0"/>
          </p:cNvCxnSpPr>
          <p:nvPr/>
        </p:nvCxnSpPr>
        <p:spPr>
          <a:xfrm>
            <a:off x="3063240" y="4700021"/>
            <a:ext cx="0" cy="164591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4320" y="6236208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D35400"/>
                </a:solidFill>
                <a:latin typeface="Arial"/>
              </a:rPr>
              <a:t>СОГЛАСОВАТЕЛЬНЫЙ КОНТУР (г.</a:t>
            </a:r>
            <a:r>
              <a:rPr lang="ru-RU" sz="1100" b="1" dirty="0">
                <a:solidFill>
                  <a:srgbClr val="D35400"/>
                </a:solidFill>
                <a:latin typeface="Arial"/>
              </a:rPr>
              <a:t> Москва</a:t>
            </a:r>
            <a:r>
              <a:rPr sz="1100" b="1" dirty="0">
                <a:solidFill>
                  <a:srgbClr val="D35400"/>
                </a:solidFill>
                <a:latin typeface="Arial"/>
              </a:rPr>
              <a:t>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658368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ДЕПАРТАМЕНТ ГРАДОСТРОИТЕЛЬНОЙ ПОЛИТИКИ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Архитектурно-градостроительный облик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Цифровой двойник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1173480" y="6172200"/>
            <a:ext cx="0" cy="411480"/>
          </a:xfrm>
          <a:prstGeom prst="line">
            <a:avLst/>
          </a:prstGeom>
          <a:ln w="15875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164080" y="658368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lang="ru-RU" sz="800" b="1" dirty="0">
                <a:solidFill>
                  <a:srgbClr val="D35400"/>
                </a:solidFill>
                <a:latin typeface="Arial"/>
              </a:rPr>
              <a:t>КОМИССИЯ ПО ВОПРОСАМ ГРАДОСТРОИТЕЛЬСТВА, ЗЕМЛЕПОЛЬЗОВАНИЯ И ЗАСТРОЙКИ (</a:t>
            </a:r>
            <a:r>
              <a:rPr sz="800" b="1" dirty="0">
                <a:solidFill>
                  <a:srgbClr val="D35400"/>
                </a:solidFill>
                <a:latin typeface="Arial"/>
              </a:rPr>
              <a:t>ГЗК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)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ПЗЗ / параметры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Ключевые решения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Рассмотрение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3063240" y="6172200"/>
            <a:ext cx="0" cy="411480"/>
          </a:xfrm>
          <a:prstGeom prst="line">
            <a:avLst/>
          </a:prstGeom>
          <a:ln w="15875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053840" y="658368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ДЕПАРТАМЕНТ КУЛЬТУРНОГО НАСЛЕДИЯ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Зоны охраны ОКН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Историко-культурная экспертиза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Археология и культурный слой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4953000" y="6172200"/>
            <a:ext cx="0" cy="411480"/>
          </a:xfrm>
          <a:prstGeom prst="line">
            <a:avLst/>
          </a:prstGeom>
          <a:ln w="15875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943600" y="658368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МОСГОСЭКСПЕРТИЗА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Экспертиза проектной документации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стоимость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Экспертиза достоверности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6842760" y="6172200"/>
            <a:ext cx="0" cy="411480"/>
          </a:xfrm>
          <a:prstGeom prst="line">
            <a:avLst/>
          </a:prstGeom>
          <a:ln w="15875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833360" y="658368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МОСГОССТРОЙНАДЗОР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РпС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 / начало работ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Контроль строительства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ЗОС и ввод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8732520" y="6172200"/>
            <a:ext cx="0" cy="411480"/>
          </a:xfrm>
          <a:prstGeom prst="line">
            <a:avLst/>
          </a:prstGeom>
          <a:ln w="15875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9723120" y="658368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РЕСУРСНОСНАБЖАЮЩИЕ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Подключение к сетям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Согласование проектов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50" name="Connector 49"/>
          <p:cNvCxnSpPr/>
          <p:nvPr/>
        </p:nvCxnSpPr>
        <p:spPr>
          <a:xfrm>
            <a:off x="10622280" y="6172200"/>
            <a:ext cx="0" cy="411480"/>
          </a:xfrm>
          <a:prstGeom prst="line">
            <a:avLst/>
          </a:prstGeom>
          <a:ln w="15875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11612880" y="6858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ПРИНЦИПЫ УПРАВЛЕНИЯ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Единый центр ответственности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Разделение концепции и реализации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Прозрачность бюджета и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качества и рисков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Сохранение авторского замысла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Учет исторического центра Москвы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11612880" y="25146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ОТДЕЛЬНЫЕ АКЦЕНТЫ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Концептуальный куратор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: что создаем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УК: как реализуем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</a:t>
            </a:r>
            <a:r>
              <a:rPr lang="en-US" sz="700" b="0" dirty="0" err="1">
                <a:solidFill>
                  <a:srgbClr val="2C3E50"/>
                </a:solidFill>
                <a:latin typeface="Arial"/>
              </a:rPr>
              <a:t>рхитектор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: авторская идея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 err="1">
                <a:solidFill>
                  <a:srgbClr val="2C3E50"/>
                </a:solidFill>
                <a:latin typeface="Arial"/>
              </a:rPr>
              <a:t>Генпроектировщик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 РФ: проектная ответственность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заказчик: техническая реализация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1612880" y="43434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СПЕЦИФИКА ПРОЕКТА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Исторический центр Москвы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 / глубокая 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Доходный дом и имущественный контур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Зоны охраны, археология, ДКН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Повышенное внимание города и общественности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11612880" y="6172200"/>
            <a:ext cx="2743200" cy="1463040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ЭКСПЛУАТАЦИОННЫЙ КОНТУР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Оператор / арендаторы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Эксплуатирующая компания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b="0" dirty="0">
                <a:solidFill>
                  <a:srgbClr val="2C3E50"/>
                </a:solidFill>
                <a:latin typeface="Arial"/>
              </a:rPr>
              <a:t>Facility management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Операционная модель и требования к проектированию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Передача объекта в эксплуатацию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55" name="Connector 35">
            <a:extLst>
              <a:ext uri="{FF2B5EF4-FFF2-40B4-BE49-F238E27FC236}">
                <a16:creationId xmlns:a16="http://schemas.microsoft.com/office/drawing/2014/main" id="{AADADB19-1AC3-4D3A-970B-138F0C8CC3C5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1028700" y="4498838"/>
            <a:ext cx="0" cy="365775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" name="Connector T1"/>
          <p:cNvCxnSpPr>
            <a:cxnSpLocks/>
            <a:stCxn id="8" idx="2"/>
          </p:cNvCxnSpPr>
          <p:nvPr/>
        </p:nvCxnSpPr>
        <p:spPr>
          <a:xfrm>
            <a:off x="1874520" y="3429000"/>
            <a:ext cx="0" cy="54864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" name="Connector T2"/>
          <p:cNvCxnSpPr/>
          <p:nvPr/>
        </p:nvCxnSpPr>
        <p:spPr>
          <a:xfrm>
            <a:off x="1028700" y="3483864"/>
            <a:ext cx="1645920" cy="0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3" name="Connector T3"/>
          <p:cNvCxnSpPr>
            <a:cxnSpLocks/>
            <a:endCxn id="9" idx="0"/>
          </p:cNvCxnSpPr>
          <p:nvPr/>
        </p:nvCxnSpPr>
        <p:spPr>
          <a:xfrm>
            <a:off x="1028700" y="3483864"/>
            <a:ext cx="0" cy="54863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T4"/>
          <p:cNvCxnSpPr>
            <a:cxnSpLocks/>
            <a:endCxn id="10" idx="0"/>
          </p:cNvCxnSpPr>
          <p:nvPr/>
        </p:nvCxnSpPr>
        <p:spPr>
          <a:xfrm>
            <a:off x="2674620" y="3483864"/>
            <a:ext cx="0" cy="54863"/>
          </a:xfrm>
          <a:prstGeom prst="line">
            <a:avLst/>
          </a:prstGeom>
          <a:ln w="15875">
            <a:solidFill>
              <a:srgbClr val="1E8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27">
            <a:extLst>
              <a:ext uri="{FF2B5EF4-FFF2-40B4-BE49-F238E27FC236}">
                <a16:creationId xmlns:a16="http://schemas.microsoft.com/office/drawing/2014/main" id="{70236959-CADB-4C83-B307-52119078CA0D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3474720" y="2720340"/>
            <a:ext cx="411480" cy="0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27">
            <a:extLst>
              <a:ext uri="{FF2B5EF4-FFF2-40B4-BE49-F238E27FC236}">
                <a16:creationId xmlns:a16="http://schemas.microsoft.com/office/drawing/2014/main" id="{4AF252C4-37C9-4764-907C-6341A631F428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flipH="1">
            <a:off x="5486400" y="1211580"/>
            <a:ext cx="365760" cy="0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31">
            <a:extLst>
              <a:ext uri="{FF2B5EF4-FFF2-40B4-BE49-F238E27FC236}">
                <a16:creationId xmlns:a16="http://schemas.microsoft.com/office/drawing/2014/main" id="{D8FBEB28-CA12-41F7-B53E-C7EC3B8AEEC7}"/>
              </a:ext>
            </a:extLst>
          </p:cNvPr>
          <p:cNvCxnSpPr>
            <a:cxnSpLocks/>
          </p:cNvCxnSpPr>
          <p:nvPr/>
        </p:nvCxnSpPr>
        <p:spPr>
          <a:xfrm>
            <a:off x="5989320" y="1938528"/>
            <a:ext cx="2468880" cy="0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31">
            <a:extLst>
              <a:ext uri="{FF2B5EF4-FFF2-40B4-BE49-F238E27FC236}">
                <a16:creationId xmlns:a16="http://schemas.microsoft.com/office/drawing/2014/main" id="{6718EC42-431F-4CA8-B64D-A0A1B6AF4210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458200" y="1737360"/>
            <a:ext cx="0" cy="201168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31">
            <a:extLst>
              <a:ext uri="{FF2B5EF4-FFF2-40B4-BE49-F238E27FC236}">
                <a16:creationId xmlns:a16="http://schemas.microsoft.com/office/drawing/2014/main" id="{218DC13B-EC73-48B9-AEB7-E9BA4587BF1C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5989320" y="1938528"/>
            <a:ext cx="0" cy="73152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Rounded Rectangle 200"/>
          <p:cNvSpPr/>
          <p:nvPr/>
        </p:nvSpPr>
        <p:spPr>
          <a:xfrm>
            <a:off x="8503920" y="20116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lang="ru-RU" sz="1100" b="1" dirty="0">
                <a:solidFill>
                  <a:srgbClr val="1A527A"/>
                </a:solidFill>
                <a:latin typeface="Arial"/>
              </a:rPr>
              <a:t>ВЫПОЛНЕНИЕ РАБОТ ПОСЛЕ ПОЛУЧЕНИЯ ЗОС</a:t>
            </a:r>
          </a:p>
          <a:p>
            <a:pPr algn="ctr"/>
            <a:r>
              <a:rPr lang="ru-RU" sz="800" b="0" dirty="0">
                <a:solidFill>
                  <a:srgbClr val="5D6D7E"/>
                </a:solidFill>
                <a:latin typeface="Arial"/>
              </a:rPr>
              <a:t>fit-out / оснащение объекта</a:t>
            </a:r>
          </a:p>
          <a:p>
            <a:pPr algn="l"/>
            <a:r>
              <a:rPr lang="ru-RU" sz="700" b="0" dirty="0">
                <a:solidFill>
                  <a:srgbClr val="2C3E50"/>
                </a:solidFill>
                <a:latin typeface="Arial"/>
              </a:rPr>
              <a:t>•  Fit-out и отделка помещений</a:t>
            </a:r>
          </a:p>
          <a:p>
            <a:pPr algn="l"/>
            <a:r>
              <a:rPr lang="ru-RU" sz="700" b="0" dirty="0">
                <a:solidFill>
                  <a:srgbClr val="2C3E50"/>
                </a:solidFill>
                <a:latin typeface="Arial"/>
              </a:rPr>
              <a:t>•  Мебелировка</a:t>
            </a:r>
          </a:p>
          <a:p>
            <a:pPr algn="l"/>
            <a:r>
              <a:rPr lang="ru-RU" sz="700" b="0" dirty="0">
                <a:solidFill>
                  <a:srgbClr val="2C3E50"/>
                </a:solidFill>
                <a:latin typeface="Arial"/>
              </a:rPr>
              <a:t>•  Мультимедиа, свет, звук, видео</a:t>
            </a:r>
          </a:p>
          <a:p>
            <a:pPr algn="l"/>
            <a:r>
              <a:rPr lang="ru-RU" sz="700" b="0" dirty="0">
                <a:solidFill>
                  <a:srgbClr val="2C3E50"/>
                </a:solidFill>
                <a:latin typeface="Arial"/>
              </a:rPr>
              <a:t>•  IT-инфраструктура</a:t>
            </a:r>
          </a:p>
          <a:p>
            <a:pPr algn="l"/>
            <a:r>
              <a:rPr lang="ru-RU" sz="700" b="0" dirty="0">
                <a:solidFill>
                  <a:srgbClr val="2C3E50"/>
                </a:solidFill>
                <a:latin typeface="Arial"/>
              </a:rPr>
              <a:t>•  Сценическое / выставочное оборудование</a:t>
            </a:r>
          </a:p>
          <a:p>
            <a:pPr algn="l"/>
            <a:r>
              <a:rPr lang="ru-RU" sz="700" b="0" dirty="0">
                <a:solidFill>
                  <a:srgbClr val="2C3E50"/>
                </a:solidFill>
                <a:latin typeface="Arial"/>
              </a:rPr>
              <a:t>•  Поставки и монтаж оборудования</a:t>
            </a:r>
          </a:p>
        </p:txBody>
      </p:sp>
      <p:cxnSp>
        <p:nvCxnSpPr>
          <p:cNvPr id="201" name="Connector 200"/>
          <p:cNvCxnSpPr>
            <a:cxnSpLocks/>
            <a:stCxn id="11" idx="3"/>
            <a:endCxn id="200" idx="1"/>
          </p:cNvCxnSpPr>
          <p:nvPr/>
        </p:nvCxnSpPr>
        <p:spPr>
          <a:xfrm>
            <a:off x="8092440" y="2720340"/>
            <a:ext cx="411480" cy="0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584</Words>
  <Application>Microsoft Office PowerPoint</Application>
  <PresentationFormat>Произвольный</PresentationFormat>
  <Paragraphs>128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Гусейнов Али Айдын Оглы</dc:creator>
  <cp:keywords/>
  <dc:description>generated using python-pptx</dc:description>
  <cp:lastModifiedBy>ALI</cp:lastModifiedBy>
  <cp:revision>12</cp:revision>
  <dcterms:created xsi:type="dcterms:W3CDTF">2013-01-27T09:14:16Z</dcterms:created>
  <dcterms:modified xsi:type="dcterms:W3CDTF">2026-08-03T12:49:02Z</dcterms:modified>
  <cp:category/>
</cp:coreProperties>
</file>