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264" y="-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4A145F54-1791-4051-BF71-EDAA7940F2D7}"/>
              </a:ext>
            </a:extLst>
          </p:cNvPr>
          <p:cNvSpPr/>
          <p:nvPr/>
        </p:nvSpPr>
        <p:spPr>
          <a:xfrm>
            <a:off x="434342" y="935416"/>
            <a:ext cx="13716000" cy="199704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ounded Rectangle 26">
            <a:extLst>
              <a:ext uri="{FF2B5EF4-FFF2-40B4-BE49-F238E27FC236}">
                <a16:creationId xmlns:a16="http://schemas.microsoft.com/office/drawing/2014/main" id="{B1DD7DBF-A156-45CB-8DBC-94A86DF64683}"/>
              </a:ext>
            </a:extLst>
          </p:cNvPr>
          <p:cNvSpPr/>
          <p:nvPr/>
        </p:nvSpPr>
        <p:spPr>
          <a:xfrm>
            <a:off x="434342" y="6545274"/>
            <a:ext cx="6473952" cy="1464863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0" name="Connector 22">
            <a:extLst>
              <a:ext uri="{FF2B5EF4-FFF2-40B4-BE49-F238E27FC236}">
                <a16:creationId xmlns:a16="http://schemas.microsoft.com/office/drawing/2014/main" id="{F0D3FF0A-E4DC-42AF-BBB6-9857EA992C8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0039132" y="3845967"/>
            <a:ext cx="206718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38912" y="164592"/>
            <a:ext cx="7458324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Укрупненная схема работы над проектом</a:t>
            </a:r>
            <a:endParaRPr sz="312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1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6212" y="932688"/>
            <a:ext cx="13716000" cy="482805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D83A2E"/>
                </a:solidFill>
                <a:latin typeface="Arial"/>
              </a:rPr>
              <a:t>Инвестор и собственник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112" y="1495108"/>
            <a:ext cx="8339328" cy="462855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0" rIns="91440" bIns="0" rtlCol="0" anchor="t">
            <a:spAutoFit/>
          </a:bodyPr>
          <a:lstStyle/>
          <a:p>
            <a:pPr algn="ctr"/>
            <a:r>
              <a:rPr lang="ru-RU" sz="1400" b="1" dirty="0">
                <a:solidFill>
                  <a:srgbClr val="D83A2E"/>
                </a:solidFill>
                <a:latin typeface="Arial"/>
              </a:rPr>
              <a:t>Совет акционеров</a:t>
            </a:r>
            <a:endParaRPr sz="1400" b="1" dirty="0">
              <a:solidFill>
                <a:srgbClr val="D83A2E"/>
              </a:solidFill>
              <a:latin typeface="Arial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Высший уровень принятия решений</a:t>
            </a:r>
            <a:endParaRPr sz="110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8" name="Connector 7"/>
          <p:cNvCxnSpPr>
            <a:cxnSpLocks/>
            <a:stCxn id="7" idx="2"/>
            <a:endCxn id="9" idx="0"/>
          </p:cNvCxnSpPr>
          <p:nvPr/>
        </p:nvCxnSpPr>
        <p:spPr>
          <a:xfrm>
            <a:off x="7351776" y="1957963"/>
            <a:ext cx="0" cy="20607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2112" y="2164042"/>
            <a:ext cx="8339328" cy="666512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0" rIns="91440" bIns="0" rtlCol="0" anchor="t">
            <a:spAutoFit/>
          </a:bodyPr>
          <a:lstStyle/>
          <a:p>
            <a:pPr algn="ctr"/>
            <a:r>
              <a:rPr lang="ru-RU" sz="1400" b="1" dirty="0">
                <a:solidFill>
                  <a:srgbClr val="D83A2E"/>
                </a:solidFill>
                <a:latin typeface="Arial"/>
              </a:rPr>
              <a:t>Внутренний функциональный заказчик:</a:t>
            </a:r>
            <a:endParaRPr sz="132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2C3E50"/>
                </a:solidFill>
                <a:latin typeface="Arial"/>
              </a:rPr>
              <a:t>CEO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Маркетинг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Инфраструктура</a:t>
            </a:r>
            <a:endParaRPr sz="120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Представитель банка на уровне принятия решений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формулирования задач от акционеров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  <a:endCxn id="13" idx="0"/>
          </p:cNvCxnSpPr>
          <p:nvPr/>
        </p:nvCxnSpPr>
        <p:spPr>
          <a:xfrm>
            <a:off x="1947672" y="2929735"/>
            <a:ext cx="1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14" idx="0"/>
          </p:cNvCxnSpPr>
          <p:nvPr/>
        </p:nvCxnSpPr>
        <p:spPr>
          <a:xfrm>
            <a:off x="5404104" y="2929735"/>
            <a:ext cx="0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16" idx="0"/>
          </p:cNvCxnSpPr>
          <p:nvPr/>
        </p:nvCxnSpPr>
        <p:spPr>
          <a:xfrm>
            <a:off x="8574786" y="2932464"/>
            <a:ext cx="1" cy="33742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Команда по созданию </a:t>
            </a:r>
            <a:r>
              <a:rPr lang="ru-RU" sz="1400" b="1" dirty="0" err="1">
                <a:solidFill>
                  <a:srgbClr val="1A527A"/>
                </a:solidFill>
                <a:latin typeface="Arial"/>
              </a:rPr>
              <a:t>иммерсивной</a:t>
            </a:r>
            <a:r>
              <a:rPr lang="ru-RU" sz="1400" b="1" dirty="0">
                <a:solidFill>
                  <a:srgbClr val="1A527A"/>
                </a:solidFill>
                <a:latin typeface="Arial"/>
              </a:rPr>
              <a:t> среды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lang="ru-RU" sz="11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Разработка экспозиции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 err="1">
                <a:solidFill>
                  <a:srgbClr val="2C3E50"/>
                </a:solidFill>
                <a:latin typeface="Arial"/>
              </a:rPr>
              <a:t>продакшен</a:t>
            </a:r>
            <a:endParaRPr sz="114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контента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мультимедиа оснащения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5344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Управление </a:t>
            </a:r>
          </a:p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продуктом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Обеспечивает концептуальную целостность</a:t>
            </a:r>
            <a:r>
              <a:rPr sz="1100" dirty="0">
                <a:solidFill>
                  <a:srgbClr val="2C3E50"/>
                </a:solidFill>
                <a:latin typeface="Arial"/>
              </a:rPr>
              <a:t>,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качество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последовательность проекта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456432" y="399592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83850" y="3269892"/>
            <a:ext cx="2581873" cy="474024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24000" rIns="91440" bIns="60960" rtlCol="0" anchor="t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Управление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реализацией</a:t>
            </a:r>
            <a:r>
              <a:rPr sz="1400" b="1" dirty="0">
                <a:solidFill>
                  <a:srgbClr val="2C333B"/>
                </a:solidFill>
                <a:latin typeface="Arial"/>
              </a:rPr>
              <a:t> /</a:t>
            </a:r>
          </a:p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Управляющая 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компания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Представитель Банка на</a:t>
            </a:r>
            <a:r>
              <a:rPr sz="11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операционном уровне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руководитель команды реализации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курирующий сроки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разрешения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бюджет</a:t>
            </a:r>
            <a:endParaRPr sz="108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45850" y="3269895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Технический заказчик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2C3E50"/>
                </a:solidFill>
                <a:latin typeface="Arial"/>
              </a:rPr>
              <a:t>(Project Management Contractor)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Генеральный подрядчик управления проектом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организующий процессы согласования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строительства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9" name="Connector 18"/>
          <p:cNvCxnSpPr>
            <a:cxnSpLocks/>
            <a:stCxn id="18" idx="2"/>
            <a:endCxn id="20" idx="0"/>
          </p:cNvCxnSpPr>
          <p:nvPr/>
        </p:nvCxnSpPr>
        <p:spPr>
          <a:xfrm>
            <a:off x="12220954" y="4422039"/>
            <a:ext cx="0" cy="641904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45850" y="5063943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Генеральный проектировщик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2C3E50"/>
                </a:solidFill>
                <a:latin typeface="Arial"/>
              </a:rPr>
              <a:t>(Architect of Record)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Перевод концепции в проектную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рабочую документацию </a:t>
            </a:r>
            <a:r>
              <a:rPr sz="1100" dirty="0">
                <a:solidFill>
                  <a:srgbClr val="2C3E50"/>
                </a:solidFill>
                <a:latin typeface="Arial"/>
              </a:rPr>
              <a:t>с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учетом нормативной базы</a:t>
            </a:r>
            <a:r>
              <a:rPr sz="1100" dirty="0">
                <a:solidFill>
                  <a:srgbClr val="2C3E50"/>
                </a:solidFill>
                <a:latin typeface="Arial"/>
              </a:rPr>
              <a:t>в РФ</a:t>
            </a:r>
          </a:p>
        </p:txBody>
      </p:sp>
      <p:cxnSp>
        <p:nvCxnSpPr>
          <p:cNvPr id="21" name="Connector 20"/>
          <p:cNvCxnSpPr>
            <a:cxnSpLocks/>
            <a:stCxn id="20" idx="2"/>
            <a:endCxn id="22" idx="0"/>
          </p:cNvCxnSpPr>
          <p:nvPr/>
        </p:nvCxnSpPr>
        <p:spPr>
          <a:xfrm>
            <a:off x="12220954" y="6216087"/>
            <a:ext cx="0" cy="641913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45850" y="6858000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Генеральный подрядчик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Отвечает за процессы строительства</a:t>
            </a:r>
            <a:endParaRPr sz="114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23" name="Connector 22"/>
          <p:cNvCxnSpPr>
            <a:cxnSpLocks/>
            <a:stCxn id="16" idx="3"/>
            <a:endCxn id="20" idx="1"/>
          </p:cNvCxnSpPr>
          <p:nvPr/>
        </p:nvCxnSpPr>
        <p:spPr>
          <a:xfrm>
            <a:off x="9865723" y="5640015"/>
            <a:ext cx="380127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" y="5209336"/>
            <a:ext cx="6473952" cy="1097280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Разработчики концепции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b="1" dirty="0">
                <a:solidFill>
                  <a:srgbClr val="1A527A"/>
                </a:solidFill>
                <a:latin typeface="Arial"/>
              </a:rPr>
              <a:t>(Lead Design Author)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Авторы архитектурного облика проекта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философии пространства</a:t>
            </a:r>
            <a:endParaRPr sz="108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4342" y="6545275"/>
            <a:ext cx="6473952" cy="570586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Разработчики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по другим направлениям</a:t>
            </a:r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1502" y="7233815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Дизайн </a:t>
            </a:r>
          </a:p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интерьеров</a:t>
            </a:r>
            <a:endParaRPr sz="1400" b="1" dirty="0">
              <a:solidFill>
                <a:srgbClr val="1A527A"/>
              </a:solidFill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38630" y="7233815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Благоустройство</a:t>
            </a:r>
            <a:endParaRPr sz="1400" b="1" dirty="0">
              <a:solidFill>
                <a:srgbClr val="1A527A"/>
              </a:solidFill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78326" y="7233815"/>
            <a:ext cx="1920240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Архитектурная </a:t>
            </a:r>
            <a:endParaRPr sz="1400" b="1" dirty="0">
              <a:solidFill>
                <a:srgbClr val="1A527A"/>
              </a:solidFill>
              <a:latin typeface="Arial"/>
            </a:endParaRPr>
          </a:p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подсветка</a:t>
            </a:r>
            <a:endParaRPr sz="1400" b="1" dirty="0">
              <a:solidFill>
                <a:srgbClr val="1A527A"/>
              </a:solidFill>
              <a:latin typeface="Arial"/>
            </a:endParaRPr>
          </a:p>
        </p:txBody>
      </p: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A0850C3A-17A9-4164-A46B-CAA9389A7704}"/>
              </a:ext>
            </a:extLst>
          </p:cNvPr>
          <p:cNvCxnSpPr>
            <a:cxnSpLocks/>
          </p:cNvCxnSpPr>
          <p:nvPr/>
        </p:nvCxnSpPr>
        <p:spPr>
          <a:xfrm flipH="1">
            <a:off x="3456432" y="417880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F72FF8B5-3EF5-49CE-92AA-D4BCF9B078D9}"/>
              </a:ext>
            </a:extLst>
          </p:cNvPr>
          <p:cNvCxnSpPr>
            <a:cxnSpLocks/>
          </p:cNvCxnSpPr>
          <p:nvPr/>
        </p:nvCxnSpPr>
        <p:spPr>
          <a:xfrm>
            <a:off x="6912864" y="4008120"/>
            <a:ext cx="37098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4">
            <a:extLst>
              <a:ext uri="{FF2B5EF4-FFF2-40B4-BE49-F238E27FC236}">
                <a16:creationId xmlns:a16="http://schemas.microsoft.com/office/drawing/2014/main" id="{216346F7-3424-4649-9671-126E3C90FD61}"/>
              </a:ext>
            </a:extLst>
          </p:cNvPr>
          <p:cNvCxnSpPr>
            <a:cxnSpLocks/>
          </p:cNvCxnSpPr>
          <p:nvPr/>
        </p:nvCxnSpPr>
        <p:spPr>
          <a:xfrm flipH="1">
            <a:off x="6912864" y="4191000"/>
            <a:ext cx="37098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4">
            <a:extLst>
              <a:ext uri="{FF2B5EF4-FFF2-40B4-BE49-F238E27FC236}">
                <a16:creationId xmlns:a16="http://schemas.microsoft.com/office/drawing/2014/main" id="{C37D14DA-CF28-4E6D-99CD-64F1E6D3C93F}"/>
              </a:ext>
            </a:extLst>
          </p:cNvPr>
          <p:cNvCxnSpPr>
            <a:cxnSpLocks/>
          </p:cNvCxnSpPr>
          <p:nvPr/>
        </p:nvCxnSpPr>
        <p:spPr>
          <a:xfrm flipV="1">
            <a:off x="5324856" y="4970678"/>
            <a:ext cx="0" cy="23865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4">
            <a:extLst>
              <a:ext uri="{FF2B5EF4-FFF2-40B4-BE49-F238E27FC236}">
                <a16:creationId xmlns:a16="http://schemas.microsoft.com/office/drawing/2014/main" id="{B205F3B7-8CC3-4072-8C8C-A5DD89DDB001}"/>
              </a:ext>
            </a:extLst>
          </p:cNvPr>
          <p:cNvCxnSpPr>
            <a:cxnSpLocks/>
          </p:cNvCxnSpPr>
          <p:nvPr/>
        </p:nvCxnSpPr>
        <p:spPr>
          <a:xfrm>
            <a:off x="5573269" y="4970678"/>
            <a:ext cx="0" cy="23865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14">
            <a:extLst>
              <a:ext uri="{FF2B5EF4-FFF2-40B4-BE49-F238E27FC236}">
                <a16:creationId xmlns:a16="http://schemas.microsoft.com/office/drawing/2014/main" id="{0F03DCC2-D9E8-4089-88BC-73A0FA898086}"/>
              </a:ext>
            </a:extLst>
          </p:cNvPr>
          <p:cNvCxnSpPr>
            <a:cxnSpLocks/>
          </p:cNvCxnSpPr>
          <p:nvPr/>
        </p:nvCxnSpPr>
        <p:spPr>
          <a:xfrm flipV="1">
            <a:off x="3546350" y="6306616"/>
            <a:ext cx="0" cy="2386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4">
            <a:extLst>
              <a:ext uri="{FF2B5EF4-FFF2-40B4-BE49-F238E27FC236}">
                <a16:creationId xmlns:a16="http://schemas.microsoft.com/office/drawing/2014/main" id="{5AFD1740-D6BF-4417-B2BE-7D172DF024F1}"/>
              </a:ext>
            </a:extLst>
          </p:cNvPr>
          <p:cNvCxnSpPr>
            <a:cxnSpLocks/>
          </p:cNvCxnSpPr>
          <p:nvPr/>
        </p:nvCxnSpPr>
        <p:spPr>
          <a:xfrm>
            <a:off x="3794763" y="6306616"/>
            <a:ext cx="0" cy="2386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4">
            <a:extLst>
              <a:ext uri="{FF2B5EF4-FFF2-40B4-BE49-F238E27FC236}">
                <a16:creationId xmlns:a16="http://schemas.microsoft.com/office/drawing/2014/main" id="{BAEA00BB-BFB3-4C1E-990A-98277D1BE9A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912864" y="5757976"/>
            <a:ext cx="37098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634A24D-B42B-4390-B0C1-6D3113053B32}"/>
              </a:ext>
            </a:extLst>
          </p:cNvPr>
          <p:cNvCxnSpPr>
            <a:cxnSpLocks/>
          </p:cNvCxnSpPr>
          <p:nvPr/>
        </p:nvCxnSpPr>
        <p:spPr>
          <a:xfrm>
            <a:off x="10039132" y="3845967"/>
            <a:ext cx="33308" cy="3588105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2">
            <a:extLst>
              <a:ext uri="{FF2B5EF4-FFF2-40B4-BE49-F238E27FC236}">
                <a16:creationId xmlns:a16="http://schemas.microsoft.com/office/drawing/2014/main" id="{28B33E12-F083-471B-A0F7-18EABD2B4D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10072440" y="7434072"/>
            <a:ext cx="17341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1D1D9739-AB1B-4F6B-80A9-9D222E3176F1}"/>
              </a:ext>
            </a:extLst>
          </p:cNvPr>
          <p:cNvSpPr/>
          <p:nvPr/>
        </p:nvSpPr>
        <p:spPr>
          <a:xfrm>
            <a:off x="10245849" y="3269895"/>
            <a:ext cx="3950207" cy="99821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400" b="1" dirty="0">
                <a:solidFill>
                  <a:srgbClr val="4B5563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438912" y="935415"/>
            <a:ext cx="13711430" cy="1997047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400" b="1" dirty="0">
                <a:solidFill>
                  <a:srgbClr val="2C333B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11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11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11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1100" b="0" dirty="0">
                <a:solidFill>
                  <a:srgbClr val="2C3E50"/>
                </a:solidFill>
                <a:latin typeface="Arial"/>
              </a:rPr>
              <a:t>   АГК, ТЭП, АГР, ПЗЗ, ГПЗУ, ГЗК, </a:t>
            </a:r>
            <a:r>
              <a:rPr lang="ru-RU" sz="1100" dirty="0" err="1">
                <a:solidFill>
                  <a:srgbClr val="2C3E50"/>
                </a:solidFill>
                <a:latin typeface="Arial"/>
              </a:rPr>
              <a:t>РнС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 / реконструкция</a:t>
            </a:r>
            <a:r>
              <a:rPr lang="ru-RU" sz="1100" b="0" dirty="0">
                <a:solidFill>
                  <a:srgbClr val="2C3E50"/>
                </a:solidFill>
                <a:latin typeface="Arial"/>
              </a:rPr>
              <a:t>  Организация тендеров и закупочных процедур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 Координация Концептуального куратора, Технического заказчика, генпроектировщика, генподрядчика и всех других участников проекта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 Отделка и оборудование 	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 Бюджет, сроки, качество, управление рисками, отчетность</a:t>
            </a:r>
          </a:p>
          <a:p>
            <a:endParaRPr lang="ru-RU" sz="11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40CB03-2D80-4D81-BE62-357FA1AA5CD6}"/>
              </a:ext>
            </a:extLst>
          </p:cNvPr>
          <p:cNvSpPr txBox="1"/>
          <p:nvPr/>
        </p:nvSpPr>
        <p:spPr>
          <a:xfrm>
            <a:off x="438912" y="164592"/>
            <a:ext cx="5780172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Функциональный контур УК</a:t>
            </a:r>
            <a:endParaRPr sz="14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7285958" y="3264588"/>
            <a:ext cx="2581873" cy="3012034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400" b="1" dirty="0">
                <a:solidFill>
                  <a:srgbClr val="6C348D"/>
                </a:solidFill>
                <a:latin typeface="Arial"/>
              </a:rPr>
              <a:t>ОТДЕЛКА (</a:t>
            </a:r>
            <a:r>
              <a:rPr lang="ru-RU" sz="1400" b="1" dirty="0" err="1">
                <a:solidFill>
                  <a:srgbClr val="6C348D"/>
                </a:solidFill>
                <a:latin typeface="Arial"/>
              </a:rPr>
              <a:t>Fit-Out</a:t>
            </a:r>
            <a:r>
              <a:rPr lang="ru-RU" sz="1400" b="1" dirty="0">
                <a:solidFill>
                  <a:srgbClr val="6C348D"/>
                </a:solidFill>
                <a:latin typeface="Arial"/>
              </a:rPr>
              <a:t>) И ОБОРУДОВАНИЕ МУЛЬТИМЕДИЙНОГО КОМПЛЕКСА</a:t>
            </a:r>
            <a:endParaRPr lang="ru-RU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11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700" dirty="0">
                <a:solidFill>
                  <a:srgbClr val="2C3E50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63" name="Rounded Rectangle 51">
            <a:extLst>
              <a:ext uri="{FF2B5EF4-FFF2-40B4-BE49-F238E27FC236}">
                <a16:creationId xmlns:a16="http://schemas.microsoft.com/office/drawing/2014/main" id="{9A058531-4D0C-4CEE-A088-A5B25BADD5D5}"/>
              </a:ext>
            </a:extLst>
          </p:cNvPr>
          <p:cNvSpPr/>
          <p:nvPr/>
        </p:nvSpPr>
        <p:spPr>
          <a:xfrm>
            <a:off x="10253788" y="4522329"/>
            <a:ext cx="3950206" cy="998225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400" b="1" dirty="0">
                <a:solidFill>
                  <a:srgbClr val="4B5563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Архитектор: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заказчик: функции в пределах требований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ГрК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РФ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4" name="Rounded Rectangle 52">
            <a:extLst>
              <a:ext uri="{FF2B5EF4-FFF2-40B4-BE49-F238E27FC236}">
                <a16:creationId xmlns:a16="http://schemas.microsoft.com/office/drawing/2014/main" id="{4B6E7635-9FF4-421C-91AC-136AA0F03DEC}"/>
              </a:ext>
            </a:extLst>
          </p:cNvPr>
          <p:cNvSpPr/>
          <p:nvPr/>
        </p:nvSpPr>
        <p:spPr>
          <a:xfrm>
            <a:off x="10253788" y="5774771"/>
            <a:ext cx="3950206" cy="99821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400" b="1" dirty="0">
                <a:solidFill>
                  <a:srgbClr val="4B5563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5" name="Rounded Rectangle 53">
            <a:extLst>
              <a:ext uri="{FF2B5EF4-FFF2-40B4-BE49-F238E27FC236}">
                <a16:creationId xmlns:a16="http://schemas.microsoft.com/office/drawing/2014/main" id="{556CDDC5-9BC4-4DE0-88ED-44187DC13F6D}"/>
              </a:ext>
            </a:extLst>
          </p:cNvPr>
          <p:cNvSpPr/>
          <p:nvPr/>
        </p:nvSpPr>
        <p:spPr>
          <a:xfrm>
            <a:off x="10249551" y="7008591"/>
            <a:ext cx="3954443" cy="99821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400" b="1" dirty="0">
                <a:solidFill>
                  <a:srgbClr val="4B5563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D0D19BDE-12BD-4CAA-B4F2-9D4B65C5F4B7}"/>
              </a:ext>
            </a:extLst>
          </p:cNvPr>
          <p:cNvCxnSpPr>
            <a:cxnSpLocks/>
          </p:cNvCxnSpPr>
          <p:nvPr/>
        </p:nvCxnSpPr>
        <p:spPr>
          <a:xfrm>
            <a:off x="3671319" y="2932462"/>
            <a:ext cx="0" cy="337433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86E1701-A1A6-4374-83D4-6A37E8550D84}"/>
              </a:ext>
            </a:extLst>
          </p:cNvPr>
          <p:cNvCxnSpPr>
            <a:cxnSpLocks/>
            <a:endCxn id="124" idx="0"/>
          </p:cNvCxnSpPr>
          <p:nvPr/>
        </p:nvCxnSpPr>
        <p:spPr>
          <a:xfrm>
            <a:off x="8576895" y="2927155"/>
            <a:ext cx="0" cy="337433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3">
            <a:extLst>
              <a:ext uri="{FF2B5EF4-FFF2-40B4-BE49-F238E27FC236}">
                <a16:creationId xmlns:a16="http://schemas.microsoft.com/office/drawing/2014/main" id="{7600C5ED-2B12-48F0-B21B-1A16E8A9743F}"/>
              </a:ext>
            </a:extLst>
          </p:cNvPr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2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AFC35172-B6F8-4682-B77B-A1661D00E5AB}"/>
              </a:ext>
            </a:extLst>
          </p:cNvPr>
          <p:cNvSpPr/>
          <p:nvPr/>
        </p:nvSpPr>
        <p:spPr>
          <a:xfrm>
            <a:off x="426064" y="3269896"/>
            <a:ext cx="6473951" cy="301203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3" name="Rounded Rectangle 8">
            <a:extLst>
              <a:ext uri="{FF2B5EF4-FFF2-40B4-BE49-F238E27FC236}">
                <a16:creationId xmlns:a16="http://schemas.microsoft.com/office/drawing/2014/main" id="{49675886-786F-4249-8B67-56DC21D242B8}"/>
              </a:ext>
            </a:extLst>
          </p:cNvPr>
          <p:cNvSpPr/>
          <p:nvPr/>
        </p:nvSpPr>
        <p:spPr>
          <a:xfrm>
            <a:off x="426063" y="3269895"/>
            <a:ext cx="6473945" cy="786220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ТЕХНИЧЕСКИЙ ЗАКАЗЧИК</a:t>
            </a:r>
            <a:endParaRPr lang="ru-RU" sz="1400" dirty="0">
              <a:solidFill>
                <a:srgbClr val="2C3E50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ПИР, СМР, СК, взаимодействие с надзором, ЗОС, Акт ввода </a:t>
            </a:r>
          </a:p>
        </p:txBody>
      </p:sp>
      <p:sp>
        <p:nvSpPr>
          <p:cNvPr id="44" name="Rounded Rectangle 22">
            <a:extLst>
              <a:ext uri="{FF2B5EF4-FFF2-40B4-BE49-F238E27FC236}">
                <a16:creationId xmlns:a16="http://schemas.microsoft.com/office/drawing/2014/main" id="{6B4CE401-EA02-4717-8C43-8A848ACCA0A3}"/>
              </a:ext>
            </a:extLst>
          </p:cNvPr>
          <p:cNvSpPr/>
          <p:nvPr/>
        </p:nvSpPr>
        <p:spPr>
          <a:xfrm>
            <a:off x="1824915" y="4201224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СТУ МЧС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7" name="Rounded Rectangle 23">
            <a:extLst>
              <a:ext uri="{FF2B5EF4-FFF2-40B4-BE49-F238E27FC236}">
                <a16:creationId xmlns:a16="http://schemas.microsoft.com/office/drawing/2014/main" id="{7B711A1B-CF94-44C8-93ED-8412103B9D1A}"/>
              </a:ext>
            </a:extLst>
          </p:cNvPr>
          <p:cNvSpPr/>
          <p:nvPr/>
        </p:nvSpPr>
        <p:spPr>
          <a:xfrm>
            <a:off x="3130559" y="4198025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8" name="Rounded Rectangle 24">
            <a:extLst>
              <a:ext uri="{FF2B5EF4-FFF2-40B4-BE49-F238E27FC236}">
                <a16:creationId xmlns:a16="http://schemas.microsoft.com/office/drawing/2014/main" id="{C0CE6699-9DE5-48C3-8F93-97735E5BF319}"/>
              </a:ext>
            </a:extLst>
          </p:cNvPr>
          <p:cNvSpPr/>
          <p:nvPr/>
        </p:nvSpPr>
        <p:spPr>
          <a:xfrm>
            <a:off x="4436472" y="4202137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9" name="Rounded Rectangle 25">
            <a:extLst>
              <a:ext uri="{FF2B5EF4-FFF2-40B4-BE49-F238E27FC236}">
                <a16:creationId xmlns:a16="http://schemas.microsoft.com/office/drawing/2014/main" id="{5E622E04-D724-4DAF-B403-EAF14F0795C4}"/>
              </a:ext>
            </a:extLst>
          </p:cNvPr>
          <p:cNvSpPr/>
          <p:nvPr/>
        </p:nvSpPr>
        <p:spPr>
          <a:xfrm>
            <a:off x="5741847" y="4202137"/>
            <a:ext cx="1064951" cy="1933769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7A551344-B3D2-4B0A-95FE-3AE0BB942B90}"/>
              </a:ext>
            </a:extLst>
          </p:cNvPr>
          <p:cNvSpPr/>
          <p:nvPr/>
        </p:nvSpPr>
        <p:spPr>
          <a:xfrm>
            <a:off x="508622" y="4201224"/>
            <a:ext cx="1075600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Дизайн и концепция интерьеров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84" name="Rounded Rectangle 38">
            <a:extLst>
              <a:ext uri="{FF2B5EF4-FFF2-40B4-BE49-F238E27FC236}">
                <a16:creationId xmlns:a16="http://schemas.microsoft.com/office/drawing/2014/main" id="{3C3CEB3A-5FB8-4AE6-95BC-BEE19AD5F1A7}"/>
              </a:ext>
            </a:extLst>
          </p:cNvPr>
          <p:cNvSpPr/>
          <p:nvPr/>
        </p:nvSpPr>
        <p:spPr>
          <a:xfrm>
            <a:off x="428777" y="6546130"/>
            <a:ext cx="9439053" cy="1464863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endParaRPr sz="8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87" name="Rounded Rectangle 38">
            <a:extLst>
              <a:ext uri="{FF2B5EF4-FFF2-40B4-BE49-F238E27FC236}">
                <a16:creationId xmlns:a16="http://schemas.microsoft.com/office/drawing/2014/main" id="{F5756C1D-3C47-435F-BF20-3A1C3A1BD272}"/>
              </a:ext>
            </a:extLst>
          </p:cNvPr>
          <p:cNvSpPr/>
          <p:nvPr/>
        </p:nvSpPr>
        <p:spPr>
          <a:xfrm>
            <a:off x="525123" y="6923520"/>
            <a:ext cx="1423259" cy="100524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700" b="1" dirty="0">
                <a:solidFill>
                  <a:srgbClr val="234A34"/>
                </a:solidFill>
                <a:latin typeface="Arial"/>
              </a:rPr>
              <a:t>ДЕПАРТАМЕНТ ГРАДОСТРОИТЕЛЬНОЙ ПОЛИТИКИ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0" name="Rounded Rectangle 40">
            <a:extLst>
              <a:ext uri="{FF2B5EF4-FFF2-40B4-BE49-F238E27FC236}">
                <a16:creationId xmlns:a16="http://schemas.microsoft.com/office/drawing/2014/main" id="{B0AA94FF-C0E7-4710-815F-0E710DF54DC2}"/>
              </a:ext>
            </a:extLst>
          </p:cNvPr>
          <p:cNvSpPr/>
          <p:nvPr/>
        </p:nvSpPr>
        <p:spPr>
          <a:xfrm>
            <a:off x="3654567" y="6921774"/>
            <a:ext cx="1423259" cy="1005241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700" b="1" dirty="0">
                <a:solidFill>
                  <a:srgbClr val="234A34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700" b="1" dirty="0">
                <a:solidFill>
                  <a:srgbClr val="234A34"/>
                </a:solidFill>
                <a:latin typeface="Arial"/>
              </a:rPr>
              <a:t>ГЗК</a:t>
            </a:r>
            <a:r>
              <a:rPr lang="ru-RU" sz="700" b="1" dirty="0">
                <a:solidFill>
                  <a:srgbClr val="234A34"/>
                </a:solidFill>
                <a:latin typeface="Arial"/>
              </a:rPr>
              <a:t>)</a:t>
            </a:r>
            <a:endParaRPr sz="7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АГР, ТЭП, ПЗЗ, ГПЗУ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1" name="Rounded Rectangle 42">
            <a:extLst>
              <a:ext uri="{FF2B5EF4-FFF2-40B4-BE49-F238E27FC236}">
                <a16:creationId xmlns:a16="http://schemas.microsoft.com/office/drawing/2014/main" id="{6814DC7C-999C-474A-B5CF-21FEE60789E4}"/>
              </a:ext>
            </a:extLst>
          </p:cNvPr>
          <p:cNvSpPr/>
          <p:nvPr/>
        </p:nvSpPr>
        <p:spPr>
          <a:xfrm>
            <a:off x="5219289" y="6921774"/>
            <a:ext cx="1423259" cy="1003493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700" b="1" dirty="0">
                <a:solidFill>
                  <a:srgbClr val="234A34"/>
                </a:solidFill>
                <a:latin typeface="Arial"/>
              </a:rPr>
              <a:t>ДЕПАРТАМЕНТ КУЛЬТУРНОГО НАСЛЕДИЯ</a:t>
            </a:r>
            <a:endParaRPr sz="7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2" name="Rounded Rectangle 44">
            <a:extLst>
              <a:ext uri="{FF2B5EF4-FFF2-40B4-BE49-F238E27FC236}">
                <a16:creationId xmlns:a16="http://schemas.microsoft.com/office/drawing/2014/main" id="{84E44F8B-6D4A-417F-9FC1-C84F01BD43CF}"/>
              </a:ext>
            </a:extLst>
          </p:cNvPr>
          <p:cNvSpPr/>
          <p:nvPr/>
        </p:nvSpPr>
        <p:spPr>
          <a:xfrm>
            <a:off x="6784011" y="6920390"/>
            <a:ext cx="1423259" cy="1003493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700" b="1" dirty="0">
                <a:solidFill>
                  <a:srgbClr val="234A34"/>
                </a:solidFill>
                <a:latin typeface="Arial"/>
              </a:rPr>
              <a:t>МОСГОСЭКСПЕРТИЗА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3" name="Rounded Rectangle 46">
            <a:extLst>
              <a:ext uri="{FF2B5EF4-FFF2-40B4-BE49-F238E27FC236}">
                <a16:creationId xmlns:a16="http://schemas.microsoft.com/office/drawing/2014/main" id="{F8D50B2D-1D94-4C05-9D09-E68F01FCC0F2}"/>
              </a:ext>
            </a:extLst>
          </p:cNvPr>
          <p:cNvSpPr/>
          <p:nvPr/>
        </p:nvSpPr>
        <p:spPr>
          <a:xfrm>
            <a:off x="8348733" y="6920390"/>
            <a:ext cx="1423259" cy="100524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700" b="1" dirty="0">
                <a:solidFill>
                  <a:srgbClr val="234A34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РнР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4" name="Rounded Rectangle 48">
            <a:extLst>
              <a:ext uri="{FF2B5EF4-FFF2-40B4-BE49-F238E27FC236}">
                <a16:creationId xmlns:a16="http://schemas.microsoft.com/office/drawing/2014/main" id="{E15E6982-6286-47E5-8FC5-45FF54ACBE1F}"/>
              </a:ext>
            </a:extLst>
          </p:cNvPr>
          <p:cNvSpPr/>
          <p:nvPr/>
        </p:nvSpPr>
        <p:spPr>
          <a:xfrm>
            <a:off x="2089845" y="6923520"/>
            <a:ext cx="1423259" cy="1003495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700" b="1" dirty="0">
                <a:solidFill>
                  <a:srgbClr val="234A34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5" name="Rounded Rectangle 38">
            <a:extLst>
              <a:ext uri="{FF2B5EF4-FFF2-40B4-BE49-F238E27FC236}">
                <a16:creationId xmlns:a16="http://schemas.microsoft.com/office/drawing/2014/main" id="{85D29C19-52CC-4097-92C8-B68F45F03F73}"/>
              </a:ext>
            </a:extLst>
          </p:cNvPr>
          <p:cNvSpPr/>
          <p:nvPr/>
        </p:nvSpPr>
        <p:spPr>
          <a:xfrm>
            <a:off x="426063" y="6546129"/>
            <a:ext cx="9441862" cy="288899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1400" b="1" dirty="0">
                <a:solidFill>
                  <a:srgbClr val="234A34"/>
                </a:solidFill>
                <a:latin typeface="Arial"/>
              </a:rPr>
              <a:t>СОГЛАСОВАТЕЛЬНЫЙ КОНТУР</a:t>
            </a:r>
            <a:endParaRPr sz="1400" b="1" dirty="0">
              <a:solidFill>
                <a:srgbClr val="D354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574</Words>
  <Application>Microsoft Office PowerPoint</Application>
  <PresentationFormat>Произвольный</PresentationFormat>
  <Paragraphs>146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143</cp:revision>
  <cp:lastPrinted>2026-08-10T10:12:23Z</cp:lastPrinted>
  <dcterms:created xsi:type="dcterms:W3CDTF">2013-01-27T09:14:16Z</dcterms:created>
  <dcterms:modified xsi:type="dcterms:W3CDTF">2026-08-12T08:29:07Z</dcterms:modified>
  <cp:category/>
</cp:coreProperties>
</file>