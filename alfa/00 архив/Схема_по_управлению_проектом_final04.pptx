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1A1A1A"/>
                </a:solidFill>
                <a:latin typeface="Calibri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25728" y="109728"/>
            <a:ext cx="277640" cy="3139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4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E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FFFFFF"/>
                </a:solidFill>
                <a:latin typeface="Calibri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7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A1A1A"/>
                </a:solidFill>
                <a:latin typeface="Calibri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1A1A1A"/>
                </a:solidFill>
                <a:latin typeface="Calibri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7C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1A1A1A"/>
                </a:solidFill>
                <a:latin typeface="Calibri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1A1A1A"/>
                </a:solidFill>
                <a:latin typeface="Calibri"/>
              </a:rPr>
              <a:t>CEO </a:t>
            </a:r>
            <a:r>
              <a:rPr lang="ru-RU" sz="1200" dirty="0">
                <a:solidFill>
                  <a:srgbClr val="1A1A1A"/>
                </a:solidFill>
                <a:latin typeface="Calibri"/>
              </a:rPr>
              <a:t>Маркетинг</a:t>
            </a:r>
            <a:r>
              <a:rPr sz="1200" dirty="0">
                <a:solidFill>
                  <a:srgbClr val="1A1A1A"/>
                </a:solidFill>
                <a:latin typeface="Calibri"/>
              </a:rPr>
              <a:t>, </a:t>
            </a:r>
            <a:r>
              <a:rPr lang="ru-RU" sz="1200" dirty="0">
                <a:solidFill>
                  <a:srgbClr val="1A1A1A"/>
                </a:solidFill>
                <a:latin typeface="Calibri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1A1A1A"/>
                </a:solidFill>
                <a:latin typeface="Calibri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1A1A1A"/>
                </a:solidFill>
                <a:latin typeface="Calibri"/>
              </a:rPr>
              <a:t>и </a:t>
            </a:r>
            <a:r>
              <a:rPr lang="ru-RU" sz="1020" dirty="0">
                <a:solidFill>
                  <a:srgbClr val="1A1A1A"/>
                </a:solidFill>
                <a:latin typeface="Calibri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1F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Команда по созданию </a:t>
            </a:r>
            <a:r>
              <a:rPr lang="ru-RU" sz="1440" b="1" dirty="0" err="1">
                <a:solidFill>
                  <a:srgbClr val="FFFFFF"/>
                </a:solidFill>
                <a:latin typeface="Calibri"/>
              </a:rPr>
              <a:t>иммерсивной</a:t>
            </a:r>
            <a:r>
              <a:rPr lang="ru-RU" sz="1440" b="1" dirty="0">
                <a:solidFill>
                  <a:srgbClr val="FFFFFF"/>
                </a:solidFill>
                <a:latin typeface="Calibri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FFFFFF"/>
                </a:solidFill>
                <a:latin typeface="Calibri"/>
              </a:rPr>
              <a:t>Разработка экспозиции</a:t>
            </a:r>
            <a:r>
              <a:rPr sz="114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ru-RU" sz="1140" dirty="0" err="1">
                <a:solidFill>
                  <a:srgbClr val="FFFFFF"/>
                </a:solidFill>
                <a:latin typeface="Calibri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FFFFFF"/>
                </a:solidFill>
                <a:latin typeface="Calibri"/>
              </a:rPr>
              <a:t>контента </a:t>
            </a:r>
            <a:r>
              <a:rPr sz="1140" dirty="0">
                <a:solidFill>
                  <a:srgbClr val="FFFFFF"/>
                </a:solidFill>
                <a:latin typeface="Calibri"/>
              </a:rPr>
              <a:t>и </a:t>
            </a:r>
            <a:r>
              <a:rPr lang="ru-RU" sz="1140" dirty="0">
                <a:solidFill>
                  <a:srgbClr val="FFFFFF"/>
                </a:solidFill>
                <a:latin typeface="Calibri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1F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FFFFFF"/>
                </a:solidFill>
                <a:latin typeface="Calibri"/>
              </a:rPr>
              <a:t>Обеспечивает концептуальную целостность</a:t>
            </a:r>
            <a:r>
              <a:rPr sz="1140" dirty="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/>
            <a:r>
              <a:rPr lang="ru-RU" sz="1140" dirty="0">
                <a:solidFill>
                  <a:srgbClr val="FFFFFF"/>
                </a:solidFill>
                <a:latin typeface="Calibri"/>
              </a:rPr>
              <a:t>качество </a:t>
            </a:r>
            <a:r>
              <a:rPr sz="1140" dirty="0">
                <a:solidFill>
                  <a:srgbClr val="FFFFFF"/>
                </a:solidFill>
                <a:latin typeface="Calibri"/>
              </a:rPr>
              <a:t>и </a:t>
            </a:r>
            <a:r>
              <a:rPr lang="ru-RU" sz="1140" dirty="0">
                <a:solidFill>
                  <a:srgbClr val="FFFFFF"/>
                </a:solidFill>
                <a:latin typeface="Calibri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реализацией</a:t>
            </a:r>
            <a:r>
              <a:rPr sz="1440" b="1" dirty="0">
                <a:solidFill>
                  <a:srgbClr val="FFFFFF"/>
                </a:solidFill>
                <a:latin typeface="Calibri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FFFFFF"/>
                </a:solidFill>
                <a:latin typeface="Calibri"/>
              </a:rPr>
              <a:t>Представитель Банка на</a:t>
            </a:r>
            <a:r>
              <a:rPr sz="1080" dirty="0">
                <a:solidFill>
                  <a:srgbClr val="FFFFFF"/>
                </a:solidFill>
                <a:latin typeface="Calibri"/>
              </a:rPr>
              <a:t> </a:t>
            </a:r>
            <a:r>
              <a:rPr lang="ru-RU" sz="1080" dirty="0">
                <a:solidFill>
                  <a:srgbClr val="FFFFFF"/>
                </a:solidFill>
                <a:latin typeface="Calibri"/>
              </a:rPr>
              <a:t>операционном уровне </a:t>
            </a:r>
            <a:r>
              <a:rPr sz="1080" dirty="0">
                <a:solidFill>
                  <a:srgbClr val="FFFFFF"/>
                </a:solidFill>
                <a:latin typeface="Calibri"/>
              </a:rPr>
              <a:t>и </a:t>
            </a:r>
            <a:r>
              <a:rPr lang="ru-RU" sz="1080" dirty="0">
                <a:solidFill>
                  <a:srgbClr val="FFFFFF"/>
                </a:solidFill>
                <a:latin typeface="Calibri"/>
              </a:rPr>
              <a:t>руководитель команды реализации</a:t>
            </a:r>
            <a:r>
              <a:rPr sz="108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ru-RU" sz="1080" dirty="0">
                <a:solidFill>
                  <a:srgbClr val="FFFFFF"/>
                </a:solidFill>
                <a:latin typeface="Calibri"/>
              </a:rPr>
              <a:t>курирующий сроки</a:t>
            </a:r>
            <a:r>
              <a:rPr sz="1080" dirty="0">
                <a:solidFill>
                  <a:srgbClr val="FFFFFF"/>
                </a:solidFill>
                <a:latin typeface="Calibri"/>
              </a:rPr>
              <a:t>, </a:t>
            </a:r>
            <a:r>
              <a:rPr lang="ru-RU" sz="1080" dirty="0">
                <a:solidFill>
                  <a:srgbClr val="FFFFFF"/>
                </a:solidFill>
                <a:latin typeface="Calibri"/>
              </a:rPr>
              <a:t>разрешения </a:t>
            </a:r>
            <a:r>
              <a:rPr sz="1080" dirty="0">
                <a:solidFill>
                  <a:srgbClr val="FFFFFF"/>
                </a:solidFill>
                <a:latin typeface="Calibri"/>
              </a:rPr>
              <a:t>и </a:t>
            </a:r>
            <a:r>
              <a:rPr lang="ru-RU" sz="1080" dirty="0">
                <a:solidFill>
                  <a:srgbClr val="FFFFFF"/>
                </a:solidFill>
                <a:latin typeface="Calibri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1A1A1A"/>
                </a:solidFill>
                <a:latin typeface="Calibri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1A1A1A"/>
                </a:solidFill>
                <a:latin typeface="Calibri"/>
              </a:rPr>
              <a:t>Генеральный подрядчик управления проектом</a:t>
            </a:r>
            <a:r>
              <a:rPr sz="1020" dirty="0">
                <a:solidFill>
                  <a:srgbClr val="1A1A1A"/>
                </a:solidFill>
                <a:latin typeface="Calibri"/>
              </a:rPr>
              <a:t>, </a:t>
            </a:r>
            <a:r>
              <a:rPr lang="ru-RU" sz="1020" dirty="0">
                <a:solidFill>
                  <a:srgbClr val="1A1A1A"/>
                </a:solidFill>
                <a:latin typeface="Calibri"/>
              </a:rPr>
              <a:t>организующий процессы согласования </a:t>
            </a:r>
            <a:r>
              <a:rPr sz="1020" dirty="0">
                <a:solidFill>
                  <a:srgbClr val="1A1A1A"/>
                </a:solidFill>
                <a:latin typeface="Calibri"/>
              </a:rPr>
              <a:t>и </a:t>
            </a:r>
            <a:r>
              <a:rPr lang="ru-RU" sz="1020" dirty="0">
                <a:solidFill>
                  <a:srgbClr val="1A1A1A"/>
                </a:solidFill>
                <a:latin typeface="Calibri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1A1A1A"/>
                </a:solidFill>
                <a:latin typeface="Calibri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1A1A1A"/>
                </a:solidFill>
                <a:latin typeface="Calibri"/>
              </a:rPr>
              <a:t>Перевод концепции в проектную </a:t>
            </a:r>
            <a:r>
              <a:rPr sz="1020" dirty="0">
                <a:solidFill>
                  <a:srgbClr val="1A1A1A"/>
                </a:solidFill>
                <a:latin typeface="Calibri"/>
              </a:rPr>
              <a:t>и </a:t>
            </a:r>
            <a:r>
              <a:rPr lang="ru-RU" sz="1020" dirty="0">
                <a:solidFill>
                  <a:srgbClr val="1A1A1A"/>
                </a:solidFill>
                <a:latin typeface="Calibri"/>
              </a:rPr>
              <a:t>рабочую документацию </a:t>
            </a:r>
            <a:r>
              <a:rPr sz="1020" dirty="0">
                <a:solidFill>
                  <a:srgbClr val="1A1A1A"/>
                </a:solidFill>
                <a:latin typeface="Calibri"/>
              </a:rPr>
              <a:t>с </a:t>
            </a:r>
            <a:r>
              <a:rPr lang="ru-RU" sz="1020" dirty="0">
                <a:solidFill>
                  <a:srgbClr val="1A1A1A"/>
                </a:solidFill>
                <a:latin typeface="Calibri"/>
              </a:rPr>
              <a:t>учетом нормативной базы</a:t>
            </a:r>
            <a:r>
              <a:rPr sz="1020" dirty="0">
                <a:solidFill>
                  <a:srgbClr val="1A1A1A"/>
                </a:solidFill>
                <a:latin typeface="Calibri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1A1A1A"/>
                </a:solidFill>
                <a:latin typeface="Calibri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1A1A1A"/>
                </a:solidFill>
                <a:latin typeface="Calibri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1A1A1A"/>
                </a:solidFill>
                <a:latin typeface="Calibri"/>
              </a:rPr>
              <a:t>Авторы архитектурного облика проекта </a:t>
            </a:r>
            <a:r>
              <a:rPr sz="1080" dirty="0">
                <a:solidFill>
                  <a:srgbClr val="1A1A1A"/>
                </a:solidFill>
                <a:latin typeface="Calibri"/>
              </a:rPr>
              <a:t>и </a:t>
            </a:r>
            <a:r>
              <a:rPr lang="ru-RU" sz="1080" dirty="0">
                <a:solidFill>
                  <a:srgbClr val="1A1A1A"/>
                </a:solidFill>
                <a:latin typeface="Calibri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1A1A1A"/>
                </a:solidFill>
                <a:latin typeface="Calibri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333333"/>
                </a:solidFill>
                <a:latin typeface="Calibri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333333"/>
                </a:solidFill>
                <a:latin typeface="Calibri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333333"/>
                </a:solidFill>
                <a:latin typeface="Calibri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333333"/>
                </a:solidFill>
                <a:latin typeface="Calibri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333333"/>
                </a:solidFill>
                <a:latin typeface="Calibri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 dirty="0">
                <a:solidFill>
                  <a:srgbClr val="6C348D"/>
                </a:solidFill>
                <a:latin typeface="Arial"/>
              </a:rPr>
              <a:t>ОТЕЛКА (</a:t>
            </a:r>
            <a:r>
              <a:rPr lang="ru-RU" sz="1200" b="1" dirty="0" err="1">
                <a:solidFill>
                  <a:srgbClr val="6C348D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6C348D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chemeClr val="tx1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6C348D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FEF9E7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7D6608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7D6608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Calibri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591</Words>
  <Application>Microsoft Office PowerPoint</Application>
  <PresentationFormat>Произвольный</PresentationFormat>
  <Paragraphs>154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140</cp:revision>
  <cp:lastPrinted>2026-08-10T10:12:23Z</cp:lastPrinted>
  <dcterms:created xsi:type="dcterms:W3CDTF">2013-01-27T09:14:16Z</dcterms:created>
  <dcterms:modified xsi:type="dcterms:W3CDTF">2026-08-12T06:05:14Z</dcterms:modified>
  <cp:category/>
</cp:coreProperties>
</file>