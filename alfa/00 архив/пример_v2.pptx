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1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768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13782" y="143202"/>
            <a:ext cx="45177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2C3E50"/>
                </a:solidFill>
                <a:latin typeface="Arial"/>
              </a:rPr>
              <a:t>СТРУКТУРА УПРАВЛЕНИЯ ПРОЕКТОМ</a:t>
            </a:r>
            <a:endParaRPr lang="ru-RU" sz="1800" b="1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1200" b="0" dirty="0">
                <a:solidFill>
                  <a:srgbClr val="5D6D7E"/>
                </a:solidFill>
                <a:latin typeface="Arial"/>
              </a:rPr>
              <a:t>Объект реконструкции → мультимедийный центр, г. Москва</a:t>
            </a:r>
          </a:p>
          <a:p>
            <a:pPr algn="l"/>
            <a:endParaRPr sz="1800" b="1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920240" y="749795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C0392B"/>
                </a:solidFill>
                <a:latin typeface="Arial"/>
              </a:rPr>
              <a:t>ИНВЕСТОР / СОБСТВЕННИК / ЗАКАЗЧИК</a:t>
            </a:r>
          </a:p>
          <a:p>
            <a:pPr algn="ctr"/>
            <a:endParaRPr sz="800" b="0" dirty="0">
              <a:solidFill>
                <a:srgbClr val="5D6D7E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Стратегические решения и утверждение ключевых параметров проекта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Утверждение бюджета, сроков, договорной модели и участников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Имущественный и правовой контур ( в т.ч. Доходный дом / РПИ / юрлица Заказчика)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Юридическое сопровождение и защита интересов Заказчика</a:t>
            </a:r>
            <a:endParaRPr sz="8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98080" y="749795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C0392B"/>
                </a:solidFill>
                <a:latin typeface="Arial"/>
              </a:rPr>
              <a:t>ИНВЕСТИЦИОННЫЙ / КООРДИНАЦИОННЫЙ КОМИТЕТ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Ключевые решения по проекту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Контроль бюджета, сроков и рисков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Утверждение существенных изменений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Утверждение тендеров по выбору исполнителей и закупкам на проект</a:t>
            </a:r>
            <a:endParaRPr lang="ru-RU" sz="8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211330" y="2002523"/>
            <a:ext cx="4206240" cy="2596908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1A527A"/>
                </a:solidFill>
                <a:latin typeface="Arial"/>
              </a:rPr>
              <a:t>УПРАВЛЯЮЩАЯ КОМПАНИЯ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Организация практической реализации проекта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Градостроительный аудит и разрешительная стратегия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   ПЗЗ, ППЗ, ГЗК, АГР, ИРД, </a:t>
            </a:r>
            <a:r>
              <a:rPr lang="ru-RU" sz="900" b="0" dirty="0" err="1">
                <a:solidFill>
                  <a:srgbClr val="2C3E50"/>
                </a:solidFill>
                <a:latin typeface="Arial"/>
              </a:rPr>
              <a:t>РпС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 / реконструкция</a:t>
            </a:r>
            <a:endParaRPr lang="ru-RU"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Организация тендеров и закупочных процедур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Координация технического заказчика, 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генпроектировщика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,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   генподрядчика и других участников проекта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Бюджет, сроки, качество, риски, отчетность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Организация строительства, ЗОС, разрешение на ввод</a:t>
            </a:r>
          </a:p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04160" y="5040963"/>
            <a:ext cx="11595083" cy="306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954125" y="5315313"/>
            <a:ext cx="1816303" cy="1316733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ГЕНПРОЕКТИРОВЩИК РФ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Проектная и рабочая документация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Адаптация решений А</a:t>
            </a:r>
            <a:r>
              <a:rPr lang="en-US" sz="700" dirty="0" err="1">
                <a:solidFill>
                  <a:srgbClr val="2C3E50"/>
                </a:solidFill>
                <a:latin typeface="Arial"/>
              </a:rPr>
              <a:t>рхитектор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Экспертизы и проектная ответственность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BIM /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документация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52876" y="5315313"/>
            <a:ext cx="1798320" cy="1316735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ПРОЕКТНЫЕ И ЭКСПЕРТНЫЕ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Изыскания и обследования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Историко-культурные экспертизы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Археология и мониторинг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Инженерные консультации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Кадастровый инженер / БТИ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Геотехнический консультант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Транспортный консультант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Фасадный консультант 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Сметный консультант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42636" y="5315313"/>
            <a:ext cx="1798320" cy="1316727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ИНЖЕНЕРИЯ И РЕСУРСЫ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ТУ и техническое подключение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Вынос / отключение сетей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Инженерные системы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Пожарная безопасность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632396" y="5315314"/>
            <a:ext cx="1798320" cy="1316726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ГЕНПОДРЯДЧИК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Демонтаж сложных конструкций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СМР и поставки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Субподрядчики, ОТ и ТБ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0522156" y="5315313"/>
            <a:ext cx="1798320" cy="1316723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СТРОИТЕЛЬНЫЙ КОНТРОЛЬ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надзор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качества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Приемка работ</a:t>
            </a:r>
            <a:r>
              <a:rPr sz="700" b="0" dirty="0">
                <a:solidFill>
                  <a:srgbClr val="2C3E50"/>
                </a:solidFill>
                <a:latin typeface="Arial"/>
              </a:rPr>
              <a:t>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411916" y="5315314"/>
            <a:ext cx="1798320" cy="1316734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УПРАВЛЕНИЕ ПРОЕКТОМ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Планирование и бюджет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Управление рисками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Отчетность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Документооборот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963116" y="680158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ГРАДОСТРОИТЕЛЬНОЙ ПОЛИТИКИ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Архитектурно-градостроительный облик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Цифровой двойник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852876" y="680158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800" b="1" dirty="0">
                <a:solidFill>
                  <a:srgbClr val="D35400"/>
                </a:solidFill>
                <a:latin typeface="Arial"/>
              </a:rPr>
              <a:t>КОМИССИЯ ПО ВОПРОСАМ ГРАДОСТРОИТЕЛЬСТВА, ЗЕМЛЕПОЛЬЗОВАНИЯ И ЗАСТРОЙКИ (</a:t>
            </a:r>
            <a:r>
              <a:rPr sz="800" b="1" dirty="0">
                <a:solidFill>
                  <a:srgbClr val="D35400"/>
                </a:solidFill>
                <a:latin typeface="Arial"/>
              </a:rPr>
              <a:t>ГЗК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)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ПЗЗ / параметры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Ключевые решения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Рассмотрение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742636" y="680158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КУЛЬТУРНОГО НАСЛЕДИЯ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Зоны охраны ОКН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Историко-культурная экспертиза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Археология и культурный слой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632396" y="680158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МОСГОСЭКСПЕРТИЗА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Экспертиза проектной документации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стоимость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Экспертиза достоверности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0522156" y="680158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МОСГОССТРОЙНАДЗОР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РпС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/ начало работ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строительства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ЗОС и ввод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2411916" y="680158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РЕСУРСНОСНАБЖАЮЩИЕ ОРГАНИЗАЦИИ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Подключение к сетям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Согласование проектов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72" name="Connector 27">
            <a:extLst>
              <a:ext uri="{FF2B5EF4-FFF2-40B4-BE49-F238E27FC236}">
                <a16:creationId xmlns:a16="http://schemas.microsoft.com/office/drawing/2014/main" id="{4AF252C4-37C9-4764-907C-6341A631F428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>
            <a:off x="7132320" y="1275575"/>
            <a:ext cx="365760" cy="0"/>
          </a:xfrm>
          <a:prstGeom prst="line">
            <a:avLst/>
          </a:prstGeom>
          <a:ln w="158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2" name="Rounded Rectangle 7">
            <a:extLst>
              <a:ext uri="{FF2B5EF4-FFF2-40B4-BE49-F238E27FC236}">
                <a16:creationId xmlns:a16="http://schemas.microsoft.com/office/drawing/2014/main" id="{0C1FB8B6-5C24-422C-9508-D43E7E0EE87D}"/>
              </a:ext>
            </a:extLst>
          </p:cNvPr>
          <p:cNvSpPr/>
          <p:nvPr/>
        </p:nvSpPr>
        <p:spPr>
          <a:xfrm>
            <a:off x="274319" y="2011679"/>
            <a:ext cx="3521495" cy="25969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17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3" name="Rounded Rectangle 8">
            <a:extLst>
              <a:ext uri="{FF2B5EF4-FFF2-40B4-BE49-F238E27FC236}">
                <a16:creationId xmlns:a16="http://schemas.microsoft.com/office/drawing/2014/main" id="{D6BA4536-F14F-4823-B98C-CEC4FD37AB78}"/>
              </a:ext>
            </a:extLst>
          </p:cNvPr>
          <p:cNvSpPr/>
          <p:nvPr/>
        </p:nvSpPr>
        <p:spPr>
          <a:xfrm>
            <a:off x="401368" y="3546642"/>
            <a:ext cx="1508760" cy="960111"/>
          </a:xfrm>
          <a:prstGeom prst="roundRect">
            <a:avLst>
              <a:gd name="adj" fmla="val 8000"/>
            </a:avLst>
          </a:prstGeom>
          <a:solidFill>
            <a:srgbClr val="EAFAF1"/>
          </a:solidFill>
          <a:ln w="19050">
            <a:solidFill>
              <a:srgbClr val="117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900" b="1" dirty="0">
                <a:solidFill>
                  <a:srgbClr val="117A65"/>
                </a:solidFill>
                <a:latin typeface="Arial"/>
              </a:rPr>
              <a:t>АРХИТЕКТОР</a:t>
            </a:r>
            <a:endParaRPr sz="900" b="1" dirty="0">
              <a:solidFill>
                <a:srgbClr val="117A65"/>
              </a:solidFill>
              <a:latin typeface="Arial"/>
            </a:endParaRP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Авторская идея /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design intent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Schematic design</a:t>
            </a:r>
            <a:endParaRPr lang="ru-RU" sz="7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4" name="Rounded Rectangle 9">
            <a:extLst>
              <a:ext uri="{FF2B5EF4-FFF2-40B4-BE49-F238E27FC236}">
                <a16:creationId xmlns:a16="http://schemas.microsoft.com/office/drawing/2014/main" id="{1BF1534B-06F4-40D7-B1EF-21825A0CB79E}"/>
              </a:ext>
            </a:extLst>
          </p:cNvPr>
          <p:cNvSpPr/>
          <p:nvPr/>
        </p:nvSpPr>
        <p:spPr>
          <a:xfrm>
            <a:off x="2161060" y="3552246"/>
            <a:ext cx="1508760" cy="960115"/>
          </a:xfrm>
          <a:prstGeom prst="roundRect">
            <a:avLst>
              <a:gd name="adj" fmla="val 8000"/>
            </a:avLst>
          </a:prstGeom>
          <a:solidFill>
            <a:srgbClr val="EAFAF1"/>
          </a:solidFill>
          <a:ln w="19050">
            <a:solidFill>
              <a:srgbClr val="117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900" b="1" dirty="0">
                <a:solidFill>
                  <a:srgbClr val="117A65"/>
                </a:solidFill>
                <a:latin typeface="Arial"/>
              </a:rPr>
              <a:t>МУЛЬТИМЕДИЙНЫЙ КОНСУЛЬТАНТ</a:t>
            </a:r>
            <a:endParaRPr sz="900" b="1" dirty="0">
              <a:solidFill>
                <a:srgbClr val="117A65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Мультимедийная и содержательная концепция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Консультации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Дальнейший статус уточняется</a:t>
            </a:r>
          </a:p>
          <a:p>
            <a:pPr algn="ctr"/>
            <a:endParaRPr sz="700" b="0" dirty="0">
              <a:solidFill>
                <a:srgbClr val="5D6D7E"/>
              </a:solidFill>
              <a:latin typeface="Arial"/>
            </a:endParaRPr>
          </a:p>
        </p:txBody>
      </p:sp>
      <p:sp>
        <p:nvSpPr>
          <p:cNvPr id="96" name="Rounded Rectangle 50">
            <a:extLst>
              <a:ext uri="{FF2B5EF4-FFF2-40B4-BE49-F238E27FC236}">
                <a16:creationId xmlns:a16="http://schemas.microsoft.com/office/drawing/2014/main" id="{8AB8F2BC-2044-44E5-A0CB-12BC0407A3F0}"/>
              </a:ext>
            </a:extLst>
          </p:cNvPr>
          <p:cNvSpPr/>
          <p:nvPr/>
        </p:nvSpPr>
        <p:spPr>
          <a:xfrm>
            <a:off x="10833087" y="2010365"/>
            <a:ext cx="3522994" cy="2589066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en-US" sz="1200" b="1" dirty="0">
                <a:solidFill>
                  <a:srgbClr val="6C348D"/>
                </a:solidFill>
                <a:latin typeface="Arial"/>
              </a:rPr>
              <a:t>FIT-OUT</a:t>
            </a:r>
            <a:endParaRPr lang="ru-RU" sz="1200" b="1" dirty="0">
              <a:solidFill>
                <a:srgbClr val="6C348D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900" b="0" dirty="0">
                <a:solidFill>
                  <a:srgbClr val="2C3E50"/>
                </a:solidFill>
                <a:latin typeface="Arial"/>
              </a:rPr>
              <a:t>Fit-Out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и отделка помещений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 err="1">
                <a:solidFill>
                  <a:srgbClr val="2C3E50"/>
                </a:solidFill>
                <a:latin typeface="Arial"/>
              </a:rPr>
              <a:t>Мебелировка</a:t>
            </a:r>
            <a:endParaRPr lang="ru-RU"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•  Мультимедиа, свет, звук, видео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•  IT-инфраструктура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•  Сценическое / выставочное оборудование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•  Поставки и монтаж оборудования</a:t>
            </a:r>
            <a:endParaRPr lang="ru-RU" sz="8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101" name="Connector 27">
            <a:extLst>
              <a:ext uri="{FF2B5EF4-FFF2-40B4-BE49-F238E27FC236}">
                <a16:creationId xmlns:a16="http://schemas.microsoft.com/office/drawing/2014/main" id="{2ABA576F-4E67-466E-B6A7-54D118F2DF32}"/>
              </a:ext>
            </a:extLst>
          </p:cNvPr>
          <p:cNvCxnSpPr>
            <a:cxnSpLocks/>
            <a:stCxn id="92" idx="3"/>
            <a:endCxn id="11" idx="1"/>
          </p:cNvCxnSpPr>
          <p:nvPr/>
        </p:nvCxnSpPr>
        <p:spPr>
          <a:xfrm flipV="1">
            <a:off x="3795814" y="3300977"/>
            <a:ext cx="1415516" cy="9157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31">
            <a:extLst>
              <a:ext uri="{FF2B5EF4-FFF2-40B4-BE49-F238E27FC236}">
                <a16:creationId xmlns:a16="http://schemas.microsoft.com/office/drawing/2014/main" id="{8169A097-32CB-4F47-826F-32354B784AD6}"/>
              </a:ext>
            </a:extLst>
          </p:cNvPr>
          <p:cNvCxnSpPr>
            <a:cxnSpLocks/>
            <a:stCxn id="11" idx="0"/>
          </p:cNvCxnSpPr>
          <p:nvPr/>
        </p:nvCxnSpPr>
        <p:spPr>
          <a:xfrm>
            <a:off x="7314450" y="2002523"/>
            <a:ext cx="740" cy="10573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27">
            <a:extLst>
              <a:ext uri="{FF2B5EF4-FFF2-40B4-BE49-F238E27FC236}">
                <a16:creationId xmlns:a16="http://schemas.microsoft.com/office/drawing/2014/main" id="{54F2573A-E2D3-42EA-9A99-52BBA99569C6}"/>
              </a:ext>
            </a:extLst>
          </p:cNvPr>
          <p:cNvCxnSpPr>
            <a:cxnSpLocks/>
            <a:stCxn id="96" idx="1"/>
            <a:endCxn id="11" idx="3"/>
          </p:cNvCxnSpPr>
          <p:nvPr/>
        </p:nvCxnSpPr>
        <p:spPr>
          <a:xfrm flipH="1" flipV="1">
            <a:off x="9417570" y="3300977"/>
            <a:ext cx="1415517" cy="3921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2" name="Правая фигурная скобка 991">
            <a:extLst>
              <a:ext uri="{FF2B5EF4-FFF2-40B4-BE49-F238E27FC236}">
                <a16:creationId xmlns:a16="http://schemas.microsoft.com/office/drawing/2014/main" id="{B75DA385-8BA1-467B-BCEA-AA897BB2F052}"/>
              </a:ext>
            </a:extLst>
          </p:cNvPr>
          <p:cNvSpPr/>
          <p:nvPr/>
        </p:nvSpPr>
        <p:spPr>
          <a:xfrm rot="5400000">
            <a:off x="8425852" y="1077237"/>
            <a:ext cx="321645" cy="11247122"/>
          </a:xfrm>
          <a:prstGeom prst="rightBrace">
            <a:avLst>
              <a:gd name="adj1" fmla="val 8333"/>
              <a:gd name="adj2" fmla="val 49982"/>
            </a:avLst>
          </a:prstGeom>
          <a:ln w="19050">
            <a:solidFill>
              <a:srgbClr val="D35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5" name="Rounded Rectangle 7">
            <a:extLst>
              <a:ext uri="{FF2B5EF4-FFF2-40B4-BE49-F238E27FC236}">
                <a16:creationId xmlns:a16="http://schemas.microsoft.com/office/drawing/2014/main" id="{F985A687-DBD7-497D-B74D-23274E69C554}"/>
              </a:ext>
            </a:extLst>
          </p:cNvPr>
          <p:cNvSpPr/>
          <p:nvPr/>
        </p:nvSpPr>
        <p:spPr>
          <a:xfrm>
            <a:off x="274312" y="2002523"/>
            <a:ext cx="3521495" cy="1434147"/>
          </a:xfrm>
          <a:prstGeom prst="roundRect">
            <a:avLst>
              <a:gd name="adj" fmla="val 8000"/>
            </a:avLst>
          </a:prstGeom>
          <a:solidFill>
            <a:srgbClr val="EAFAF1"/>
          </a:solidFill>
          <a:ln w="19050">
            <a:solidFill>
              <a:srgbClr val="117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117A65"/>
                </a:solidFill>
                <a:latin typeface="Arial"/>
              </a:rPr>
              <a:t>КОНЦЕПТУАЛЬНЫЙ КУРАТОР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Архитектурная и содержательная концепция проекта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Куратор иностранного архитектора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Сопровождение </a:t>
            </a:r>
            <a:r>
              <a:rPr lang="en-US" sz="900" dirty="0" err="1">
                <a:solidFill>
                  <a:srgbClr val="2C3E50"/>
                </a:solidFill>
                <a:latin typeface="Arial"/>
              </a:rPr>
              <a:t>schemic</a:t>
            </a:r>
            <a:r>
              <a:rPr lang="en-US" sz="900" dirty="0">
                <a:solidFill>
                  <a:srgbClr val="2C3E50"/>
                </a:solidFill>
                <a:latin typeface="Arial"/>
              </a:rPr>
              <a:t> design 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и сохранение </a:t>
            </a:r>
            <a:r>
              <a:rPr lang="en-US" sz="900" dirty="0">
                <a:solidFill>
                  <a:srgbClr val="2C3E50"/>
                </a:solidFill>
                <a:latin typeface="Arial"/>
              </a:rPr>
              <a:t>design intent</a:t>
            </a:r>
            <a:endParaRPr lang="ru-RU" sz="900" dirty="0">
              <a:solidFill>
                <a:srgbClr val="2C3E50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Участие в выборе российского 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генпроектировщика</a:t>
            </a:r>
            <a:endParaRPr lang="ru-RU" sz="900" dirty="0">
              <a:solidFill>
                <a:srgbClr val="2C3E50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Координация мультимедийного консультанта по мультимедийной концепции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Презентация Мэру / публичная и коммуникационная рамка</a:t>
            </a:r>
            <a:endParaRPr sz="9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46" name="Connector 31">
            <a:extLst>
              <a:ext uri="{FF2B5EF4-FFF2-40B4-BE49-F238E27FC236}">
                <a16:creationId xmlns:a16="http://schemas.microsoft.com/office/drawing/2014/main" id="{3A56A0D2-B949-48E2-B556-C8943E67CF01}"/>
              </a:ext>
            </a:extLst>
          </p:cNvPr>
          <p:cNvCxnSpPr>
            <a:cxnSpLocks/>
          </p:cNvCxnSpPr>
          <p:nvPr/>
        </p:nvCxnSpPr>
        <p:spPr>
          <a:xfrm>
            <a:off x="4526280" y="1801355"/>
            <a:ext cx="0" cy="97311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31">
            <a:extLst>
              <a:ext uri="{FF2B5EF4-FFF2-40B4-BE49-F238E27FC236}">
                <a16:creationId xmlns:a16="http://schemas.microsoft.com/office/drawing/2014/main" id="{ACD6F08C-FF44-4154-AC63-7BE96AB27C9A}"/>
              </a:ext>
            </a:extLst>
          </p:cNvPr>
          <p:cNvCxnSpPr>
            <a:cxnSpLocks/>
          </p:cNvCxnSpPr>
          <p:nvPr/>
        </p:nvCxnSpPr>
        <p:spPr>
          <a:xfrm flipV="1">
            <a:off x="4526280" y="1889532"/>
            <a:ext cx="5577840" cy="2191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31">
            <a:extLst>
              <a:ext uri="{FF2B5EF4-FFF2-40B4-BE49-F238E27FC236}">
                <a16:creationId xmlns:a16="http://schemas.microsoft.com/office/drawing/2014/main" id="{EB002CA0-7403-4597-A1D9-D1950F12C0FC}"/>
              </a:ext>
            </a:extLst>
          </p:cNvPr>
          <p:cNvCxnSpPr>
            <a:cxnSpLocks/>
          </p:cNvCxnSpPr>
          <p:nvPr/>
        </p:nvCxnSpPr>
        <p:spPr>
          <a:xfrm>
            <a:off x="10104120" y="1801355"/>
            <a:ext cx="0" cy="97311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31">
            <a:extLst>
              <a:ext uri="{FF2B5EF4-FFF2-40B4-BE49-F238E27FC236}">
                <a16:creationId xmlns:a16="http://schemas.microsoft.com/office/drawing/2014/main" id="{69928949-4CAA-40EA-B14A-63D82D2825EA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7314450" y="1891723"/>
            <a:ext cx="750" cy="110800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C514DE84-CB28-4BDC-A937-3E6E9C076F92}"/>
              </a:ext>
            </a:extLst>
          </p:cNvPr>
          <p:cNvSpPr txBox="1"/>
          <p:nvPr/>
        </p:nvSpPr>
        <p:spPr>
          <a:xfrm>
            <a:off x="6964945" y="7828195"/>
            <a:ext cx="24661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D35400"/>
                </a:solidFill>
                <a:latin typeface="Arial"/>
              </a:rPr>
              <a:t>СОГЛАСОВАТЕЛЬНЫЙ КОНТУР</a:t>
            </a:r>
            <a:endParaRPr lang="ru-RU" sz="1100" b="1" dirty="0">
              <a:solidFill>
                <a:srgbClr val="D35400"/>
              </a:solidFill>
              <a:latin typeface="Arial"/>
            </a:endParaRPr>
          </a:p>
        </p:txBody>
      </p:sp>
      <p:sp>
        <p:nvSpPr>
          <p:cNvPr id="103" name="Rounded Rectangle 21">
            <a:extLst>
              <a:ext uri="{FF2B5EF4-FFF2-40B4-BE49-F238E27FC236}">
                <a16:creationId xmlns:a16="http://schemas.microsoft.com/office/drawing/2014/main" id="{9A04EEF2-3C8C-4ACF-8056-2AA2C39EE074}"/>
              </a:ext>
            </a:extLst>
          </p:cNvPr>
          <p:cNvSpPr/>
          <p:nvPr/>
        </p:nvSpPr>
        <p:spPr>
          <a:xfrm>
            <a:off x="265537" y="5028318"/>
            <a:ext cx="2349616" cy="3060640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1200" b="1" dirty="0">
                <a:solidFill>
                  <a:srgbClr val="7D6608"/>
                </a:solidFill>
                <a:latin typeface="Arial"/>
              </a:rPr>
              <a:t>ТЕХНИЧЕСКИЙ ЗАКАЗЧИК</a:t>
            </a:r>
            <a:endParaRPr sz="800" b="1" dirty="0">
              <a:solidFill>
                <a:srgbClr val="7D6608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•  Техническое сопровождение реализации, ИРД, </a:t>
            </a:r>
            <a:r>
              <a:rPr lang="ru-RU" sz="900" b="0" dirty="0" err="1">
                <a:solidFill>
                  <a:srgbClr val="2C3E50"/>
                </a:solidFill>
                <a:latin typeface="Arial"/>
              </a:rPr>
              <a:t>стройконтроль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, взаимодействие с надзором</a:t>
            </a:r>
          </a:p>
        </p:txBody>
      </p:sp>
      <p:cxnSp>
        <p:nvCxnSpPr>
          <p:cNvPr id="300" name="Connector TZ-22"/>
          <p:cNvCxnSpPr>
            <a:cxnSpLocks/>
            <a:stCxn id="103" idx="0"/>
            <a:endCxn id="22" idx="0"/>
          </p:cNvCxnSpPr>
          <p:nvPr/>
        </p:nvCxnSpPr>
        <p:spPr>
          <a:xfrm>
            <a:off x="1440345" y="5028318"/>
            <a:ext cx="2421931" cy="286995"/>
          </a:xfrm>
          <a:prstGeom prst="line">
            <a:avLst/>
          </a:prstGeom>
          <a:ln w="15875">
            <a:solidFill>
              <a:srgbClr val="B795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UK-22"/>
          <p:cNvCxnSpPr>
            <a:cxnSpLocks/>
            <a:stCxn id="11" idx="2"/>
            <a:endCxn id="22" idx="0"/>
          </p:cNvCxnSpPr>
          <p:nvPr/>
        </p:nvCxnSpPr>
        <p:spPr>
          <a:xfrm flipH="1">
            <a:off x="3862276" y="4599431"/>
            <a:ext cx="3452173" cy="715882"/>
          </a:xfrm>
          <a:prstGeom prst="line">
            <a:avLst/>
          </a:prstGeom>
          <a:ln w="12700">
            <a:solidFill>
              <a:srgbClr val="2E86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TZ-23"/>
          <p:cNvCxnSpPr>
            <a:cxnSpLocks/>
            <a:stCxn id="103" idx="0"/>
            <a:endCxn id="23" idx="0"/>
          </p:cNvCxnSpPr>
          <p:nvPr/>
        </p:nvCxnSpPr>
        <p:spPr>
          <a:xfrm>
            <a:off x="1440345" y="5028318"/>
            <a:ext cx="4311691" cy="286995"/>
          </a:xfrm>
          <a:prstGeom prst="line">
            <a:avLst/>
          </a:prstGeom>
          <a:ln w="15875">
            <a:solidFill>
              <a:srgbClr val="B795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UK-23"/>
          <p:cNvCxnSpPr>
            <a:cxnSpLocks/>
            <a:stCxn id="11" idx="2"/>
            <a:endCxn id="23" idx="0"/>
          </p:cNvCxnSpPr>
          <p:nvPr/>
        </p:nvCxnSpPr>
        <p:spPr>
          <a:xfrm flipH="1">
            <a:off x="5752036" y="4599431"/>
            <a:ext cx="1562414" cy="715882"/>
          </a:xfrm>
          <a:prstGeom prst="line">
            <a:avLst/>
          </a:prstGeom>
          <a:ln w="12700">
            <a:solidFill>
              <a:srgbClr val="2E86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TZ-24"/>
          <p:cNvCxnSpPr>
            <a:cxnSpLocks/>
            <a:stCxn id="103" idx="0"/>
            <a:endCxn id="24" idx="0"/>
          </p:cNvCxnSpPr>
          <p:nvPr/>
        </p:nvCxnSpPr>
        <p:spPr>
          <a:xfrm>
            <a:off x="1440345" y="5028318"/>
            <a:ext cx="6201451" cy="286995"/>
          </a:xfrm>
          <a:prstGeom prst="line">
            <a:avLst/>
          </a:prstGeom>
          <a:ln w="15875">
            <a:solidFill>
              <a:srgbClr val="B795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UK-24"/>
          <p:cNvCxnSpPr>
            <a:cxnSpLocks/>
            <a:stCxn id="11" idx="2"/>
            <a:endCxn id="24" idx="0"/>
          </p:cNvCxnSpPr>
          <p:nvPr/>
        </p:nvCxnSpPr>
        <p:spPr>
          <a:xfrm>
            <a:off x="7314450" y="4599431"/>
            <a:ext cx="327346" cy="715882"/>
          </a:xfrm>
          <a:prstGeom prst="line">
            <a:avLst/>
          </a:prstGeom>
          <a:ln w="12700">
            <a:solidFill>
              <a:srgbClr val="2E86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TZ-25"/>
          <p:cNvCxnSpPr>
            <a:cxnSpLocks/>
            <a:stCxn id="103" idx="0"/>
            <a:endCxn id="25" idx="0"/>
          </p:cNvCxnSpPr>
          <p:nvPr/>
        </p:nvCxnSpPr>
        <p:spPr>
          <a:xfrm>
            <a:off x="1440345" y="5028318"/>
            <a:ext cx="8091211" cy="286996"/>
          </a:xfrm>
          <a:prstGeom prst="line">
            <a:avLst/>
          </a:prstGeom>
          <a:ln w="15875">
            <a:solidFill>
              <a:srgbClr val="B795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UK-25"/>
          <p:cNvCxnSpPr>
            <a:cxnSpLocks/>
            <a:stCxn id="11" idx="2"/>
            <a:endCxn id="25" idx="0"/>
          </p:cNvCxnSpPr>
          <p:nvPr/>
        </p:nvCxnSpPr>
        <p:spPr>
          <a:xfrm>
            <a:off x="7314450" y="4599431"/>
            <a:ext cx="2217106" cy="715883"/>
          </a:xfrm>
          <a:prstGeom prst="line">
            <a:avLst/>
          </a:prstGeom>
          <a:ln w="12700">
            <a:solidFill>
              <a:srgbClr val="2E86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TZ-26"/>
          <p:cNvCxnSpPr>
            <a:cxnSpLocks/>
            <a:stCxn id="103" idx="0"/>
            <a:endCxn id="26" idx="0"/>
          </p:cNvCxnSpPr>
          <p:nvPr/>
        </p:nvCxnSpPr>
        <p:spPr>
          <a:xfrm>
            <a:off x="1440345" y="5028318"/>
            <a:ext cx="9980971" cy="286995"/>
          </a:xfrm>
          <a:prstGeom prst="line">
            <a:avLst/>
          </a:prstGeom>
          <a:ln w="15875">
            <a:solidFill>
              <a:srgbClr val="B795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UK-26"/>
          <p:cNvCxnSpPr>
            <a:cxnSpLocks/>
            <a:stCxn id="11" idx="2"/>
            <a:endCxn id="26" idx="0"/>
          </p:cNvCxnSpPr>
          <p:nvPr/>
        </p:nvCxnSpPr>
        <p:spPr>
          <a:xfrm>
            <a:off x="7314450" y="4599431"/>
            <a:ext cx="4106866" cy="715882"/>
          </a:xfrm>
          <a:prstGeom prst="line">
            <a:avLst/>
          </a:prstGeom>
          <a:ln w="12700">
            <a:solidFill>
              <a:srgbClr val="2E86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TZ-27"/>
          <p:cNvCxnSpPr>
            <a:cxnSpLocks/>
            <a:stCxn id="103" idx="0"/>
            <a:endCxn id="27" idx="0"/>
          </p:cNvCxnSpPr>
          <p:nvPr/>
        </p:nvCxnSpPr>
        <p:spPr>
          <a:xfrm>
            <a:off x="1440345" y="5028318"/>
            <a:ext cx="11870731" cy="286996"/>
          </a:xfrm>
          <a:prstGeom prst="line">
            <a:avLst/>
          </a:prstGeom>
          <a:ln w="15875">
            <a:solidFill>
              <a:srgbClr val="B795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UK-27"/>
          <p:cNvCxnSpPr>
            <a:cxnSpLocks/>
            <a:stCxn id="11" idx="2"/>
            <a:endCxn id="27" idx="0"/>
          </p:cNvCxnSpPr>
          <p:nvPr/>
        </p:nvCxnSpPr>
        <p:spPr>
          <a:xfrm>
            <a:off x="7314450" y="4599431"/>
            <a:ext cx="5996626" cy="715883"/>
          </a:xfrm>
          <a:prstGeom prst="line">
            <a:avLst/>
          </a:prstGeom>
          <a:ln w="12700">
            <a:solidFill>
              <a:srgbClr val="2E86C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473</Words>
  <Application>Microsoft Office PowerPoint</Application>
  <PresentationFormat>Произвольный</PresentationFormat>
  <Paragraphs>122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Гусейнов Али Айдын Оглы</dc:creator>
  <cp:keywords/>
  <dc:description>generated using python-pptx</dc:description>
  <cp:lastModifiedBy>ALI</cp:lastModifiedBy>
  <cp:revision>18</cp:revision>
  <dcterms:created xsi:type="dcterms:W3CDTF">2013-01-27T09:14:16Z</dcterms:created>
  <dcterms:modified xsi:type="dcterms:W3CDTF">2026-08-07T12:24:57Z</dcterms:modified>
  <cp:category/>
</cp:coreProperties>
</file>