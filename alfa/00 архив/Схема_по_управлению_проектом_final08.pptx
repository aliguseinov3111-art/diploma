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6" r:id="rId3"/>
  </p:sldIdLst>
  <p:sldSz cx="14630400" cy="8229600"/>
  <p:notesSz cx="9802813" cy="142049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2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001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9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0" name="Connector 22">
            <a:extLst>
              <a:ext uri="{FF2B5EF4-FFF2-40B4-BE49-F238E27FC236}">
                <a16:creationId xmlns:a16="http://schemas.microsoft.com/office/drawing/2014/main" id="{F0D3FF0A-E4DC-42AF-BBB6-9857EA992C8A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9930384" y="3845966"/>
            <a:ext cx="274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38912" y="164592"/>
            <a:ext cx="7458324" cy="5724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ru-RU" sz="3120" b="1" dirty="0">
                <a:solidFill>
                  <a:srgbClr val="2C3E50"/>
                </a:solidFill>
                <a:latin typeface="Arial"/>
              </a:rPr>
              <a:t>Укрупненная схема работы над проектом</a:t>
            </a:r>
            <a:endParaRPr sz="312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4" name="Oval 3"/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1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8912" y="932688"/>
            <a:ext cx="13716000" cy="19970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r>
              <a:rPr lang="ru-RU" b="1" dirty="0">
                <a:solidFill>
                  <a:srgbClr val="D83A2E"/>
                </a:solidFill>
                <a:latin typeface="Arial"/>
              </a:rPr>
              <a:t>Инвестор и собственник</a:t>
            </a:r>
            <a:endParaRPr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182112" y="1558138"/>
            <a:ext cx="8339328" cy="548640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D83A2E"/>
                </a:solidFill>
                <a:latin typeface="Arial"/>
              </a:rPr>
              <a:t>Совет акционеров</a:t>
            </a:r>
            <a:endParaRPr sz="144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200" dirty="0">
                <a:solidFill>
                  <a:srgbClr val="2C3E50"/>
                </a:solidFill>
                <a:latin typeface="Arial"/>
              </a:rPr>
              <a:t>Высший уровень принятия решений</a:t>
            </a:r>
            <a:endParaRPr sz="120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7351776" y="2106778"/>
            <a:ext cx="0" cy="142645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82112" y="2249423"/>
            <a:ext cx="8339328" cy="636422"/>
          </a:xfrm>
          <a:prstGeom prst="roundRect">
            <a:avLst>
              <a:gd name="adj" fmla="val 30000"/>
            </a:avLst>
          </a:prstGeom>
          <a:solidFill>
            <a:srgbClr val="FDECEA"/>
          </a:solidFill>
          <a:ln w="19050">
            <a:solidFill>
              <a:srgbClr val="D83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20" b="1" dirty="0">
                <a:solidFill>
                  <a:srgbClr val="D83A2E"/>
                </a:solidFill>
                <a:latin typeface="Arial"/>
              </a:rPr>
              <a:t>Внутренний функциональный заказчик:</a:t>
            </a:r>
            <a:endParaRPr sz="132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200" dirty="0">
                <a:solidFill>
                  <a:srgbClr val="2C3E50"/>
                </a:solidFill>
                <a:latin typeface="Arial"/>
              </a:rPr>
              <a:t>CEO </a:t>
            </a:r>
            <a:r>
              <a:rPr lang="ru-RU" sz="1200" dirty="0">
                <a:solidFill>
                  <a:srgbClr val="2C3E50"/>
                </a:solidFill>
                <a:latin typeface="Arial"/>
              </a:rPr>
              <a:t>Маркетинг</a:t>
            </a:r>
            <a:r>
              <a:rPr sz="120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200" dirty="0">
                <a:solidFill>
                  <a:srgbClr val="2C3E50"/>
                </a:solidFill>
                <a:latin typeface="Arial"/>
              </a:rPr>
              <a:t>Инфраструктура</a:t>
            </a:r>
            <a:endParaRPr sz="120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Представитель банка на уровне принятия решений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формулирования задач от акционеров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0" name="Connector 9"/>
          <p:cNvCxnSpPr>
            <a:cxnSpLocks/>
            <a:endCxn id="13" idx="0"/>
          </p:cNvCxnSpPr>
          <p:nvPr/>
        </p:nvCxnSpPr>
        <p:spPr>
          <a:xfrm>
            <a:off x="1947672" y="2929735"/>
            <a:ext cx="1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cxnSpLocks/>
            <a:endCxn id="14" idx="0"/>
          </p:cNvCxnSpPr>
          <p:nvPr/>
        </p:nvCxnSpPr>
        <p:spPr>
          <a:xfrm>
            <a:off x="5404104" y="2929735"/>
            <a:ext cx="0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cxnSpLocks/>
            <a:endCxn id="16" idx="0"/>
          </p:cNvCxnSpPr>
          <p:nvPr/>
        </p:nvCxnSpPr>
        <p:spPr>
          <a:xfrm>
            <a:off x="8390534" y="2929735"/>
            <a:ext cx="3659" cy="340159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8912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 w="19050">
            <a:solidFill>
              <a:srgbClr val="2E8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1D5C4B"/>
                </a:solidFill>
                <a:latin typeface="Arial"/>
              </a:rPr>
              <a:t>Команда по созданию </a:t>
            </a:r>
            <a:r>
              <a:rPr lang="ru-RU" sz="1440" b="1" dirty="0" err="1">
                <a:solidFill>
                  <a:srgbClr val="1D5C4B"/>
                </a:solidFill>
                <a:latin typeface="Arial"/>
              </a:rPr>
              <a:t>иммерсивной</a:t>
            </a:r>
            <a:r>
              <a:rPr lang="ru-RU" sz="1440" b="1" dirty="0">
                <a:solidFill>
                  <a:srgbClr val="1D5C4B"/>
                </a:solidFill>
                <a:latin typeface="Arial"/>
              </a:rPr>
              <a:t> среды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Разработка экспозиции</a:t>
            </a:r>
            <a:r>
              <a:rPr sz="114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140" dirty="0" err="1">
                <a:solidFill>
                  <a:srgbClr val="2C3E50"/>
                </a:solidFill>
                <a:latin typeface="Arial"/>
              </a:rPr>
              <a:t>продакшен</a:t>
            </a:r>
            <a:endParaRPr sz="114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контента </a:t>
            </a:r>
            <a:r>
              <a:rPr sz="114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40" dirty="0">
                <a:solidFill>
                  <a:srgbClr val="2C3E50"/>
                </a:solidFill>
                <a:latin typeface="Arial"/>
              </a:rPr>
              <a:t>мультимедиа оснащения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895344" y="3269894"/>
            <a:ext cx="3017520" cy="1700784"/>
          </a:xfrm>
          <a:prstGeom prst="roundRect">
            <a:avLst>
              <a:gd name="adj" fmla="val 8000"/>
            </a:avLst>
          </a:prstGeom>
          <a:solidFill>
            <a:srgbClr val="E7F3EF"/>
          </a:solidFill>
          <a:ln w="19050">
            <a:solidFill>
              <a:srgbClr val="2E8B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1D5C4B"/>
                </a:solidFill>
                <a:latin typeface="Arial"/>
              </a:rPr>
              <a:t>Управление </a:t>
            </a:r>
          </a:p>
          <a:p>
            <a:pPr algn="ctr"/>
            <a:r>
              <a:rPr lang="ru-RU" sz="1440" b="1" dirty="0">
                <a:solidFill>
                  <a:srgbClr val="1D5C4B"/>
                </a:solidFill>
                <a:latin typeface="Arial"/>
              </a:rPr>
              <a:t>продуктом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Обеспечивает концептуальную целостность</a:t>
            </a:r>
            <a:r>
              <a:rPr sz="1140" dirty="0">
                <a:solidFill>
                  <a:srgbClr val="2C3E50"/>
                </a:solidFill>
                <a:latin typeface="Arial"/>
              </a:rPr>
              <a:t>,</a:t>
            </a: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качество </a:t>
            </a:r>
            <a:r>
              <a:rPr sz="114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140" dirty="0">
                <a:solidFill>
                  <a:srgbClr val="2C3E50"/>
                </a:solidFill>
                <a:latin typeface="Arial"/>
              </a:rPr>
              <a:t>последовательность проекта</a:t>
            </a:r>
            <a:endParaRPr sz="1140" dirty="0">
              <a:solidFill>
                <a:srgbClr val="FFFFFF"/>
              </a:solidFill>
              <a:latin typeface="Calibri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3456432" y="399592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132320" y="3269894"/>
            <a:ext cx="2523744" cy="4553712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t"/>
          <a:lstStyle/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Управление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реализацией</a:t>
            </a:r>
            <a:r>
              <a:rPr sz="1440" b="1" dirty="0">
                <a:solidFill>
                  <a:srgbClr val="1A527A"/>
                </a:solidFill>
                <a:latin typeface="Arial"/>
              </a:rPr>
              <a:t> /</a:t>
            </a:r>
          </a:p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Управляющая 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440" b="1" dirty="0">
                <a:solidFill>
                  <a:srgbClr val="1A527A"/>
                </a:solidFill>
                <a:latin typeface="Arial"/>
              </a:rPr>
              <a:t>компания</a:t>
            </a:r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endParaRPr sz="144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ru-RU" sz="1080" dirty="0">
                <a:solidFill>
                  <a:srgbClr val="2C3E50"/>
                </a:solidFill>
                <a:latin typeface="Arial"/>
              </a:rPr>
              <a:t>Представитель Банка на</a:t>
            </a:r>
            <a:r>
              <a:rPr sz="108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операционном уровне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руководитель команды реализации</a:t>
            </a:r>
            <a:r>
              <a:rPr sz="108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курирующий сроки</a:t>
            </a:r>
            <a:r>
              <a:rPr sz="108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разрешения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бюджет</a:t>
            </a:r>
            <a:endParaRPr sz="108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0204704" y="3269894"/>
            <a:ext cx="3950208" cy="1152144"/>
          </a:xfrm>
          <a:prstGeom prst="roundRect">
            <a:avLst/>
          </a:prstGeom>
          <a:solidFill>
            <a:srgbClr val="F6E9EE"/>
          </a:solidFill>
          <a:ln w="19050">
            <a:solidFill>
              <a:srgbClr val="8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5C2439"/>
                </a:solidFill>
                <a:latin typeface="Arial"/>
              </a:rPr>
              <a:t>Технический заказчик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80" dirty="0">
                <a:solidFill>
                  <a:srgbClr val="2C3E50"/>
                </a:solidFill>
                <a:latin typeface="Arial"/>
              </a:rPr>
              <a:t>(Project Management Contractor)</a:t>
            </a: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Генеральный подрядчик управления проектом</a:t>
            </a:r>
            <a:r>
              <a:rPr sz="1020" dirty="0">
                <a:solidFill>
                  <a:srgbClr val="2C3E50"/>
                </a:solidFill>
                <a:latin typeface="Arial"/>
              </a:rPr>
              <a:t>,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организующий процессы согласования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строительства</a:t>
            </a:r>
            <a:endParaRPr sz="102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12179808" y="4422038"/>
            <a:ext cx="0" cy="18653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204704" y="4608576"/>
            <a:ext cx="3950208" cy="1152144"/>
          </a:xfrm>
          <a:prstGeom prst="roundRect">
            <a:avLst/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Генеральный проектировщик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080" dirty="0">
                <a:solidFill>
                  <a:srgbClr val="2C3E50"/>
                </a:solidFill>
                <a:latin typeface="Arial"/>
              </a:rPr>
              <a:t>(Architect of Record)</a:t>
            </a:r>
          </a:p>
          <a:p>
            <a:pPr algn="ctr"/>
            <a:r>
              <a:rPr lang="ru-RU" sz="1020" dirty="0">
                <a:solidFill>
                  <a:srgbClr val="2C3E50"/>
                </a:solidFill>
                <a:latin typeface="Arial"/>
              </a:rPr>
              <a:t>Перевод концепции в проектную </a:t>
            </a:r>
            <a:r>
              <a:rPr sz="102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рабочую документацию </a:t>
            </a:r>
            <a:r>
              <a:rPr sz="1020" dirty="0">
                <a:solidFill>
                  <a:srgbClr val="2C3E50"/>
                </a:solidFill>
                <a:latin typeface="Arial"/>
              </a:rPr>
              <a:t>с </a:t>
            </a:r>
            <a:r>
              <a:rPr lang="ru-RU" sz="1020" dirty="0">
                <a:solidFill>
                  <a:srgbClr val="2C3E50"/>
                </a:solidFill>
                <a:latin typeface="Arial"/>
              </a:rPr>
              <a:t>учетом нормативной базы</a:t>
            </a:r>
            <a:r>
              <a:rPr sz="1020" dirty="0">
                <a:solidFill>
                  <a:srgbClr val="2C3E50"/>
                </a:solidFill>
                <a:latin typeface="Arial"/>
              </a:rPr>
              <a:t>в РФ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179808" y="5760720"/>
            <a:ext cx="0" cy="18653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0204704" y="5947258"/>
            <a:ext cx="3950208" cy="1152144"/>
          </a:xfrm>
          <a:prstGeom prst="roundRect">
            <a:avLst/>
          </a:prstGeom>
          <a:solidFill>
            <a:srgbClr val="F6E9EE"/>
          </a:solidFill>
          <a:ln w="19050">
            <a:solidFill>
              <a:srgbClr val="8E3A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5C2439"/>
                </a:solidFill>
                <a:latin typeface="Arial"/>
              </a:rPr>
              <a:t>Генеральный подрядчик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140" dirty="0">
                <a:solidFill>
                  <a:srgbClr val="2C3E50"/>
                </a:solidFill>
                <a:latin typeface="Arial"/>
              </a:rPr>
              <a:t>Отвечает за процессы строительства</a:t>
            </a:r>
            <a:endParaRPr sz="1140" dirty="0">
              <a:solidFill>
                <a:srgbClr val="1A1A1A"/>
              </a:solidFill>
              <a:latin typeface="Calibri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9656064" y="5184648"/>
            <a:ext cx="54864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38912" y="5321808"/>
            <a:ext cx="6473952" cy="1097280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Разработчики концепции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sz="1200" b="1" dirty="0">
                <a:solidFill>
                  <a:srgbClr val="6C348D"/>
                </a:solidFill>
                <a:latin typeface="Arial"/>
              </a:rPr>
              <a:t>(Lead Design Author)</a:t>
            </a:r>
          </a:p>
          <a:p>
            <a:pPr algn="ctr"/>
            <a:endParaRPr sz="1380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080" dirty="0">
                <a:solidFill>
                  <a:srgbClr val="2C3E50"/>
                </a:solidFill>
                <a:latin typeface="Arial"/>
              </a:rPr>
              <a:t>Авторы архитектурного облика проекта </a:t>
            </a:r>
            <a:r>
              <a:rPr sz="1080" dirty="0">
                <a:solidFill>
                  <a:srgbClr val="2C3E50"/>
                </a:solidFill>
                <a:latin typeface="Arial"/>
              </a:rPr>
              <a:t>и </a:t>
            </a:r>
            <a:r>
              <a:rPr lang="ru-RU" sz="1080" dirty="0">
                <a:solidFill>
                  <a:srgbClr val="2C3E50"/>
                </a:solidFill>
                <a:latin typeface="Arial"/>
              </a:rPr>
              <a:t>философии пространства</a:t>
            </a:r>
            <a:endParaRPr sz="1080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438912" y="6693408"/>
            <a:ext cx="6473952" cy="131673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91440" rIns="91440" bIns="60960" rtlCol="0" anchor="t"/>
          <a:lstStyle/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Разработчики</a:t>
            </a:r>
            <a:endParaRPr sz="1380" b="1" dirty="0">
              <a:solidFill>
                <a:srgbClr val="1A1A1A"/>
              </a:solidFill>
              <a:latin typeface="Calibri"/>
            </a:endParaRPr>
          </a:p>
          <a:p>
            <a:pPr algn="ctr"/>
            <a:r>
              <a:rPr lang="ru-RU" sz="1380" b="1" dirty="0">
                <a:solidFill>
                  <a:srgbClr val="6C348D"/>
                </a:solidFill>
                <a:latin typeface="Arial"/>
              </a:rPr>
              <a:t>по другим направлениям</a:t>
            </a:r>
            <a:endParaRPr sz="1380" b="1" dirty="0">
              <a:solidFill>
                <a:srgbClr val="1A1A1A"/>
              </a:solidFill>
              <a:latin typeface="Calibr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03504" y="7263994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Дизайн </a:t>
            </a:r>
          </a:p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интерьеров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2743200" y="7263994"/>
            <a:ext cx="2029968" cy="658368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Благоустройство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882896" y="7263994"/>
            <a:ext cx="1920240" cy="658368"/>
          </a:xfrm>
          <a:prstGeom prst="roundRect">
            <a:avLst>
              <a:gd name="adj" fmla="val 15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Архитектурная </a:t>
            </a:r>
            <a:endParaRPr sz="1200" dirty="0">
              <a:solidFill>
                <a:srgbClr val="333333"/>
              </a:solidFill>
              <a:latin typeface="Calibri"/>
            </a:endParaRPr>
          </a:p>
          <a:p>
            <a:pPr algn="ctr"/>
            <a:r>
              <a:rPr lang="ru-RU" sz="1200" dirty="0">
                <a:solidFill>
                  <a:srgbClr val="6C348D"/>
                </a:solidFill>
                <a:latin typeface="Arial"/>
              </a:rPr>
              <a:t>подсветка</a:t>
            </a:r>
            <a:endParaRPr sz="1200" dirty="0">
              <a:solidFill>
                <a:srgbClr val="333333"/>
              </a:solidFill>
              <a:latin typeface="Calibri"/>
            </a:endParaRPr>
          </a:p>
        </p:txBody>
      </p:sp>
      <p:cxnSp>
        <p:nvCxnSpPr>
          <p:cNvPr id="43" name="Connector 14">
            <a:extLst>
              <a:ext uri="{FF2B5EF4-FFF2-40B4-BE49-F238E27FC236}">
                <a16:creationId xmlns:a16="http://schemas.microsoft.com/office/drawing/2014/main" id="{A0850C3A-17A9-4164-A46B-CAA9389A7704}"/>
              </a:ext>
            </a:extLst>
          </p:cNvPr>
          <p:cNvCxnSpPr>
            <a:cxnSpLocks/>
          </p:cNvCxnSpPr>
          <p:nvPr/>
        </p:nvCxnSpPr>
        <p:spPr>
          <a:xfrm flipH="1">
            <a:off x="3456432" y="4178808"/>
            <a:ext cx="438912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14">
            <a:extLst>
              <a:ext uri="{FF2B5EF4-FFF2-40B4-BE49-F238E27FC236}">
                <a16:creationId xmlns:a16="http://schemas.microsoft.com/office/drawing/2014/main" id="{F72FF8B5-3EF5-49CE-92AA-D4BCF9B078D9}"/>
              </a:ext>
            </a:extLst>
          </p:cNvPr>
          <p:cNvCxnSpPr>
            <a:cxnSpLocks/>
          </p:cNvCxnSpPr>
          <p:nvPr/>
        </p:nvCxnSpPr>
        <p:spPr>
          <a:xfrm>
            <a:off x="6912864" y="400812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14">
            <a:extLst>
              <a:ext uri="{FF2B5EF4-FFF2-40B4-BE49-F238E27FC236}">
                <a16:creationId xmlns:a16="http://schemas.microsoft.com/office/drawing/2014/main" id="{216346F7-3424-4649-9671-126E3C90FD61}"/>
              </a:ext>
            </a:extLst>
          </p:cNvPr>
          <p:cNvCxnSpPr>
            <a:cxnSpLocks/>
          </p:cNvCxnSpPr>
          <p:nvPr/>
        </p:nvCxnSpPr>
        <p:spPr>
          <a:xfrm flipH="1">
            <a:off x="6912864" y="4191000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14">
            <a:extLst>
              <a:ext uri="{FF2B5EF4-FFF2-40B4-BE49-F238E27FC236}">
                <a16:creationId xmlns:a16="http://schemas.microsoft.com/office/drawing/2014/main" id="{C37D14DA-CF28-4E6D-99CD-64F1E6D3C93F}"/>
              </a:ext>
            </a:extLst>
          </p:cNvPr>
          <p:cNvCxnSpPr>
            <a:cxnSpLocks/>
          </p:cNvCxnSpPr>
          <p:nvPr/>
        </p:nvCxnSpPr>
        <p:spPr>
          <a:xfrm flipV="1">
            <a:off x="5324856" y="4970678"/>
            <a:ext cx="0" cy="35113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4">
            <a:extLst>
              <a:ext uri="{FF2B5EF4-FFF2-40B4-BE49-F238E27FC236}">
                <a16:creationId xmlns:a16="http://schemas.microsoft.com/office/drawing/2014/main" id="{B205F3B7-8CC3-4072-8C8C-A5DD89DDB001}"/>
              </a:ext>
            </a:extLst>
          </p:cNvPr>
          <p:cNvCxnSpPr>
            <a:cxnSpLocks/>
          </p:cNvCxnSpPr>
          <p:nvPr/>
        </p:nvCxnSpPr>
        <p:spPr>
          <a:xfrm>
            <a:off x="5573269" y="4970678"/>
            <a:ext cx="0" cy="35113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14">
            <a:extLst>
              <a:ext uri="{FF2B5EF4-FFF2-40B4-BE49-F238E27FC236}">
                <a16:creationId xmlns:a16="http://schemas.microsoft.com/office/drawing/2014/main" id="{0F03DCC2-D9E8-4089-88BC-73A0FA898086}"/>
              </a:ext>
            </a:extLst>
          </p:cNvPr>
          <p:cNvCxnSpPr>
            <a:cxnSpLocks/>
          </p:cNvCxnSpPr>
          <p:nvPr/>
        </p:nvCxnSpPr>
        <p:spPr>
          <a:xfrm flipV="1">
            <a:off x="3550920" y="6419088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14">
            <a:extLst>
              <a:ext uri="{FF2B5EF4-FFF2-40B4-BE49-F238E27FC236}">
                <a16:creationId xmlns:a16="http://schemas.microsoft.com/office/drawing/2014/main" id="{5AFD1740-D6BF-4417-B2BE-7D172DF024F1}"/>
              </a:ext>
            </a:extLst>
          </p:cNvPr>
          <p:cNvCxnSpPr>
            <a:cxnSpLocks/>
          </p:cNvCxnSpPr>
          <p:nvPr/>
        </p:nvCxnSpPr>
        <p:spPr>
          <a:xfrm>
            <a:off x="3799333" y="6419088"/>
            <a:ext cx="0" cy="27432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14">
            <a:extLst>
              <a:ext uri="{FF2B5EF4-FFF2-40B4-BE49-F238E27FC236}">
                <a16:creationId xmlns:a16="http://schemas.microsoft.com/office/drawing/2014/main" id="{BAEA00BB-BFB3-4C1E-990A-98277D1BE9AC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6912864" y="5870448"/>
            <a:ext cx="219456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Прямая соединительная линия 78">
            <a:extLst>
              <a:ext uri="{FF2B5EF4-FFF2-40B4-BE49-F238E27FC236}">
                <a16:creationId xmlns:a16="http://schemas.microsoft.com/office/drawing/2014/main" id="{8634A24D-B42B-4390-B0C1-6D3113053B32}"/>
              </a:ext>
            </a:extLst>
          </p:cNvPr>
          <p:cNvCxnSpPr>
            <a:cxnSpLocks/>
          </p:cNvCxnSpPr>
          <p:nvPr/>
        </p:nvCxnSpPr>
        <p:spPr>
          <a:xfrm>
            <a:off x="9946060" y="3845967"/>
            <a:ext cx="0" cy="2677363"/>
          </a:xfrm>
          <a:prstGeom prst="line">
            <a:avLst/>
          </a:prstGeom>
          <a:ln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22">
            <a:extLst>
              <a:ext uri="{FF2B5EF4-FFF2-40B4-BE49-F238E27FC236}">
                <a16:creationId xmlns:a16="http://schemas.microsoft.com/office/drawing/2014/main" id="{28B33E12-F083-471B-A0F7-18EABD2B4D5A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9930384" y="6523330"/>
            <a:ext cx="27432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07">
            <a:extLst>
              <a:ext uri="{FF2B5EF4-FFF2-40B4-BE49-F238E27FC236}">
                <a16:creationId xmlns:a16="http://schemas.microsoft.com/office/drawing/2014/main" id="{0F4FB695-EEE8-49A9-B263-8865BF2BCB6B}"/>
              </a:ext>
            </a:extLst>
          </p:cNvPr>
          <p:cNvSpPr txBox="1"/>
          <p:nvPr/>
        </p:nvSpPr>
        <p:spPr>
          <a:xfrm>
            <a:off x="4621638" y="39155"/>
            <a:ext cx="49464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dirty="0">
                <a:solidFill>
                  <a:srgbClr val="2C3E50"/>
                </a:solidFill>
                <a:latin typeface="Arial"/>
              </a:rPr>
              <a:t>Ф</a:t>
            </a:r>
            <a:r>
              <a:rPr lang="ru-RU" b="1" dirty="0">
                <a:solidFill>
                  <a:srgbClr val="2C3E50"/>
                </a:solidFill>
                <a:latin typeface="Arial"/>
              </a:rPr>
              <a:t>УНКЦИОНАЛЬНЫЙ КОНТУР УК</a:t>
            </a:r>
          </a:p>
          <a:p>
            <a:pPr algn="ctr"/>
            <a:r>
              <a:rPr lang="ru-RU" sz="1200" b="0" dirty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  <a:endParaRPr sz="1800" b="1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4" name="Rounded Rectangle 50">
            <a:extLst>
              <a:ext uri="{FF2B5EF4-FFF2-40B4-BE49-F238E27FC236}">
                <a16:creationId xmlns:a16="http://schemas.microsoft.com/office/drawing/2014/main" id="{B1F5D420-B76A-46DA-9598-3FA3F147C676}"/>
              </a:ext>
            </a:extLst>
          </p:cNvPr>
          <p:cNvSpPr/>
          <p:nvPr/>
        </p:nvSpPr>
        <p:spPr>
          <a:xfrm>
            <a:off x="9386077" y="3960557"/>
            <a:ext cx="2523231" cy="3317705"/>
          </a:xfrm>
          <a:prstGeom prst="roundRect">
            <a:avLst>
              <a:gd name="adj" fmla="val 8000"/>
            </a:avLst>
          </a:prstGeom>
          <a:solidFill>
            <a:srgbClr val="F6E9EE"/>
          </a:solidFill>
          <a:ln w="19050">
            <a:solidFill>
              <a:srgbClr val="8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1200" b="1">
                <a:solidFill>
                  <a:srgbClr val="5C2439"/>
                </a:solidFill>
                <a:latin typeface="Arial"/>
              </a:rPr>
              <a:t>ОТДЕЛКА </a:t>
            </a:r>
            <a:r>
              <a:rPr lang="ru-RU" sz="1200" b="1" dirty="0">
                <a:solidFill>
                  <a:srgbClr val="5C2439"/>
                </a:solidFill>
                <a:latin typeface="Arial"/>
              </a:rPr>
              <a:t>(</a:t>
            </a:r>
            <a:r>
              <a:rPr lang="ru-RU" sz="1200" b="1" dirty="0" err="1">
                <a:solidFill>
                  <a:srgbClr val="5C2439"/>
                </a:solidFill>
                <a:latin typeface="Arial"/>
              </a:rPr>
              <a:t>Fit-Out</a:t>
            </a:r>
            <a:r>
              <a:rPr lang="ru-RU" sz="1200" b="1" dirty="0">
                <a:solidFill>
                  <a:srgbClr val="5C2439"/>
                </a:solidFill>
                <a:latin typeface="Arial"/>
              </a:rPr>
              <a:t>) И ОБОРУДОВАНИЕ МУЛЬТИМЕДИЙНОГО КОМПЛЕКСА</a:t>
            </a:r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pPr algn="ctr"/>
            <a:endParaRPr lang="ru-RU" sz="1200" b="1" dirty="0">
              <a:solidFill>
                <a:schemeClr val="tx1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РСР по Отделке и Оборудованию (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Fit-Out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)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Мультимедийные 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ИТ-системы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безопасности 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Системы диспетчеризации инженерного оборудования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Функциональный оператор</a:t>
            </a:r>
          </a:p>
          <a:p>
            <a:pPr lvl="2"/>
            <a:endParaRPr lang="ru-RU" sz="1100" dirty="0">
              <a:solidFill>
                <a:schemeClr val="tx1"/>
              </a:solidFill>
            </a:endParaRPr>
          </a:p>
          <a:p>
            <a:pPr lvl="2"/>
            <a:r>
              <a:rPr lang="ru-RU" sz="1100" dirty="0">
                <a:solidFill>
                  <a:srgbClr val="2C3E50"/>
                </a:solidFill>
              </a:rPr>
              <a:t>	</a:t>
            </a:r>
            <a:endParaRPr lang="ru-RU" sz="1100" b="1" dirty="0">
              <a:solidFill>
                <a:schemeClr val="tx1"/>
              </a:solidFill>
              <a:latin typeface="Arial"/>
            </a:endParaRPr>
          </a:p>
        </p:txBody>
      </p:sp>
      <p:sp>
        <p:nvSpPr>
          <p:cNvPr id="101" name="Rounded Rectangle 10">
            <a:extLst>
              <a:ext uri="{FF2B5EF4-FFF2-40B4-BE49-F238E27FC236}">
                <a16:creationId xmlns:a16="http://schemas.microsoft.com/office/drawing/2014/main" id="{2EF43A69-23EF-4C73-B929-E2FC752F9D98}"/>
              </a:ext>
            </a:extLst>
          </p:cNvPr>
          <p:cNvSpPr/>
          <p:nvPr/>
        </p:nvSpPr>
        <p:spPr>
          <a:xfrm>
            <a:off x="3213717" y="951338"/>
            <a:ext cx="8695587" cy="152565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1200" b="1" dirty="0">
                <a:solidFill>
                  <a:srgbClr val="1A527A"/>
                </a:solidFill>
                <a:latin typeface="Arial"/>
              </a:rPr>
              <a:t>УПРАВЛЯЮЩАЯ КОМПАНИЯ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9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900" b="0" dirty="0">
                <a:solidFill>
                  <a:srgbClr val="2C3E50"/>
                </a:solidFill>
                <a:latin typeface="Arial"/>
              </a:rPr>
              <a:t>•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Градостроительный аудит и разрешительная стратегия</a:t>
            </a:r>
          </a:p>
          <a:p>
            <a:pPr algn="l"/>
            <a:r>
              <a:rPr lang="ru-RU" sz="900" b="0" dirty="0">
                <a:solidFill>
                  <a:srgbClr val="2C3E50"/>
                </a:solidFill>
                <a:latin typeface="Arial"/>
              </a:rPr>
              <a:t>   АГК, ТЭП, АГР, ПЗЗ, ГПЗУ, ГЗК, </a:t>
            </a:r>
            <a:r>
              <a:rPr lang="ru-RU" sz="900" dirty="0" err="1">
                <a:solidFill>
                  <a:srgbClr val="2C3E50"/>
                </a:solidFill>
                <a:latin typeface="Arial"/>
              </a:rPr>
              <a:t>РнС</a:t>
            </a:r>
            <a:r>
              <a:rPr lang="ru-RU" sz="900" dirty="0">
                <a:solidFill>
                  <a:srgbClr val="2C3E50"/>
                </a:solidFill>
                <a:latin typeface="Arial"/>
              </a:rPr>
              <a:t> / реконструкция</a:t>
            </a:r>
            <a:r>
              <a:rPr lang="ru-RU" sz="900" b="0" dirty="0">
                <a:solidFill>
                  <a:srgbClr val="2C3E50"/>
                </a:solidFill>
                <a:latin typeface="Arial"/>
              </a:rPr>
              <a:t>  Организация тендеров и закупочных процедур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Координация Концептуального куратора, Технического заказчика, генпроектировщика, генподрядчика и всех других участников проекта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Отделка и оборудование 	</a:t>
            </a: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•  Бюджет, сроки, качество, управление рисками, отчетность</a:t>
            </a:r>
          </a:p>
          <a:p>
            <a:endParaRPr lang="ru-RU" sz="900" dirty="0">
              <a:solidFill>
                <a:srgbClr val="2C3E50"/>
              </a:solidFill>
              <a:latin typeface="Arial"/>
            </a:endParaRPr>
          </a:p>
          <a:p>
            <a:r>
              <a:rPr lang="ru-RU" sz="900" dirty="0">
                <a:solidFill>
                  <a:srgbClr val="2C3E50"/>
                </a:solidFill>
                <a:latin typeface="Arial"/>
              </a:rPr>
              <a:t> 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2" name="Rounded Rectangle 50">
            <a:extLst>
              <a:ext uri="{FF2B5EF4-FFF2-40B4-BE49-F238E27FC236}">
                <a16:creationId xmlns:a16="http://schemas.microsoft.com/office/drawing/2014/main" id="{1D1D9739-AB1B-4F6B-80A9-9D222E3176F1}"/>
              </a:ext>
            </a:extLst>
          </p:cNvPr>
          <p:cNvSpPr/>
          <p:nvPr/>
        </p:nvSpPr>
        <p:spPr>
          <a:xfrm>
            <a:off x="12404408" y="1101971"/>
            <a:ext cx="2031988" cy="1224388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374151"/>
                </a:solidFill>
                <a:latin typeface="Arial"/>
              </a:rPr>
              <a:t>ПРИНЦИПЫ УПРАВЛЕНИЯ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Единый центр ответственности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Разделение концепции и реализации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Прозрачность бюджета и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качества и рисков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Сохранение авторского замысла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Учет исторического центра Москвы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3" name="Rounded Rectangle 51">
            <a:extLst>
              <a:ext uri="{FF2B5EF4-FFF2-40B4-BE49-F238E27FC236}">
                <a16:creationId xmlns:a16="http://schemas.microsoft.com/office/drawing/2014/main" id="{9A058531-4D0C-4CEE-A088-A5B25BADD5D5}"/>
              </a:ext>
            </a:extLst>
          </p:cNvPr>
          <p:cNvSpPr/>
          <p:nvPr/>
        </p:nvSpPr>
        <p:spPr>
          <a:xfrm>
            <a:off x="12447961" y="2935530"/>
            <a:ext cx="2003217" cy="1224388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374151"/>
                </a:solidFill>
                <a:latin typeface="Arial"/>
              </a:rPr>
              <a:t>ОТДЕЛЬНЫЕ АКЦЕНТЫ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: что создаем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УК: как реализуем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Архитектор: авторская идея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Генпроектировщик РФ: проектная ответственность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заказчик</a:t>
            </a:r>
            <a:r>
              <a:rPr lang="ru-RU" sz="700" b="0">
                <a:solidFill>
                  <a:srgbClr val="2C3E50"/>
                </a:solidFill>
                <a:latin typeface="Arial"/>
              </a:rPr>
              <a:t>: функции в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пределах требований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ГрК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РФ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4" name="Rounded Rectangle 52">
            <a:extLst>
              <a:ext uri="{FF2B5EF4-FFF2-40B4-BE49-F238E27FC236}">
                <a16:creationId xmlns:a16="http://schemas.microsoft.com/office/drawing/2014/main" id="{4B6E7635-9FF4-421C-91AC-136AA0F03DEC}"/>
              </a:ext>
            </a:extLst>
          </p:cNvPr>
          <p:cNvSpPr/>
          <p:nvPr/>
        </p:nvSpPr>
        <p:spPr>
          <a:xfrm>
            <a:off x="12456801" y="4426737"/>
            <a:ext cx="1994377" cy="1224388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374151"/>
                </a:solidFill>
                <a:latin typeface="Arial"/>
              </a:rPr>
              <a:t>СПЕЦИФИКА ПРОЕКТА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Исторический центр Москвы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 / 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Доходный дом и имущественный контур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Зоны охраны, археология, ДКН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Повышенное внимание города и общественности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5" name="Rounded Rectangle 53">
            <a:extLst>
              <a:ext uri="{FF2B5EF4-FFF2-40B4-BE49-F238E27FC236}">
                <a16:creationId xmlns:a16="http://schemas.microsoft.com/office/drawing/2014/main" id="{556CDDC5-9BC4-4DE0-88ED-44187DC13F6D}"/>
              </a:ext>
            </a:extLst>
          </p:cNvPr>
          <p:cNvSpPr/>
          <p:nvPr/>
        </p:nvSpPr>
        <p:spPr>
          <a:xfrm>
            <a:off x="12442578" y="6000076"/>
            <a:ext cx="1955649" cy="1278185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 w="1905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000" b="1" dirty="0">
                <a:solidFill>
                  <a:srgbClr val="374151"/>
                </a:solidFill>
                <a:latin typeface="Arial"/>
              </a:rPr>
              <a:t>ЭКСПЛУАТАЦИОННЫЙ КОНТУР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Оператор / арендаторы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Эксплуатирующая компания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b="0" dirty="0">
                <a:solidFill>
                  <a:srgbClr val="2C3E50"/>
                </a:solidFill>
                <a:latin typeface="Arial"/>
              </a:rPr>
              <a:t>Facility management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Операционная модель и требования к проектированию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Передача объекта в эксплуатацию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4" name="Rounded Rectangle 38">
            <a:extLst>
              <a:ext uri="{FF2B5EF4-FFF2-40B4-BE49-F238E27FC236}">
                <a16:creationId xmlns:a16="http://schemas.microsoft.com/office/drawing/2014/main" id="{6A2A62D4-DCB7-471E-9620-4546D6607762}"/>
              </a:ext>
            </a:extLst>
          </p:cNvPr>
          <p:cNvSpPr/>
          <p:nvPr/>
        </p:nvSpPr>
        <p:spPr>
          <a:xfrm>
            <a:off x="232173" y="1442016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ДЕПАРТАМЕНТ ГРАДОСТРОИТЕЛЬНОЙ ПОЛИТИКИ</a:t>
            </a:r>
            <a:r>
              <a:rPr lang="ru-RU" sz="800" b="1" dirty="0">
                <a:solidFill>
                  <a:srgbClr val="234A34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5" name="Rounded Rectangle 40">
            <a:extLst>
              <a:ext uri="{FF2B5EF4-FFF2-40B4-BE49-F238E27FC236}">
                <a16:creationId xmlns:a16="http://schemas.microsoft.com/office/drawing/2014/main" id="{9A6E9040-132C-4E86-A93F-ED1018187809}"/>
              </a:ext>
            </a:extLst>
          </p:cNvPr>
          <p:cNvSpPr/>
          <p:nvPr/>
        </p:nvSpPr>
        <p:spPr>
          <a:xfrm>
            <a:off x="232173" y="2581499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800" b="1" dirty="0">
                <a:solidFill>
                  <a:srgbClr val="234A34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234A34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234A34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АГР, ТЭП, ПЗЗ, ГПЗУ	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6" name="Rounded Rectangle 42">
            <a:extLst>
              <a:ext uri="{FF2B5EF4-FFF2-40B4-BE49-F238E27FC236}">
                <a16:creationId xmlns:a16="http://schemas.microsoft.com/office/drawing/2014/main" id="{C6C143B3-D4C2-469B-82D2-88EA2A1833F6}"/>
              </a:ext>
            </a:extLst>
          </p:cNvPr>
          <p:cNvSpPr/>
          <p:nvPr/>
        </p:nvSpPr>
        <p:spPr>
          <a:xfrm>
            <a:off x="211189" y="3711372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ДЕПАРТАМЕНТ КУЛЬТУРНОГО НАСЛЕДИЯ</a:t>
            </a:r>
            <a:r>
              <a:rPr lang="ru-RU" sz="800" b="1" dirty="0">
                <a:solidFill>
                  <a:srgbClr val="234A34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7" name="Rounded Rectangle 44">
            <a:extLst>
              <a:ext uri="{FF2B5EF4-FFF2-40B4-BE49-F238E27FC236}">
                <a16:creationId xmlns:a16="http://schemas.microsoft.com/office/drawing/2014/main" id="{28DA2DDB-1840-4E29-9D40-038689B550DD}"/>
              </a:ext>
            </a:extLst>
          </p:cNvPr>
          <p:cNvSpPr/>
          <p:nvPr/>
        </p:nvSpPr>
        <p:spPr>
          <a:xfrm>
            <a:off x="202783" y="4828758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МОСГОСЭКСПЕРТИЗА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Консультационные услуги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Экспертиза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8" name="Rounded Rectangle 46">
            <a:extLst>
              <a:ext uri="{FF2B5EF4-FFF2-40B4-BE49-F238E27FC236}">
                <a16:creationId xmlns:a16="http://schemas.microsoft.com/office/drawing/2014/main" id="{65F9B1A4-5CC1-43B5-BB6F-25DA3655161D}"/>
              </a:ext>
            </a:extLst>
          </p:cNvPr>
          <p:cNvSpPr/>
          <p:nvPr/>
        </p:nvSpPr>
        <p:spPr>
          <a:xfrm>
            <a:off x="170714" y="5940109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МОСГОССТРОЙНАДЗОР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РпР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79" name="Rounded Rectangle 48">
            <a:extLst>
              <a:ext uri="{FF2B5EF4-FFF2-40B4-BE49-F238E27FC236}">
                <a16:creationId xmlns:a16="http://schemas.microsoft.com/office/drawing/2014/main" id="{7ABEF922-BC13-4A9D-8E8E-2C9398D76BE7}"/>
              </a:ext>
            </a:extLst>
          </p:cNvPr>
          <p:cNvSpPr/>
          <p:nvPr/>
        </p:nvSpPr>
        <p:spPr>
          <a:xfrm>
            <a:off x="163173" y="7074611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9050">
            <a:solidFill>
              <a:srgbClr val="3D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234A34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E7B66FD-FF70-4728-BFFB-E10BFA7DD9ED}"/>
              </a:ext>
            </a:extLst>
          </p:cNvPr>
          <p:cNvSpPr txBox="1"/>
          <p:nvPr/>
        </p:nvSpPr>
        <p:spPr>
          <a:xfrm>
            <a:off x="73483" y="951338"/>
            <a:ext cx="22303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234A34"/>
                </a:solidFill>
                <a:latin typeface="Arial"/>
              </a:rPr>
              <a:t>СОГЛАСОВАТЕЛЬНЫЙ КОНТУР</a:t>
            </a:r>
            <a:endParaRPr lang="ru-RU" sz="11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72" name="Rounded Rectangle 11">
            <a:extLst>
              <a:ext uri="{FF2B5EF4-FFF2-40B4-BE49-F238E27FC236}">
                <a16:creationId xmlns:a16="http://schemas.microsoft.com/office/drawing/2014/main" id="{18C01C72-CD0C-4378-87BC-8D733B369AAA}"/>
              </a:ext>
            </a:extLst>
          </p:cNvPr>
          <p:cNvSpPr/>
          <p:nvPr/>
        </p:nvSpPr>
        <p:spPr>
          <a:xfrm>
            <a:off x="2447194" y="3915052"/>
            <a:ext cx="6652409" cy="336321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1" name="Rounded Rectangle 22">
            <a:extLst>
              <a:ext uri="{FF2B5EF4-FFF2-40B4-BE49-F238E27FC236}">
                <a16:creationId xmlns:a16="http://schemas.microsoft.com/office/drawing/2014/main" id="{4AE2694C-E877-47DD-AC5F-D951FA728895}"/>
              </a:ext>
            </a:extLst>
          </p:cNvPr>
          <p:cNvSpPr/>
          <p:nvPr/>
        </p:nvSpPr>
        <p:spPr>
          <a:xfrm>
            <a:off x="3821182" y="4854571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F6E9EE"/>
          </a:solidFill>
          <a:ln w="19050">
            <a:solidFill>
              <a:srgbClr val="8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5C2439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СТУ МЧС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Научно-техническое сопровождение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2" name="Rounded Rectangle 23">
            <a:extLst>
              <a:ext uri="{FF2B5EF4-FFF2-40B4-BE49-F238E27FC236}">
                <a16:creationId xmlns:a16="http://schemas.microsoft.com/office/drawing/2014/main" id="{E35C27C3-43ED-4263-AA24-12BAA1634110}"/>
              </a:ext>
            </a:extLst>
          </p:cNvPr>
          <p:cNvSpPr/>
          <p:nvPr/>
        </p:nvSpPr>
        <p:spPr>
          <a:xfrm>
            <a:off x="5065741" y="4854451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F6E9EE"/>
          </a:solidFill>
          <a:ln w="19050">
            <a:solidFill>
              <a:srgbClr val="8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5C2439"/>
                </a:solidFill>
                <a:latin typeface="Arial"/>
              </a:rPr>
              <a:t>ИНЖЕНЕРИЯ И РЕСУРСЫ</a:t>
            </a: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Вынос / отключение сетей</a:t>
            </a: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3" name="Rounded Rectangle 24">
            <a:extLst>
              <a:ext uri="{FF2B5EF4-FFF2-40B4-BE49-F238E27FC236}">
                <a16:creationId xmlns:a16="http://schemas.microsoft.com/office/drawing/2014/main" id="{BCF259D1-B365-4DFB-AA9D-6C0C1F472C39}"/>
              </a:ext>
            </a:extLst>
          </p:cNvPr>
          <p:cNvSpPr/>
          <p:nvPr/>
        </p:nvSpPr>
        <p:spPr>
          <a:xfrm>
            <a:off x="6294722" y="4823874"/>
            <a:ext cx="1094307" cy="1941995"/>
          </a:xfrm>
          <a:prstGeom prst="roundRect">
            <a:avLst>
              <a:gd name="adj" fmla="val 8000"/>
            </a:avLst>
          </a:prstGeom>
          <a:solidFill>
            <a:srgbClr val="F6E9EE"/>
          </a:solidFill>
          <a:ln w="19050">
            <a:solidFill>
              <a:srgbClr val="8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5C2439"/>
                </a:solidFill>
                <a:latin typeface="Arial"/>
              </a:rPr>
              <a:t>ГЕНПОДРЯДЧИК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5" name="Rounded Rectangle 25">
            <a:extLst>
              <a:ext uri="{FF2B5EF4-FFF2-40B4-BE49-F238E27FC236}">
                <a16:creationId xmlns:a16="http://schemas.microsoft.com/office/drawing/2014/main" id="{4BF6B9B5-67B1-4B16-9454-E14DE65C3E37}"/>
              </a:ext>
            </a:extLst>
          </p:cNvPr>
          <p:cNvSpPr/>
          <p:nvPr/>
        </p:nvSpPr>
        <p:spPr>
          <a:xfrm>
            <a:off x="7514628" y="4816539"/>
            <a:ext cx="1094307" cy="1933769"/>
          </a:xfrm>
          <a:prstGeom prst="roundRect">
            <a:avLst>
              <a:gd name="adj" fmla="val 8000"/>
            </a:avLst>
          </a:prstGeom>
          <a:solidFill>
            <a:srgbClr val="F6E9EE"/>
          </a:solidFill>
          <a:ln w="19050">
            <a:solidFill>
              <a:srgbClr val="8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5C2439"/>
                </a:solidFill>
                <a:latin typeface="Arial"/>
              </a:rPr>
              <a:t>СТРОИТЕЛЬНЫЙ КОНТРОЛЬ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объемов и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86" name="Rounded Rectangle 21">
            <a:extLst>
              <a:ext uri="{FF2B5EF4-FFF2-40B4-BE49-F238E27FC236}">
                <a16:creationId xmlns:a16="http://schemas.microsoft.com/office/drawing/2014/main" id="{B751F8CE-67D8-404F-8ABF-08BA658AE001}"/>
              </a:ext>
            </a:extLst>
          </p:cNvPr>
          <p:cNvSpPr/>
          <p:nvPr/>
        </p:nvSpPr>
        <p:spPr>
          <a:xfrm>
            <a:off x="2554031" y="4854571"/>
            <a:ext cx="1105250" cy="1941995"/>
          </a:xfrm>
          <a:prstGeom prst="roundRect">
            <a:avLst>
              <a:gd name="adj" fmla="val 8000"/>
            </a:avLst>
          </a:prstGeom>
          <a:solidFill>
            <a:srgbClr val="F6E9EE"/>
          </a:solidFill>
          <a:ln w="19050">
            <a:solidFill>
              <a:srgbClr val="8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sz="800" b="1" dirty="0">
                <a:solidFill>
                  <a:srgbClr val="5C2439"/>
                </a:solidFill>
                <a:latin typeface="Arial"/>
              </a:rPr>
              <a:t>ГЕНПРОЕКТИРОВЩИК РФ</a:t>
            </a:r>
          </a:p>
          <a:p>
            <a:pPr algn="l"/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АГК, АГР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Проект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Адаптация решений Иностранного архитектора</a:t>
            </a:r>
          </a:p>
          <a:p>
            <a:r>
              <a:rPr lang="ru-RU" sz="8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Дизайн и концепция интерьеров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sp>
        <p:nvSpPr>
          <p:cNvPr id="88" name="Rounded Rectangle 8">
            <a:extLst>
              <a:ext uri="{FF2B5EF4-FFF2-40B4-BE49-F238E27FC236}">
                <a16:creationId xmlns:a16="http://schemas.microsoft.com/office/drawing/2014/main" id="{1CC14400-628E-4CCF-B304-E3D8A5C62B45}"/>
              </a:ext>
            </a:extLst>
          </p:cNvPr>
          <p:cNvSpPr/>
          <p:nvPr/>
        </p:nvSpPr>
        <p:spPr>
          <a:xfrm>
            <a:off x="3050459" y="4008240"/>
            <a:ext cx="5011322" cy="693032"/>
          </a:xfrm>
          <a:prstGeom prst="roundRect">
            <a:avLst>
              <a:gd name="adj" fmla="val 8000"/>
            </a:avLst>
          </a:prstGeom>
          <a:solidFill>
            <a:srgbClr val="F0D9E2"/>
          </a:solidFill>
          <a:ln w="19050">
            <a:solidFill>
              <a:srgbClr val="8E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t"/>
          <a:lstStyle/>
          <a:p>
            <a:pPr algn="ctr"/>
            <a:r>
              <a:rPr lang="ru-RU" sz="900" b="1" dirty="0">
                <a:solidFill>
                  <a:srgbClr val="5C2439"/>
                </a:solidFill>
                <a:latin typeface="Arial"/>
              </a:rPr>
              <a:t>ТЕХНИЧЕСКИЙ ЗАКАЗЧИК</a:t>
            </a:r>
            <a:endParaRPr lang="ru-RU" sz="900" dirty="0">
              <a:solidFill>
                <a:srgbClr val="2C3E50"/>
              </a:solidFill>
              <a:latin typeface="Arial"/>
            </a:endParaRPr>
          </a:p>
          <a:p>
            <a:endParaRPr lang="ru-RU" sz="700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1000" dirty="0">
                <a:solidFill>
                  <a:srgbClr val="2C3E50"/>
                </a:solidFill>
                <a:latin typeface="Arial"/>
              </a:rPr>
              <a:t>Техническое сопровождение реализации, ИРД, ПИР, СМР, СК, взаимодействие с надзором, ЗОС, Акт ввода </a:t>
            </a:r>
          </a:p>
        </p:txBody>
      </p:sp>
      <p:cxnSp>
        <p:nvCxnSpPr>
          <p:cNvPr id="89" name="Прямая со стрелкой 88">
            <a:extLst>
              <a:ext uri="{FF2B5EF4-FFF2-40B4-BE49-F238E27FC236}">
                <a16:creationId xmlns:a16="http://schemas.microsoft.com/office/drawing/2014/main" id="{D0D19BDE-12BD-4CAA-B4F2-9D4B65C5F4B7}"/>
              </a:ext>
            </a:extLst>
          </p:cNvPr>
          <p:cNvCxnSpPr>
            <a:cxnSpLocks/>
          </p:cNvCxnSpPr>
          <p:nvPr/>
        </p:nvCxnSpPr>
        <p:spPr>
          <a:xfrm>
            <a:off x="5725427" y="2476992"/>
            <a:ext cx="0" cy="1391466"/>
          </a:xfrm>
          <a:prstGeom prst="straightConnector1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Прямая со стрелкой 101">
            <a:extLst>
              <a:ext uri="{FF2B5EF4-FFF2-40B4-BE49-F238E27FC236}">
                <a16:creationId xmlns:a16="http://schemas.microsoft.com/office/drawing/2014/main" id="{E86E1701-A1A6-4374-83D4-6A37E8550D84}"/>
              </a:ext>
            </a:extLst>
          </p:cNvPr>
          <p:cNvCxnSpPr>
            <a:cxnSpLocks/>
          </p:cNvCxnSpPr>
          <p:nvPr/>
        </p:nvCxnSpPr>
        <p:spPr>
          <a:xfrm>
            <a:off x="10597959" y="2489746"/>
            <a:ext cx="0" cy="1239462"/>
          </a:xfrm>
          <a:prstGeom prst="straightConnector1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3">
            <a:extLst>
              <a:ext uri="{FF2B5EF4-FFF2-40B4-BE49-F238E27FC236}">
                <a16:creationId xmlns:a16="http://schemas.microsoft.com/office/drawing/2014/main" id="{7600C5ED-2B12-48F0-B21B-1A16E8A9743F}"/>
              </a:ext>
            </a:extLst>
          </p:cNvPr>
          <p:cNvSpPr/>
          <p:nvPr/>
        </p:nvSpPr>
        <p:spPr>
          <a:xfrm>
            <a:off x="14100048" y="131673"/>
            <a:ext cx="351130" cy="351130"/>
          </a:xfrm>
          <a:prstGeom prst="ellipse">
            <a:avLst/>
          </a:prstGeom>
          <a:solidFill>
            <a:srgbClr val="D8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60960" rIns="91440" bIns="60960" rtlCol="0" anchor="ctr"/>
          <a:lstStyle/>
          <a:p>
            <a:pPr algn="ctr"/>
            <a:r>
              <a:rPr lang="ru-RU" sz="1440" b="1" dirty="0">
                <a:solidFill>
                  <a:srgbClr val="FFFFFF"/>
                </a:solidFill>
                <a:latin typeface="Arial"/>
              </a:rPr>
              <a:t>2</a:t>
            </a:r>
            <a:endParaRPr sz="1440" b="1" dirty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</TotalTime>
  <Words>590</Words>
  <Application>Microsoft Office PowerPoint</Application>
  <PresentationFormat>Произвольный</PresentationFormat>
  <Paragraphs>153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141</cp:revision>
  <cp:lastPrinted>2026-08-10T10:12:23Z</cp:lastPrinted>
  <dcterms:created xsi:type="dcterms:W3CDTF">2013-01-27T09:14:16Z</dcterms:created>
  <dcterms:modified xsi:type="dcterms:W3CDTF">2026-08-12T06:14:19Z</dcterms:modified>
  <cp:category/>
</cp:coreProperties>
</file>