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4630400" cy="8229600"/>
  <p:notesSz cx="9802813" cy="142049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2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01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76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5">
            <a:extLst>
              <a:ext uri="{FF2B5EF4-FFF2-40B4-BE49-F238E27FC236}">
                <a16:creationId xmlns:a16="http://schemas.microsoft.com/office/drawing/2014/main" id="{4A145F54-1791-4051-BF71-EDAA7940F2D7}"/>
              </a:ext>
            </a:extLst>
          </p:cNvPr>
          <p:cNvSpPr/>
          <p:nvPr/>
        </p:nvSpPr>
        <p:spPr>
          <a:xfrm>
            <a:off x="434342" y="935416"/>
            <a:ext cx="13716000" cy="1997048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5" name="Rounded Rectangle 26">
            <a:extLst>
              <a:ext uri="{FF2B5EF4-FFF2-40B4-BE49-F238E27FC236}">
                <a16:creationId xmlns:a16="http://schemas.microsoft.com/office/drawing/2014/main" id="{B1DD7DBF-A156-45CB-8DBC-94A86DF64683}"/>
              </a:ext>
            </a:extLst>
          </p:cNvPr>
          <p:cNvSpPr/>
          <p:nvPr/>
        </p:nvSpPr>
        <p:spPr>
          <a:xfrm>
            <a:off x="434342" y="6545274"/>
            <a:ext cx="6473952" cy="1464863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endParaRPr sz="1380" b="1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80" name="Connector 22">
            <a:extLst>
              <a:ext uri="{FF2B5EF4-FFF2-40B4-BE49-F238E27FC236}">
                <a16:creationId xmlns:a16="http://schemas.microsoft.com/office/drawing/2014/main" id="{F0D3FF0A-E4DC-42AF-BBB6-9857EA992C8A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9938222" y="3845967"/>
            <a:ext cx="307628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38912" y="164592"/>
            <a:ext cx="7458324" cy="572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3120" b="1" dirty="0">
                <a:solidFill>
                  <a:srgbClr val="2C3E50"/>
                </a:solidFill>
                <a:latin typeface="Arial"/>
              </a:rPr>
              <a:t>Укрупненная схема работы над проектом</a:t>
            </a:r>
            <a:endParaRPr sz="312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4100048" y="131673"/>
            <a:ext cx="351130" cy="351130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Arial"/>
              </a:rPr>
              <a:t>1</a:t>
            </a:r>
            <a:endParaRPr sz="144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8912" y="932688"/>
            <a:ext cx="13716000" cy="482805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r>
              <a:rPr lang="ru-RU" b="1" dirty="0">
                <a:solidFill>
                  <a:srgbClr val="D83A2E"/>
                </a:solidFill>
                <a:latin typeface="Arial"/>
              </a:rPr>
              <a:t>Инвестор и собственник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182112" y="1495108"/>
            <a:ext cx="8339328" cy="548640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D83A2E"/>
                </a:solidFill>
                <a:latin typeface="Arial"/>
              </a:rPr>
              <a:t>Совет акционеров</a:t>
            </a:r>
            <a:endParaRPr sz="144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200" dirty="0">
                <a:solidFill>
                  <a:srgbClr val="2C3E50"/>
                </a:solidFill>
                <a:latin typeface="Arial"/>
              </a:rPr>
              <a:t>Высший уровень принятия решений</a:t>
            </a:r>
            <a:endParaRPr sz="120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8" name="Connector 7"/>
          <p:cNvCxnSpPr>
            <a:cxnSpLocks/>
            <a:stCxn id="7" idx="2"/>
            <a:endCxn id="9" idx="0"/>
          </p:cNvCxnSpPr>
          <p:nvPr/>
        </p:nvCxnSpPr>
        <p:spPr>
          <a:xfrm>
            <a:off x="7351776" y="2043748"/>
            <a:ext cx="0" cy="17215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82112" y="2215898"/>
            <a:ext cx="8339328" cy="636422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20" b="1" dirty="0">
                <a:solidFill>
                  <a:srgbClr val="D83A2E"/>
                </a:solidFill>
                <a:latin typeface="Arial"/>
              </a:rPr>
              <a:t>Внутренний функциональный заказчик:</a:t>
            </a:r>
            <a:endParaRPr sz="132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200" dirty="0">
                <a:solidFill>
                  <a:srgbClr val="2C3E50"/>
                </a:solidFill>
                <a:latin typeface="Arial"/>
              </a:rPr>
              <a:t>CEO </a:t>
            </a:r>
            <a:r>
              <a:rPr lang="ru-RU" sz="1200" dirty="0">
                <a:solidFill>
                  <a:srgbClr val="2C3E50"/>
                </a:solidFill>
                <a:latin typeface="Arial"/>
              </a:rPr>
              <a:t>Маркетинг</a:t>
            </a:r>
            <a:r>
              <a:rPr sz="12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200" dirty="0">
                <a:solidFill>
                  <a:srgbClr val="2C3E50"/>
                </a:solidFill>
                <a:latin typeface="Arial"/>
              </a:rPr>
              <a:t>Инфраструктура</a:t>
            </a:r>
            <a:endParaRPr sz="120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020" dirty="0">
                <a:solidFill>
                  <a:srgbClr val="2C3E50"/>
                </a:solidFill>
                <a:latin typeface="Arial"/>
              </a:rPr>
              <a:t>Представитель банка на уровне принятия решений </a:t>
            </a:r>
            <a:r>
              <a:rPr sz="102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формулирования задач от акционеров</a:t>
            </a:r>
            <a:endParaRPr sz="102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0" name="Connector 9"/>
          <p:cNvCxnSpPr>
            <a:cxnSpLocks/>
            <a:endCxn id="13" idx="0"/>
          </p:cNvCxnSpPr>
          <p:nvPr/>
        </p:nvCxnSpPr>
        <p:spPr>
          <a:xfrm>
            <a:off x="1947672" y="2929735"/>
            <a:ext cx="1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  <a:endCxn id="14" idx="0"/>
          </p:cNvCxnSpPr>
          <p:nvPr/>
        </p:nvCxnSpPr>
        <p:spPr>
          <a:xfrm>
            <a:off x="5404104" y="2929735"/>
            <a:ext cx="0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endCxn id="16" idx="0"/>
          </p:cNvCxnSpPr>
          <p:nvPr/>
        </p:nvCxnSpPr>
        <p:spPr>
          <a:xfrm>
            <a:off x="8390534" y="2929735"/>
            <a:ext cx="3658" cy="34015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" y="3269894"/>
            <a:ext cx="3017520" cy="170078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1A527A"/>
                </a:solidFill>
                <a:latin typeface="Arial"/>
              </a:rPr>
              <a:t>Команда по созданию </a:t>
            </a:r>
            <a:r>
              <a:rPr lang="ru-RU" sz="1440" b="1" dirty="0" err="1">
                <a:solidFill>
                  <a:srgbClr val="1A527A"/>
                </a:solidFill>
                <a:latin typeface="Arial"/>
              </a:rPr>
              <a:t>иммерсивной</a:t>
            </a:r>
            <a:r>
              <a:rPr lang="ru-RU" sz="1440" b="1" dirty="0">
                <a:solidFill>
                  <a:srgbClr val="1A527A"/>
                </a:solidFill>
                <a:latin typeface="Arial"/>
              </a:rPr>
              <a:t> среды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Разработка экспозиции</a:t>
            </a:r>
            <a:r>
              <a:rPr sz="114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40" dirty="0" err="1">
                <a:solidFill>
                  <a:srgbClr val="2C3E50"/>
                </a:solidFill>
                <a:latin typeface="Arial"/>
              </a:rPr>
              <a:t>продакшен</a:t>
            </a:r>
            <a:endParaRPr sz="114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контента </a:t>
            </a:r>
            <a:r>
              <a:rPr sz="114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40" dirty="0">
                <a:solidFill>
                  <a:srgbClr val="2C3E50"/>
                </a:solidFill>
                <a:latin typeface="Arial"/>
              </a:rPr>
              <a:t>мультимедиа оснащения</a:t>
            </a:r>
            <a:endParaRPr sz="114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95344" y="3269894"/>
            <a:ext cx="3017520" cy="170078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1A527A"/>
                </a:solidFill>
                <a:latin typeface="Arial"/>
              </a:rPr>
              <a:t>Управление </a:t>
            </a:r>
          </a:p>
          <a:p>
            <a:pPr algn="ctr"/>
            <a:r>
              <a:rPr lang="ru-RU" sz="1440" b="1" dirty="0">
                <a:solidFill>
                  <a:srgbClr val="1A527A"/>
                </a:solidFill>
                <a:latin typeface="Arial"/>
              </a:rPr>
              <a:t>продуктом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Обеспечивает концептуальную целостность</a:t>
            </a:r>
            <a:r>
              <a:rPr sz="1140" dirty="0">
                <a:solidFill>
                  <a:srgbClr val="2C3E50"/>
                </a:solidFill>
                <a:latin typeface="Arial"/>
              </a:rPr>
              <a:t>,</a:t>
            </a: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качество </a:t>
            </a:r>
            <a:r>
              <a:rPr sz="114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40" dirty="0">
                <a:solidFill>
                  <a:srgbClr val="2C3E50"/>
                </a:solidFill>
                <a:latin typeface="Arial"/>
              </a:rPr>
              <a:t>последовательность проекта</a:t>
            </a:r>
            <a:endParaRPr sz="1140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3456432" y="3995928"/>
            <a:ext cx="43891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0" y="3269893"/>
            <a:ext cx="2523744" cy="474024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sz="1440" b="1" dirty="0">
                <a:solidFill>
                  <a:srgbClr val="2C333B"/>
                </a:solidFill>
                <a:latin typeface="Arial"/>
              </a:rPr>
              <a:t>Управление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440" b="1" dirty="0">
                <a:solidFill>
                  <a:srgbClr val="2C333B"/>
                </a:solidFill>
                <a:latin typeface="Arial"/>
              </a:rPr>
              <a:t>реализацией</a:t>
            </a:r>
            <a:r>
              <a:rPr sz="1440" b="1" dirty="0">
                <a:solidFill>
                  <a:srgbClr val="2C333B"/>
                </a:solidFill>
                <a:latin typeface="Arial"/>
              </a:rPr>
              <a:t> /</a:t>
            </a:r>
          </a:p>
          <a:p>
            <a:pPr algn="ctr"/>
            <a:r>
              <a:rPr lang="ru-RU" sz="1440" b="1" dirty="0">
                <a:solidFill>
                  <a:srgbClr val="2C333B"/>
                </a:solidFill>
                <a:latin typeface="Arial"/>
              </a:rPr>
              <a:t>Управляющая 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440" b="1" dirty="0">
                <a:solidFill>
                  <a:srgbClr val="2C333B"/>
                </a:solidFill>
                <a:latin typeface="Arial"/>
              </a:rPr>
              <a:t>компания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080" dirty="0">
                <a:solidFill>
                  <a:srgbClr val="2C3E50"/>
                </a:solidFill>
                <a:latin typeface="Arial"/>
              </a:rPr>
              <a:t>Представитель Банка на</a:t>
            </a:r>
            <a:r>
              <a:rPr sz="108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операционном уровне </a:t>
            </a:r>
            <a:r>
              <a:rPr sz="108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руководитель команды реализации</a:t>
            </a:r>
            <a:r>
              <a:rPr sz="108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курирующий сроки</a:t>
            </a:r>
            <a:r>
              <a:rPr sz="108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разрешения </a:t>
            </a:r>
            <a:r>
              <a:rPr sz="108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бюджет</a:t>
            </a:r>
            <a:endParaRPr sz="108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245850" y="3269895"/>
            <a:ext cx="3950208" cy="1152144"/>
          </a:xfrm>
          <a:prstGeom prst="roundRect">
            <a:avLst/>
          </a:prstGeom>
          <a:solidFill>
            <a:srgbClr val="EBEDEF"/>
          </a:solidFill>
          <a:ln w="19050">
            <a:solidFill>
              <a:srgbClr val="55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2C333B"/>
                </a:solidFill>
                <a:latin typeface="Arial"/>
              </a:rPr>
              <a:t>Технический заказчик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080" dirty="0">
                <a:solidFill>
                  <a:srgbClr val="2C3E50"/>
                </a:solidFill>
                <a:latin typeface="Arial"/>
              </a:rPr>
              <a:t>(Project Management Contractor)</a:t>
            </a:r>
          </a:p>
          <a:p>
            <a:pPr algn="ctr"/>
            <a:r>
              <a:rPr lang="ru-RU" sz="1020" dirty="0">
                <a:solidFill>
                  <a:srgbClr val="2C3E50"/>
                </a:solidFill>
                <a:latin typeface="Arial"/>
              </a:rPr>
              <a:t>Генеральный подрядчик управления проектом</a:t>
            </a:r>
            <a:r>
              <a:rPr sz="102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организующий процессы согласования </a:t>
            </a:r>
            <a:r>
              <a:rPr sz="102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строительства</a:t>
            </a:r>
            <a:endParaRPr sz="102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9" name="Connector 18"/>
          <p:cNvCxnSpPr>
            <a:cxnSpLocks/>
            <a:stCxn id="18" idx="2"/>
            <a:endCxn id="20" idx="0"/>
          </p:cNvCxnSpPr>
          <p:nvPr/>
        </p:nvCxnSpPr>
        <p:spPr>
          <a:xfrm>
            <a:off x="12220954" y="4422039"/>
            <a:ext cx="0" cy="641904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45850" y="5063943"/>
            <a:ext cx="3950208" cy="1152144"/>
          </a:xfrm>
          <a:prstGeom prst="roundRect">
            <a:avLst/>
          </a:prstGeom>
          <a:solidFill>
            <a:srgbClr val="EBEDEF"/>
          </a:solidFill>
          <a:ln w="19050">
            <a:solidFill>
              <a:srgbClr val="55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2C333B"/>
                </a:solidFill>
                <a:latin typeface="Arial"/>
              </a:rPr>
              <a:t>Генеральный проектировщик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080" dirty="0">
                <a:solidFill>
                  <a:srgbClr val="2C3E50"/>
                </a:solidFill>
                <a:latin typeface="Arial"/>
              </a:rPr>
              <a:t>(Architect of Record)</a:t>
            </a:r>
          </a:p>
          <a:p>
            <a:pPr algn="ctr"/>
            <a:r>
              <a:rPr lang="ru-RU" sz="1020" dirty="0">
                <a:solidFill>
                  <a:srgbClr val="2C3E50"/>
                </a:solidFill>
                <a:latin typeface="Arial"/>
              </a:rPr>
              <a:t>Перевод концепции в проектную </a:t>
            </a:r>
            <a:r>
              <a:rPr sz="102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рабочую документацию </a:t>
            </a:r>
            <a:r>
              <a:rPr sz="1020" dirty="0">
                <a:solidFill>
                  <a:srgbClr val="2C3E50"/>
                </a:solidFill>
                <a:latin typeface="Arial"/>
              </a:rPr>
              <a:t>с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учетом нормативной базы</a:t>
            </a:r>
            <a:r>
              <a:rPr sz="1020" dirty="0">
                <a:solidFill>
                  <a:srgbClr val="2C3E50"/>
                </a:solidFill>
                <a:latin typeface="Arial"/>
              </a:rPr>
              <a:t>в РФ</a:t>
            </a:r>
          </a:p>
        </p:txBody>
      </p:sp>
      <p:cxnSp>
        <p:nvCxnSpPr>
          <p:cNvPr id="21" name="Connector 20"/>
          <p:cNvCxnSpPr>
            <a:cxnSpLocks/>
            <a:stCxn id="20" idx="2"/>
            <a:endCxn id="22" idx="0"/>
          </p:cNvCxnSpPr>
          <p:nvPr/>
        </p:nvCxnSpPr>
        <p:spPr>
          <a:xfrm>
            <a:off x="12220954" y="6216087"/>
            <a:ext cx="0" cy="641913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245850" y="6858000"/>
            <a:ext cx="3950208" cy="1152144"/>
          </a:xfrm>
          <a:prstGeom prst="roundRect">
            <a:avLst/>
          </a:prstGeom>
          <a:solidFill>
            <a:srgbClr val="EBEDEF"/>
          </a:solidFill>
          <a:ln w="19050">
            <a:solidFill>
              <a:srgbClr val="55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2C333B"/>
                </a:solidFill>
                <a:latin typeface="Arial"/>
              </a:rPr>
              <a:t>Генеральный подрядчик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Отвечает за процессы строительства</a:t>
            </a:r>
            <a:endParaRPr sz="114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23" name="Connector 22"/>
          <p:cNvCxnSpPr>
            <a:cxnSpLocks/>
            <a:stCxn id="16" idx="3"/>
            <a:endCxn id="20" idx="1"/>
          </p:cNvCxnSpPr>
          <p:nvPr/>
        </p:nvCxnSpPr>
        <p:spPr>
          <a:xfrm flipV="1">
            <a:off x="9656064" y="5640015"/>
            <a:ext cx="589786" cy="1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8912" y="5184648"/>
            <a:ext cx="6473952" cy="1097280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1A527A"/>
                </a:solidFill>
                <a:latin typeface="Arial"/>
              </a:rPr>
              <a:t>Разработчики концепции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200" b="1" dirty="0">
                <a:solidFill>
                  <a:srgbClr val="1A527A"/>
                </a:solidFill>
                <a:latin typeface="Arial"/>
              </a:rPr>
              <a:t>(Lead Design Author)</a:t>
            </a:r>
          </a:p>
          <a:p>
            <a:pPr algn="ctr"/>
            <a:endParaRPr sz="138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080" dirty="0">
                <a:solidFill>
                  <a:srgbClr val="2C3E50"/>
                </a:solidFill>
                <a:latin typeface="Arial"/>
              </a:rPr>
              <a:t>Авторы архитектурного облика проекта </a:t>
            </a:r>
            <a:r>
              <a:rPr sz="108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философии пространства</a:t>
            </a:r>
            <a:endParaRPr sz="108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4342" y="6545275"/>
            <a:ext cx="6473952" cy="570586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r>
              <a:rPr lang="ru-RU" sz="1380" b="1" dirty="0">
                <a:solidFill>
                  <a:srgbClr val="1A527A"/>
                </a:solidFill>
                <a:latin typeface="Arial"/>
              </a:rPr>
              <a:t>Разработчики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380" b="1" dirty="0">
                <a:solidFill>
                  <a:srgbClr val="1A527A"/>
                </a:solidFill>
                <a:latin typeface="Arial"/>
              </a:rPr>
              <a:t>по другим направлениям</a:t>
            </a:r>
            <a:endParaRPr sz="138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71502" y="7233815"/>
            <a:ext cx="2029968" cy="658368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2C3E50"/>
                </a:solidFill>
                <a:latin typeface="Arial"/>
              </a:rPr>
              <a:t>Дизайн </a:t>
            </a:r>
          </a:p>
          <a:p>
            <a:pPr algn="ctr"/>
            <a:r>
              <a:rPr lang="ru-RU" sz="1200" dirty="0">
                <a:solidFill>
                  <a:srgbClr val="2C3E50"/>
                </a:solidFill>
                <a:latin typeface="Arial"/>
              </a:rPr>
              <a:t>интерьеров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738630" y="7233815"/>
            <a:ext cx="2029968" cy="658368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2C3E50"/>
                </a:solidFill>
                <a:latin typeface="Arial"/>
              </a:rPr>
              <a:t>Благоустройство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878326" y="7233815"/>
            <a:ext cx="1920240" cy="658368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2C3E50"/>
                </a:solidFill>
                <a:latin typeface="Arial"/>
              </a:rPr>
              <a:t>Архитектурная </a:t>
            </a:r>
            <a:endParaRPr sz="1200" dirty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lang="ru-RU" sz="1200" dirty="0">
                <a:solidFill>
                  <a:srgbClr val="2C3E50"/>
                </a:solidFill>
                <a:latin typeface="Arial"/>
              </a:rPr>
              <a:t>подсветка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cxnSp>
        <p:nvCxnSpPr>
          <p:cNvPr id="43" name="Connector 14">
            <a:extLst>
              <a:ext uri="{FF2B5EF4-FFF2-40B4-BE49-F238E27FC236}">
                <a16:creationId xmlns:a16="http://schemas.microsoft.com/office/drawing/2014/main" id="{A0850C3A-17A9-4164-A46B-CAA9389A7704}"/>
              </a:ext>
            </a:extLst>
          </p:cNvPr>
          <p:cNvCxnSpPr>
            <a:cxnSpLocks/>
          </p:cNvCxnSpPr>
          <p:nvPr/>
        </p:nvCxnSpPr>
        <p:spPr>
          <a:xfrm flipH="1">
            <a:off x="3456432" y="4178808"/>
            <a:ext cx="43891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14">
            <a:extLst>
              <a:ext uri="{FF2B5EF4-FFF2-40B4-BE49-F238E27FC236}">
                <a16:creationId xmlns:a16="http://schemas.microsoft.com/office/drawing/2014/main" id="{F72FF8B5-3EF5-49CE-92AA-D4BCF9B078D9}"/>
              </a:ext>
            </a:extLst>
          </p:cNvPr>
          <p:cNvCxnSpPr>
            <a:cxnSpLocks/>
          </p:cNvCxnSpPr>
          <p:nvPr/>
        </p:nvCxnSpPr>
        <p:spPr>
          <a:xfrm>
            <a:off x="6912864" y="4008120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14">
            <a:extLst>
              <a:ext uri="{FF2B5EF4-FFF2-40B4-BE49-F238E27FC236}">
                <a16:creationId xmlns:a16="http://schemas.microsoft.com/office/drawing/2014/main" id="{216346F7-3424-4649-9671-126E3C90FD61}"/>
              </a:ext>
            </a:extLst>
          </p:cNvPr>
          <p:cNvCxnSpPr>
            <a:cxnSpLocks/>
          </p:cNvCxnSpPr>
          <p:nvPr/>
        </p:nvCxnSpPr>
        <p:spPr>
          <a:xfrm flipH="1">
            <a:off x="6912864" y="4191000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14">
            <a:extLst>
              <a:ext uri="{FF2B5EF4-FFF2-40B4-BE49-F238E27FC236}">
                <a16:creationId xmlns:a16="http://schemas.microsoft.com/office/drawing/2014/main" id="{C37D14DA-CF28-4E6D-99CD-64F1E6D3C93F}"/>
              </a:ext>
            </a:extLst>
          </p:cNvPr>
          <p:cNvCxnSpPr>
            <a:cxnSpLocks/>
          </p:cNvCxnSpPr>
          <p:nvPr/>
        </p:nvCxnSpPr>
        <p:spPr>
          <a:xfrm flipV="1">
            <a:off x="5324856" y="4970678"/>
            <a:ext cx="0" cy="21397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14">
            <a:extLst>
              <a:ext uri="{FF2B5EF4-FFF2-40B4-BE49-F238E27FC236}">
                <a16:creationId xmlns:a16="http://schemas.microsoft.com/office/drawing/2014/main" id="{B205F3B7-8CC3-4072-8C8C-A5DD89DDB001}"/>
              </a:ext>
            </a:extLst>
          </p:cNvPr>
          <p:cNvCxnSpPr>
            <a:cxnSpLocks/>
          </p:cNvCxnSpPr>
          <p:nvPr/>
        </p:nvCxnSpPr>
        <p:spPr>
          <a:xfrm>
            <a:off x="5573269" y="4970678"/>
            <a:ext cx="0" cy="21397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14">
            <a:extLst>
              <a:ext uri="{FF2B5EF4-FFF2-40B4-BE49-F238E27FC236}">
                <a16:creationId xmlns:a16="http://schemas.microsoft.com/office/drawing/2014/main" id="{0F03DCC2-D9E8-4089-88BC-73A0FA898086}"/>
              </a:ext>
            </a:extLst>
          </p:cNvPr>
          <p:cNvCxnSpPr>
            <a:cxnSpLocks/>
          </p:cNvCxnSpPr>
          <p:nvPr/>
        </p:nvCxnSpPr>
        <p:spPr>
          <a:xfrm flipV="1">
            <a:off x="3546350" y="6270955"/>
            <a:ext cx="0" cy="2743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14">
            <a:extLst>
              <a:ext uri="{FF2B5EF4-FFF2-40B4-BE49-F238E27FC236}">
                <a16:creationId xmlns:a16="http://schemas.microsoft.com/office/drawing/2014/main" id="{5AFD1740-D6BF-4417-B2BE-7D172DF024F1}"/>
              </a:ext>
            </a:extLst>
          </p:cNvPr>
          <p:cNvCxnSpPr>
            <a:cxnSpLocks/>
          </p:cNvCxnSpPr>
          <p:nvPr/>
        </p:nvCxnSpPr>
        <p:spPr>
          <a:xfrm>
            <a:off x="3794763" y="6270955"/>
            <a:ext cx="0" cy="2743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14">
            <a:extLst>
              <a:ext uri="{FF2B5EF4-FFF2-40B4-BE49-F238E27FC236}">
                <a16:creationId xmlns:a16="http://schemas.microsoft.com/office/drawing/2014/main" id="{BAEA00BB-BFB3-4C1E-990A-98277D1BE9AC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6912864" y="5733288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8634A24D-B42B-4390-B0C1-6D3113053B32}"/>
              </a:ext>
            </a:extLst>
          </p:cNvPr>
          <p:cNvCxnSpPr>
            <a:cxnSpLocks/>
          </p:cNvCxnSpPr>
          <p:nvPr/>
        </p:nvCxnSpPr>
        <p:spPr>
          <a:xfrm>
            <a:off x="9938222" y="3845967"/>
            <a:ext cx="33308" cy="3588105"/>
          </a:xfrm>
          <a:prstGeom prst="line">
            <a:avLst/>
          </a:prstGeom>
          <a:ln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22">
            <a:extLst>
              <a:ext uri="{FF2B5EF4-FFF2-40B4-BE49-F238E27FC236}">
                <a16:creationId xmlns:a16="http://schemas.microsoft.com/office/drawing/2014/main" id="{28B33E12-F083-471B-A0F7-18EABD2B4D5A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9971530" y="7434072"/>
            <a:ext cx="27432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ounded Rectangle 50">
            <a:extLst>
              <a:ext uri="{FF2B5EF4-FFF2-40B4-BE49-F238E27FC236}">
                <a16:creationId xmlns:a16="http://schemas.microsoft.com/office/drawing/2014/main" id="{1D1D9739-AB1B-4F6B-80A9-9D222E3176F1}"/>
              </a:ext>
            </a:extLst>
          </p:cNvPr>
          <p:cNvSpPr/>
          <p:nvPr/>
        </p:nvSpPr>
        <p:spPr>
          <a:xfrm>
            <a:off x="10245849" y="3269895"/>
            <a:ext cx="3950207" cy="998217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8B9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440" b="1" dirty="0">
                <a:solidFill>
                  <a:srgbClr val="4B5563"/>
                </a:solidFill>
                <a:latin typeface="Arial"/>
              </a:rPr>
              <a:t>ПРИНЦИПЫ УПРАВЛЕНИЯ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Единый центр ответственности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Разделение концепции и реализации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Прозрачность бюджета и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качества и рисков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Сохранение авторского замысла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Учет исторического центра Москвы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6" name="Rounded Rectangle 38">
            <a:extLst>
              <a:ext uri="{FF2B5EF4-FFF2-40B4-BE49-F238E27FC236}">
                <a16:creationId xmlns:a16="http://schemas.microsoft.com/office/drawing/2014/main" id="{738C37D5-3E8F-4243-9C7E-DC0BF77686D8}"/>
              </a:ext>
            </a:extLst>
          </p:cNvPr>
          <p:cNvSpPr/>
          <p:nvPr/>
        </p:nvSpPr>
        <p:spPr>
          <a:xfrm>
            <a:off x="445471" y="6545274"/>
            <a:ext cx="9210079" cy="1464863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endParaRPr sz="800" b="1" dirty="0">
              <a:solidFill>
                <a:srgbClr val="D35400"/>
              </a:solidFill>
              <a:latin typeface="Arial"/>
            </a:endParaRPr>
          </a:p>
        </p:txBody>
      </p:sp>
      <p:sp>
        <p:nvSpPr>
          <p:cNvPr id="51" name="Rounded Rectangle 38">
            <a:extLst>
              <a:ext uri="{FF2B5EF4-FFF2-40B4-BE49-F238E27FC236}">
                <a16:creationId xmlns:a16="http://schemas.microsoft.com/office/drawing/2014/main" id="{8DAC13BC-137B-40D6-98EC-C565DE28E471}"/>
              </a:ext>
            </a:extLst>
          </p:cNvPr>
          <p:cNvSpPr/>
          <p:nvPr/>
        </p:nvSpPr>
        <p:spPr>
          <a:xfrm>
            <a:off x="528988" y="6919467"/>
            <a:ext cx="1421424" cy="1009192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34A34"/>
                </a:solidFill>
                <a:latin typeface="Arial"/>
              </a:rPr>
              <a:t>ДЕПАРТАМЕНТ ГРАДОСТРОИТЕЛЬНОЙ ПОЛИТИКИ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Архитектурно-градостроительный облик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Цифровой двойник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2" name="Rounded Rectangle 11">
            <a:extLst>
              <a:ext uri="{FF2B5EF4-FFF2-40B4-BE49-F238E27FC236}">
                <a16:creationId xmlns:a16="http://schemas.microsoft.com/office/drawing/2014/main" id="{18C01C72-CD0C-4378-87BC-8D733B369AAA}"/>
              </a:ext>
            </a:extLst>
          </p:cNvPr>
          <p:cNvSpPr/>
          <p:nvPr/>
        </p:nvSpPr>
        <p:spPr>
          <a:xfrm>
            <a:off x="434343" y="3269895"/>
            <a:ext cx="6473951" cy="301203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1" name="Rounded Rectangle 22">
            <a:extLst>
              <a:ext uri="{FF2B5EF4-FFF2-40B4-BE49-F238E27FC236}">
                <a16:creationId xmlns:a16="http://schemas.microsoft.com/office/drawing/2014/main" id="{4AE2694C-E877-47DD-AC5F-D951FA728895}"/>
              </a:ext>
            </a:extLst>
          </p:cNvPr>
          <p:cNvSpPr/>
          <p:nvPr/>
        </p:nvSpPr>
        <p:spPr>
          <a:xfrm>
            <a:off x="1795382" y="4210052"/>
            <a:ext cx="1064951" cy="194199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ПРОЕКТНЫЕ И ЭКСПЕРТНЫЕ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Изыскания и обследования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СТУ МЧС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Историко-культурные экспертизы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Археология и мониторинг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Научно-техническое сопровождение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Кадастровый инженер / БТИ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2" name="Rounded Rectangle 23">
            <a:extLst>
              <a:ext uri="{FF2B5EF4-FFF2-40B4-BE49-F238E27FC236}">
                <a16:creationId xmlns:a16="http://schemas.microsoft.com/office/drawing/2014/main" id="{E35C27C3-43ED-4263-AA24-12BAA1634110}"/>
              </a:ext>
            </a:extLst>
          </p:cNvPr>
          <p:cNvSpPr/>
          <p:nvPr/>
        </p:nvSpPr>
        <p:spPr>
          <a:xfrm>
            <a:off x="3138843" y="4210052"/>
            <a:ext cx="1064951" cy="194199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ИНЖЕНЕРИЯ И РЕСУРСЫ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ТУ и техническое подключение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Вынос / отключение сетей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3" name="Rounded Rectangle 24">
            <a:extLst>
              <a:ext uri="{FF2B5EF4-FFF2-40B4-BE49-F238E27FC236}">
                <a16:creationId xmlns:a16="http://schemas.microsoft.com/office/drawing/2014/main" id="{BCF259D1-B365-4DFB-AA9D-6C0C1F472C39}"/>
              </a:ext>
            </a:extLst>
          </p:cNvPr>
          <p:cNvSpPr/>
          <p:nvPr/>
        </p:nvSpPr>
        <p:spPr>
          <a:xfrm>
            <a:off x="4481041" y="4179355"/>
            <a:ext cx="1064951" cy="194199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ГЕНПОДРЯДЧИК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Демонтаж сложных конструкций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СМР и поставки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Субподрядчики, ОТ и ТБ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5" name="Rounded Rectangle 25">
            <a:extLst>
              <a:ext uri="{FF2B5EF4-FFF2-40B4-BE49-F238E27FC236}">
                <a16:creationId xmlns:a16="http://schemas.microsoft.com/office/drawing/2014/main" id="{4BF6B9B5-67B1-4B16-9454-E14DE65C3E37}"/>
              </a:ext>
            </a:extLst>
          </p:cNvPr>
          <p:cNvSpPr/>
          <p:nvPr/>
        </p:nvSpPr>
        <p:spPr>
          <a:xfrm>
            <a:off x="5791331" y="4172020"/>
            <a:ext cx="1064951" cy="1933769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СТРОИТЕЛЬНЫЙ КОНТРОЛЬ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надзор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объемов и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качества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Приемка работ</a:t>
            </a:r>
            <a:r>
              <a:rPr sz="700" b="0" dirty="0">
                <a:solidFill>
                  <a:srgbClr val="2C3E50"/>
                </a:solidFill>
                <a:latin typeface="Arial"/>
              </a:rPr>
              <a:t> 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6" name="Rounded Rectangle 21">
            <a:extLst>
              <a:ext uri="{FF2B5EF4-FFF2-40B4-BE49-F238E27FC236}">
                <a16:creationId xmlns:a16="http://schemas.microsoft.com/office/drawing/2014/main" id="{B751F8CE-67D8-404F-8ABF-08BA658AE001}"/>
              </a:ext>
            </a:extLst>
          </p:cNvPr>
          <p:cNvSpPr/>
          <p:nvPr/>
        </p:nvSpPr>
        <p:spPr>
          <a:xfrm>
            <a:off x="470632" y="4210052"/>
            <a:ext cx="1075600" cy="194199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ГЕНПРОЕКТИРОВЩИК РФ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Проект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 Рабочая документация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Адаптация решений Иностранного архитектора</a:t>
            </a:r>
          </a:p>
          <a:p>
            <a:r>
              <a:rPr lang="ru-RU" sz="80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Дизайн и концепция интерьеров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Экспертизы и проектная ответственность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BIM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документация</a:t>
            </a:r>
          </a:p>
        </p:txBody>
      </p:sp>
      <p:sp>
        <p:nvSpPr>
          <p:cNvPr id="88" name="Rounded Rectangle 8">
            <a:extLst>
              <a:ext uri="{FF2B5EF4-FFF2-40B4-BE49-F238E27FC236}">
                <a16:creationId xmlns:a16="http://schemas.microsoft.com/office/drawing/2014/main" id="{1CC14400-628E-4CCF-B304-E3D8A5C62B45}"/>
              </a:ext>
            </a:extLst>
          </p:cNvPr>
          <p:cNvSpPr/>
          <p:nvPr/>
        </p:nvSpPr>
        <p:spPr>
          <a:xfrm>
            <a:off x="434342" y="3269894"/>
            <a:ext cx="6473945" cy="786220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1440" b="1" dirty="0">
                <a:solidFill>
                  <a:srgbClr val="2C333B"/>
                </a:solidFill>
                <a:latin typeface="Arial"/>
              </a:rPr>
              <a:t>ТЕХНИЧЕСКИЙ ЗАКАЗЧИК</a:t>
            </a:r>
            <a:endParaRPr lang="ru-RU" sz="1440" dirty="0">
              <a:solidFill>
                <a:srgbClr val="2C3E50"/>
              </a:solidFill>
              <a:latin typeface="Arial"/>
            </a:endParaRP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lang="ru-RU" sz="1000" dirty="0">
                <a:solidFill>
                  <a:srgbClr val="2C3E50"/>
                </a:solidFill>
                <a:latin typeface="Arial"/>
              </a:rPr>
              <a:t>Техническое сопровождение реализации, ИРД, ПИР, СМР, СК, взаимодействие с надзором, ЗОС, Акт ввода </a:t>
            </a:r>
          </a:p>
        </p:txBody>
      </p:sp>
      <p:sp>
        <p:nvSpPr>
          <p:cNvPr id="101" name="Rounded Rectangle 10">
            <a:extLst>
              <a:ext uri="{FF2B5EF4-FFF2-40B4-BE49-F238E27FC236}">
                <a16:creationId xmlns:a16="http://schemas.microsoft.com/office/drawing/2014/main" id="{2EF43A69-23EF-4C73-B929-E2FC752F9D98}"/>
              </a:ext>
            </a:extLst>
          </p:cNvPr>
          <p:cNvSpPr/>
          <p:nvPr/>
        </p:nvSpPr>
        <p:spPr>
          <a:xfrm>
            <a:off x="438912" y="935415"/>
            <a:ext cx="13711430" cy="1997047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b="1" dirty="0">
                <a:solidFill>
                  <a:srgbClr val="2C333B"/>
                </a:solidFill>
                <a:latin typeface="Arial"/>
              </a:rPr>
              <a:t>УПРАВЛЯЮЩАЯ КОМПАНИЯ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Организация практической реализации проекта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  Градостроительный аудит и разрешительная стратегия</a:t>
            </a: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   АГК, ТЭП, АГР, ПЗЗ, ГПЗУ, ГЗК, 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РнС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 / реконструкция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  Организация тендеров и закупочных процедур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Координация Концептуального куратора, Технического заказчика, генпроектировщика, генподрядчика и всех других участников проекта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Отделка и оборудование 	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Бюджет, сроки, качество, управление рисками, отчетность</a:t>
            </a:r>
          </a:p>
          <a:p>
            <a:endParaRPr lang="ru-RU" sz="900" dirty="0">
              <a:solidFill>
                <a:srgbClr val="2C3E50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 </a:t>
            </a:r>
          </a:p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40CB03-2D80-4D81-BE62-357FA1AA5CD6}"/>
              </a:ext>
            </a:extLst>
          </p:cNvPr>
          <p:cNvSpPr txBox="1"/>
          <p:nvPr/>
        </p:nvSpPr>
        <p:spPr>
          <a:xfrm>
            <a:off x="438912" y="164592"/>
            <a:ext cx="5780172" cy="7879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3120" b="1" dirty="0">
                <a:solidFill>
                  <a:srgbClr val="2C3E50"/>
                </a:solidFill>
                <a:latin typeface="Arial"/>
              </a:rPr>
              <a:t>Функциональный контур УК</a:t>
            </a:r>
          </a:p>
          <a:p>
            <a:r>
              <a:rPr lang="ru-RU" sz="1400" b="0" dirty="0">
                <a:solidFill>
                  <a:srgbClr val="5D6D7E"/>
                </a:solidFill>
                <a:latin typeface="Arial"/>
              </a:rPr>
              <a:t>Объект реконструкции → мультимедийный центр, г. Москва</a:t>
            </a:r>
            <a:endParaRPr sz="14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24" name="Rounded Rectangle 50">
            <a:extLst>
              <a:ext uri="{FF2B5EF4-FFF2-40B4-BE49-F238E27FC236}">
                <a16:creationId xmlns:a16="http://schemas.microsoft.com/office/drawing/2014/main" id="{B1F5D420-B76A-46DA-9598-3FA3F147C676}"/>
              </a:ext>
            </a:extLst>
          </p:cNvPr>
          <p:cNvSpPr/>
          <p:nvPr/>
        </p:nvSpPr>
        <p:spPr>
          <a:xfrm>
            <a:off x="7132320" y="3269895"/>
            <a:ext cx="2523231" cy="3012034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1440" b="1" dirty="0">
                <a:solidFill>
                  <a:srgbClr val="6C348D"/>
                </a:solidFill>
                <a:latin typeface="Arial"/>
              </a:rPr>
              <a:t>ОТДЕЛКА (</a:t>
            </a:r>
            <a:r>
              <a:rPr lang="ru-RU" sz="1440" b="1" dirty="0" err="1">
                <a:solidFill>
                  <a:srgbClr val="6C348D"/>
                </a:solidFill>
                <a:latin typeface="Arial"/>
              </a:rPr>
              <a:t>Fit-Out</a:t>
            </a:r>
            <a:r>
              <a:rPr lang="ru-RU" sz="1440" b="1" dirty="0">
                <a:solidFill>
                  <a:srgbClr val="6C348D"/>
                </a:solidFill>
                <a:latin typeface="Arial"/>
              </a:rPr>
              <a:t>) И ОБОРУДОВАНИЕ МУЛЬТИМЕДИЙНОГО КОМПЛЕКСА</a:t>
            </a:r>
            <a:endParaRPr lang="ru-RU" sz="144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ru-RU" sz="1200" b="1" dirty="0">
              <a:solidFill>
                <a:schemeClr val="tx1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РСР по Отделке и Оборудованию (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Fit-Out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)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Мультимедийные системы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ИТ-системы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Системы безопасности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Системы диспетчеризации инженерного оборудования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Функциональный оператор</a:t>
            </a:r>
          </a:p>
          <a:p>
            <a:pPr lvl="2"/>
            <a:endParaRPr lang="ru-RU" sz="1100" dirty="0">
              <a:solidFill>
                <a:schemeClr val="tx1"/>
              </a:solidFill>
            </a:endParaRPr>
          </a:p>
          <a:p>
            <a:pPr lvl="2"/>
            <a:r>
              <a:rPr lang="ru-RU" sz="1100" dirty="0">
                <a:solidFill>
                  <a:srgbClr val="2C3E50"/>
                </a:solidFill>
              </a:rPr>
              <a:t>	</a:t>
            </a:r>
            <a:endParaRPr lang="ru-RU" sz="1100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63" name="Rounded Rectangle 51">
            <a:extLst>
              <a:ext uri="{FF2B5EF4-FFF2-40B4-BE49-F238E27FC236}">
                <a16:creationId xmlns:a16="http://schemas.microsoft.com/office/drawing/2014/main" id="{9A058531-4D0C-4CEE-A088-A5B25BADD5D5}"/>
              </a:ext>
            </a:extLst>
          </p:cNvPr>
          <p:cNvSpPr/>
          <p:nvPr/>
        </p:nvSpPr>
        <p:spPr>
          <a:xfrm>
            <a:off x="10253788" y="4522329"/>
            <a:ext cx="3950206" cy="998225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8B9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4B5563"/>
                </a:solidFill>
                <a:latin typeface="Arial"/>
              </a:rPr>
              <a:t>ОТДЕЛЬНЫЕ АКЦЕНТЫ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Концептуальный куратор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: что создаем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УК: как реализуем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Архитектор: авторская идея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Генпроектировщик РФ: проектная ответственность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заказчик: функции в пределах требований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ГрК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РФ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4" name="Rounded Rectangle 52">
            <a:extLst>
              <a:ext uri="{FF2B5EF4-FFF2-40B4-BE49-F238E27FC236}">
                <a16:creationId xmlns:a16="http://schemas.microsoft.com/office/drawing/2014/main" id="{4B6E7635-9FF4-421C-91AC-136AA0F03DEC}"/>
              </a:ext>
            </a:extLst>
          </p:cNvPr>
          <p:cNvSpPr/>
          <p:nvPr/>
        </p:nvSpPr>
        <p:spPr>
          <a:xfrm>
            <a:off x="10253788" y="5774771"/>
            <a:ext cx="3950206" cy="998217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8B9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4B5563"/>
                </a:solidFill>
                <a:latin typeface="Arial"/>
              </a:rPr>
              <a:t>СПЕЦИФИКА ПРОЕКТА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Исторический центр Москвы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 / глубокая 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Доходный дом и имущественный контур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Зоны охраны, археология, ДКН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Повышенное внимание города и общественности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5" name="Rounded Rectangle 53">
            <a:extLst>
              <a:ext uri="{FF2B5EF4-FFF2-40B4-BE49-F238E27FC236}">
                <a16:creationId xmlns:a16="http://schemas.microsoft.com/office/drawing/2014/main" id="{556CDDC5-9BC4-4DE0-88ED-44187DC13F6D}"/>
              </a:ext>
            </a:extLst>
          </p:cNvPr>
          <p:cNvSpPr/>
          <p:nvPr/>
        </p:nvSpPr>
        <p:spPr>
          <a:xfrm>
            <a:off x="10249551" y="7008591"/>
            <a:ext cx="3954443" cy="998217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8B9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4B5563"/>
                </a:solidFill>
                <a:latin typeface="Arial"/>
              </a:rPr>
              <a:t>ЭКСПЛУАТАЦИОННЫЙ КОНТУР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Оператор / арендаторы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Эксплуатирующая компания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b="0" dirty="0">
                <a:solidFill>
                  <a:srgbClr val="2C3E50"/>
                </a:solidFill>
                <a:latin typeface="Arial"/>
              </a:rPr>
              <a:t>Facility management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Операционная модель и требования к проектированию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Передача объекта в эксплуатацию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5" name="Rounded Rectangle 40">
            <a:extLst>
              <a:ext uri="{FF2B5EF4-FFF2-40B4-BE49-F238E27FC236}">
                <a16:creationId xmlns:a16="http://schemas.microsoft.com/office/drawing/2014/main" id="{9A6E9040-132C-4E86-A93F-ED1018187809}"/>
              </a:ext>
            </a:extLst>
          </p:cNvPr>
          <p:cNvSpPr/>
          <p:nvPr/>
        </p:nvSpPr>
        <p:spPr>
          <a:xfrm>
            <a:off x="3505606" y="6919467"/>
            <a:ext cx="1421424" cy="1009193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800" b="1" dirty="0">
                <a:solidFill>
                  <a:srgbClr val="234A34"/>
                </a:solidFill>
                <a:latin typeface="Arial"/>
              </a:rPr>
              <a:t>КОМИССИЯ ПО ВОПРОСАМ ГРАДОСТРОИТЕЛЬСТВА, ЗЕМЛЕПОЛЬЗОВАНИЯ И ЗАСТРОЙКИ (</a:t>
            </a:r>
            <a:r>
              <a:rPr sz="800" b="1" dirty="0">
                <a:solidFill>
                  <a:srgbClr val="234A34"/>
                </a:solidFill>
                <a:latin typeface="Arial"/>
              </a:rPr>
              <a:t>ГЗК</a:t>
            </a:r>
            <a:r>
              <a:rPr lang="ru-RU" sz="800" b="1" dirty="0">
                <a:solidFill>
                  <a:srgbClr val="234A34"/>
                </a:solidFill>
                <a:latin typeface="Arial"/>
              </a:rPr>
              <a:t>)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АГР, ТЭП, ПЗЗ, ГПЗУ	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Ключевые решения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Рассмотрение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6" name="Rounded Rectangle 42">
            <a:extLst>
              <a:ext uri="{FF2B5EF4-FFF2-40B4-BE49-F238E27FC236}">
                <a16:creationId xmlns:a16="http://schemas.microsoft.com/office/drawing/2014/main" id="{C6C143B3-D4C2-469B-82D2-88EA2A1833F6}"/>
              </a:ext>
            </a:extLst>
          </p:cNvPr>
          <p:cNvSpPr/>
          <p:nvPr/>
        </p:nvSpPr>
        <p:spPr>
          <a:xfrm>
            <a:off x="6482224" y="6921222"/>
            <a:ext cx="1421424" cy="1007438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34A34"/>
                </a:solidFill>
                <a:latin typeface="Arial"/>
              </a:rPr>
              <a:t>ДЕПАРТАМЕНТ КУЛЬТУРНОГО НАСЛЕДИЯ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Зоны охраны ОКН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Историко-культурная экспертиза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Археология и культурный слой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7" name="Rounded Rectangle 44">
            <a:extLst>
              <a:ext uri="{FF2B5EF4-FFF2-40B4-BE49-F238E27FC236}">
                <a16:creationId xmlns:a16="http://schemas.microsoft.com/office/drawing/2014/main" id="{28DA2DDB-1840-4E29-9D40-038689B550DD}"/>
              </a:ext>
            </a:extLst>
          </p:cNvPr>
          <p:cNvSpPr/>
          <p:nvPr/>
        </p:nvSpPr>
        <p:spPr>
          <a:xfrm>
            <a:off x="7971081" y="6919468"/>
            <a:ext cx="1421424" cy="1007438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34A34"/>
                </a:solidFill>
                <a:latin typeface="Arial"/>
              </a:rPr>
              <a:t>МОСГОСЭКСПЕРТИЗА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Консультационные услуги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Экспертиза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проектной документации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8" name="Rounded Rectangle 46">
            <a:extLst>
              <a:ext uri="{FF2B5EF4-FFF2-40B4-BE49-F238E27FC236}">
                <a16:creationId xmlns:a16="http://schemas.microsoft.com/office/drawing/2014/main" id="{65F9B1A4-5CC1-43B5-BB6F-25DA3655161D}"/>
              </a:ext>
            </a:extLst>
          </p:cNvPr>
          <p:cNvSpPr/>
          <p:nvPr/>
        </p:nvSpPr>
        <p:spPr>
          <a:xfrm>
            <a:off x="2017297" y="6919468"/>
            <a:ext cx="1421424" cy="1009192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34A34"/>
                </a:solidFill>
                <a:latin typeface="Arial"/>
              </a:rPr>
              <a:t>МОСГОССТРОЙНАДЗОР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РнР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строительства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ЗОС и ввод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9" name="Rounded Rectangle 48">
            <a:extLst>
              <a:ext uri="{FF2B5EF4-FFF2-40B4-BE49-F238E27FC236}">
                <a16:creationId xmlns:a16="http://schemas.microsoft.com/office/drawing/2014/main" id="{7ABEF922-BC13-4A9D-8E8E-2C9398D76BE7}"/>
              </a:ext>
            </a:extLst>
          </p:cNvPr>
          <p:cNvSpPr/>
          <p:nvPr/>
        </p:nvSpPr>
        <p:spPr>
          <a:xfrm>
            <a:off x="4993915" y="6921221"/>
            <a:ext cx="1421424" cy="100744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34A34"/>
                </a:solidFill>
                <a:latin typeface="Arial"/>
              </a:rPr>
              <a:t>РЕСУРСНОСНАБЖАЮЩИЕ ОРГАНИЗАЦИИ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Подключение к сетям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Согласование проектов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89" name="Прямая со стрелкой 88">
            <a:extLst>
              <a:ext uri="{FF2B5EF4-FFF2-40B4-BE49-F238E27FC236}">
                <a16:creationId xmlns:a16="http://schemas.microsoft.com/office/drawing/2014/main" id="{D0D19BDE-12BD-4CAA-B4F2-9D4B65C5F4B7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3671319" y="2932462"/>
            <a:ext cx="0" cy="337433"/>
          </a:xfrm>
          <a:prstGeom prst="straightConnector1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E86E1701-A1A6-4374-83D4-6A37E8550D84}"/>
              </a:ext>
            </a:extLst>
          </p:cNvPr>
          <p:cNvCxnSpPr>
            <a:cxnSpLocks/>
            <a:endCxn id="124" idx="0"/>
          </p:cNvCxnSpPr>
          <p:nvPr/>
        </p:nvCxnSpPr>
        <p:spPr>
          <a:xfrm>
            <a:off x="8393936" y="2589133"/>
            <a:ext cx="0" cy="680762"/>
          </a:xfrm>
          <a:prstGeom prst="straightConnector1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3">
            <a:extLst>
              <a:ext uri="{FF2B5EF4-FFF2-40B4-BE49-F238E27FC236}">
                <a16:creationId xmlns:a16="http://schemas.microsoft.com/office/drawing/2014/main" id="{7600C5ED-2B12-48F0-B21B-1A16E8A9743F}"/>
              </a:ext>
            </a:extLst>
          </p:cNvPr>
          <p:cNvSpPr/>
          <p:nvPr/>
        </p:nvSpPr>
        <p:spPr>
          <a:xfrm>
            <a:off x="14100048" y="131673"/>
            <a:ext cx="351130" cy="351130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Arial"/>
              </a:rPr>
              <a:t>2</a:t>
            </a:r>
            <a:endParaRPr sz="144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5" name="Rounded Rectangle 38">
            <a:extLst>
              <a:ext uri="{FF2B5EF4-FFF2-40B4-BE49-F238E27FC236}">
                <a16:creationId xmlns:a16="http://schemas.microsoft.com/office/drawing/2014/main" id="{0763881E-9C7B-4BBE-91BD-0835CCB61EA1}"/>
              </a:ext>
            </a:extLst>
          </p:cNvPr>
          <p:cNvSpPr/>
          <p:nvPr/>
        </p:nvSpPr>
        <p:spPr>
          <a:xfrm>
            <a:off x="442756" y="6545273"/>
            <a:ext cx="9222073" cy="288899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800" b="1" dirty="0">
                <a:solidFill>
                  <a:srgbClr val="234A34"/>
                </a:solidFill>
                <a:latin typeface="Arial"/>
              </a:rPr>
              <a:t>СОГЛАСОВАТЕЛЬНЫЙ КОНТУР</a:t>
            </a:r>
            <a:endParaRPr sz="800" b="1" dirty="0">
              <a:solidFill>
                <a:srgbClr val="D354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584</Words>
  <Application>Microsoft Office PowerPoint</Application>
  <PresentationFormat>Произвольный</PresentationFormat>
  <Paragraphs>152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Гусейнов Али Айдын Оглы</dc:creator>
  <cp:keywords/>
  <dc:description>generated using python-pptx</dc:description>
  <cp:lastModifiedBy>ALI</cp:lastModifiedBy>
  <cp:revision>142</cp:revision>
  <cp:lastPrinted>2026-08-10T10:12:23Z</cp:lastPrinted>
  <dcterms:created xsi:type="dcterms:W3CDTF">2013-01-27T09:14:16Z</dcterms:created>
  <dcterms:modified xsi:type="dcterms:W3CDTF">2026-08-12T07:37:31Z</dcterms:modified>
  <cp:category/>
</cp:coreProperties>
</file>